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78" r:id="rId7"/>
    <p:sldId id="261" r:id="rId8"/>
    <p:sldId id="262" r:id="rId9"/>
    <p:sldId id="263" r:id="rId10"/>
    <p:sldId id="279" r:id="rId11"/>
    <p:sldId id="264" r:id="rId12"/>
    <p:sldId id="265" r:id="rId13"/>
    <p:sldId id="266" r:id="rId14"/>
    <p:sldId id="286" r:id="rId15"/>
    <p:sldId id="268" r:id="rId16"/>
    <p:sldId id="287" r:id="rId17"/>
    <p:sldId id="288" r:id="rId18"/>
    <p:sldId id="289" r:id="rId19"/>
    <p:sldId id="270" r:id="rId20"/>
    <p:sldId id="271" r:id="rId21"/>
    <p:sldId id="280" r:id="rId22"/>
    <p:sldId id="272" r:id="rId23"/>
    <p:sldId id="273" r:id="rId24"/>
    <p:sldId id="274" r:id="rId25"/>
    <p:sldId id="275" r:id="rId26"/>
    <p:sldId id="276" r:id="rId27"/>
    <p:sldId id="281" r:id="rId28"/>
    <p:sldId id="282" r:id="rId29"/>
    <p:sldId id="283" r:id="rId30"/>
    <p:sldId id="284" r:id="rId31"/>
    <p:sldId id="285" r:id="rId32"/>
    <p:sldId id="277" r:id="rId33"/>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gD4Kl0eymbPsSACaHDcTfhYrGFK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91" autoAdjust="0"/>
    <p:restoredTop sz="94660"/>
  </p:normalViewPr>
  <p:slideViewPr>
    <p:cSldViewPr snapToGrid="0">
      <p:cViewPr>
        <p:scale>
          <a:sx n="63" d="100"/>
          <a:sy n="63" d="100"/>
        </p:scale>
        <p:origin x="1496"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4684778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77EE3A02-FB0C-BD0D-F949-8A182D2DB84E}"/>
            </a:ext>
          </a:extLst>
        </p:cNvPr>
        <p:cNvGrpSpPr/>
        <p:nvPr/>
      </p:nvGrpSpPr>
      <p:grpSpPr>
        <a:xfrm>
          <a:off x="0" y="0"/>
          <a:ext cx="0" cy="0"/>
          <a:chOff x="0" y="0"/>
          <a:chExt cx="0" cy="0"/>
        </a:xfrm>
      </p:grpSpPr>
      <p:sp>
        <p:nvSpPr>
          <p:cNvPr id="106" name="Google Shape;106;p5:notes">
            <a:extLst>
              <a:ext uri="{FF2B5EF4-FFF2-40B4-BE49-F238E27FC236}">
                <a16:creationId xmlns:a16="http://schemas.microsoft.com/office/drawing/2014/main" id="{8CE76ED0-532A-FBB4-738B-255FF4AFF53F}"/>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5:notes">
            <a:extLst>
              <a:ext uri="{FF2B5EF4-FFF2-40B4-BE49-F238E27FC236}">
                <a16:creationId xmlns:a16="http://schemas.microsoft.com/office/drawing/2014/main" id="{69118A0C-03A4-81F8-6CCC-56E113DCC476}"/>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339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03715cfd4a_0_2: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203715cfd4a_0_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03715cfd4a_0_7:notes"/>
          <p:cNvSpPr txBox="1">
            <a:spLocks noGrp="1"/>
          </p:cNvSpPr>
          <p:nvPr>
            <p:ph type="body" idx="1"/>
          </p:nvPr>
        </p:nvSpPr>
        <p:spPr>
          <a:xfrm>
            <a:off x="731500" y="4560550"/>
            <a:ext cx="5852100" cy="432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g203715cfd4a_0_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2: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F2A2C5BD-A628-DA38-3AE7-C121D3A28723}"/>
            </a:ext>
          </a:extLst>
        </p:cNvPr>
        <p:cNvGrpSpPr/>
        <p:nvPr/>
      </p:nvGrpSpPr>
      <p:grpSpPr>
        <a:xfrm>
          <a:off x="0" y="0"/>
          <a:ext cx="0" cy="0"/>
          <a:chOff x="0" y="0"/>
          <a:chExt cx="0" cy="0"/>
        </a:xfrm>
      </p:grpSpPr>
      <p:sp>
        <p:nvSpPr>
          <p:cNvPr id="154" name="Google Shape;154;p12:notes">
            <a:extLst>
              <a:ext uri="{FF2B5EF4-FFF2-40B4-BE49-F238E27FC236}">
                <a16:creationId xmlns:a16="http://schemas.microsoft.com/office/drawing/2014/main" id="{4F6BA636-E3A4-4C21-33A9-D3A4BE95F757}"/>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a:extLst>
              <a:ext uri="{FF2B5EF4-FFF2-40B4-BE49-F238E27FC236}">
                <a16:creationId xmlns:a16="http://schemas.microsoft.com/office/drawing/2014/main" id="{E78CB506-5A2E-3C76-5D22-4974E2285242}"/>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6012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F377082-B41F-B2A4-7994-D78F52D710F5}"/>
            </a:ext>
          </a:extLst>
        </p:cNvPr>
        <p:cNvGrpSpPr/>
        <p:nvPr/>
      </p:nvGrpSpPr>
      <p:grpSpPr>
        <a:xfrm>
          <a:off x="0" y="0"/>
          <a:ext cx="0" cy="0"/>
          <a:chOff x="0" y="0"/>
          <a:chExt cx="0" cy="0"/>
        </a:xfrm>
      </p:grpSpPr>
      <p:sp>
        <p:nvSpPr>
          <p:cNvPr id="154" name="Google Shape;154;p12:notes">
            <a:extLst>
              <a:ext uri="{FF2B5EF4-FFF2-40B4-BE49-F238E27FC236}">
                <a16:creationId xmlns:a16="http://schemas.microsoft.com/office/drawing/2014/main" id="{F9203186-69E3-B828-AF59-D0CB68CCD9A7}"/>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a:extLst>
              <a:ext uri="{FF2B5EF4-FFF2-40B4-BE49-F238E27FC236}">
                <a16:creationId xmlns:a16="http://schemas.microsoft.com/office/drawing/2014/main" id="{989AD84D-F271-9455-3BA7-6F8F85D7F8A1}"/>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63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296F5295-AD7E-02A9-A7B7-9DCE0E313C88}"/>
            </a:ext>
          </a:extLst>
        </p:cNvPr>
        <p:cNvGrpSpPr/>
        <p:nvPr/>
      </p:nvGrpSpPr>
      <p:grpSpPr>
        <a:xfrm>
          <a:off x="0" y="0"/>
          <a:ext cx="0" cy="0"/>
          <a:chOff x="0" y="0"/>
          <a:chExt cx="0" cy="0"/>
        </a:xfrm>
      </p:grpSpPr>
      <p:sp>
        <p:nvSpPr>
          <p:cNvPr id="154" name="Google Shape;154;p12:notes">
            <a:extLst>
              <a:ext uri="{FF2B5EF4-FFF2-40B4-BE49-F238E27FC236}">
                <a16:creationId xmlns:a16="http://schemas.microsoft.com/office/drawing/2014/main" id="{572AE651-B49A-E4DE-D1A1-6390BE614A3C}"/>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12:notes">
            <a:extLst>
              <a:ext uri="{FF2B5EF4-FFF2-40B4-BE49-F238E27FC236}">
                <a16:creationId xmlns:a16="http://schemas.microsoft.com/office/drawing/2014/main" id="{56527B83-82F8-1686-CB56-6C3B7F26A3C6}"/>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01604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 name="Google Shape;167;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7DADC36A-72CD-3849-4472-AE715069F96D}"/>
            </a:ext>
          </a:extLst>
        </p:cNvPr>
        <p:cNvGrpSpPr/>
        <p:nvPr/>
      </p:nvGrpSpPr>
      <p:grpSpPr>
        <a:xfrm>
          <a:off x="0" y="0"/>
          <a:ext cx="0" cy="0"/>
          <a:chOff x="0" y="0"/>
          <a:chExt cx="0" cy="0"/>
        </a:xfrm>
      </p:grpSpPr>
      <p:sp>
        <p:nvSpPr>
          <p:cNvPr id="172" name="Google Shape;172;p15:notes">
            <a:extLst>
              <a:ext uri="{FF2B5EF4-FFF2-40B4-BE49-F238E27FC236}">
                <a16:creationId xmlns:a16="http://schemas.microsoft.com/office/drawing/2014/main" id="{E0A86A68-BBA3-1DB6-0210-F696123B7316}"/>
              </a:ext>
            </a:extLst>
          </p:cNvPr>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15:notes">
            <a:extLst>
              <a:ext uri="{FF2B5EF4-FFF2-40B4-BE49-F238E27FC236}">
                <a16:creationId xmlns:a16="http://schemas.microsoft.com/office/drawing/2014/main" id="{7F64C36C-7B4E-3D44-09A1-C37DBCE7E6A0}"/>
              </a:ext>
            </a:extLst>
          </p:cNvPr>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5021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6: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7: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85" name="Google Shape;185;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2" name="Google Shape;192;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0: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4" name="Google Shape;204;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1:notes"/>
          <p:cNvSpPr txBox="1">
            <a:spLocks noGrp="1"/>
          </p:cNvSpPr>
          <p:nvPr>
            <p:ph type="body" idx="1"/>
          </p:nvPr>
        </p:nvSpPr>
        <p:spPr>
          <a:xfrm>
            <a:off x="731500" y="4560550"/>
            <a:ext cx="5852150" cy="43205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21:notes"/>
          <p:cNvSpPr>
            <a:spLocks noGrp="1" noRot="1" noChangeAspect="1"/>
          </p:cNvSpPr>
          <p:nvPr>
            <p:ph type="sldImg" idx="2"/>
          </p:nvPr>
        </p:nvSpPr>
        <p:spPr>
          <a:xfrm>
            <a:off x="1219425" y="720075"/>
            <a:ext cx="4877025"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 name="Google Shape;13;p2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4" name="Google Shape;1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6" name="Google Shape;26;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2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2" name="Google Shape;32;p2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3" name="Google Shape;33;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2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2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2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7" name="Google Shape;4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6" name="Google Shape;56;p3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3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3" name="Google Shape;63;p31"/>
          <p:cNvSpPr>
            <a:spLocks noGrp="1"/>
          </p:cNvSpPr>
          <p:nvPr>
            <p:ph type="pic" idx="2"/>
          </p:nvPr>
        </p:nvSpPr>
        <p:spPr>
          <a:xfrm>
            <a:off x="1792288" y="612775"/>
            <a:ext cx="5486400" cy="4114800"/>
          </a:xfrm>
          <a:prstGeom prst="rect">
            <a:avLst/>
          </a:prstGeom>
          <a:noFill/>
          <a:ln>
            <a:noFill/>
          </a:ln>
        </p:spPr>
      </p:sp>
      <p:sp>
        <p:nvSpPr>
          <p:cNvPr id="64" name="Google Shape;64;p3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6" name="Google Shape;76;p3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Final Year Project</a:t>
            </a:r>
            <a:endParaRPr/>
          </a:p>
        </p:txBody>
      </p:sp>
      <p:sp>
        <p:nvSpPr>
          <p:cNvPr id="85" name="Google Shape;85;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lnSpcReduction="10000"/>
          </a:bodyPr>
          <a:lstStyle/>
          <a:p>
            <a:pPr marL="63500" lvl="0" indent="0">
              <a:spcBef>
                <a:spcPts val="0"/>
              </a:spcBef>
            </a:pPr>
            <a:r>
              <a:rPr lang="en-US" b="1" dirty="0" err="1">
                <a:solidFill>
                  <a:schemeClr val="tx1"/>
                </a:solidFill>
                <a:effectLst>
                  <a:outerShdw blurRad="38100" dist="19050" dir="2700000" algn="tl" rotWithShape="0">
                    <a:schemeClr val="dk1">
                      <a:alpha val="40000"/>
                    </a:schemeClr>
                  </a:outerShdw>
                </a:effectLst>
              </a:rPr>
              <a:t>SpotCancerAI</a:t>
            </a:r>
            <a:endParaRPr lang="en-US" b="1" dirty="0">
              <a:solidFill>
                <a:schemeClr val="tx1"/>
              </a:solidFill>
              <a:effectLst>
                <a:outerShdw blurRad="38100" dist="19050" dir="2700000" algn="tl" rotWithShape="0">
                  <a:schemeClr val="dk1">
                    <a:alpha val="40000"/>
                  </a:schemeClr>
                </a:outerShdw>
              </a:effectLst>
            </a:endParaRPr>
          </a:p>
          <a:p>
            <a:pPr marL="63500" lvl="0" indent="0">
              <a:spcBef>
                <a:spcPts val="0"/>
              </a:spcBef>
            </a:pPr>
            <a:r>
              <a:rPr lang="en-US" b="1" dirty="0">
                <a:solidFill>
                  <a:schemeClr val="tx1"/>
                </a:solidFill>
                <a:effectLst>
                  <a:outerShdw blurRad="38100" dist="19050" dir="2700000" algn="tl" rotWithShape="0">
                    <a:schemeClr val="dk1">
                      <a:alpha val="40000"/>
                    </a:schemeClr>
                  </a:outerShdw>
                </a:effectLst>
              </a:rPr>
              <a:t>Smart Skin Cancer Detection System</a:t>
            </a:r>
          </a:p>
          <a:p>
            <a:pPr marL="63500" lvl="0" indent="0" algn="ctr" rtl="0">
              <a:lnSpc>
                <a:spcPct val="100000"/>
              </a:lnSpc>
              <a:spcBef>
                <a:spcPts val="0"/>
              </a:spcBef>
              <a:spcAft>
                <a:spcPts val="0"/>
              </a:spcAft>
              <a:buClr>
                <a:srgbClr val="888888"/>
              </a:buClr>
              <a:buSzPts val="3200"/>
              <a:buFont typeface="Arial"/>
              <a:buNone/>
            </a:pPr>
            <a:endParaRPr dirty="0"/>
          </a:p>
          <a:p>
            <a:pPr marL="63500" lvl="0" indent="0">
              <a:spcBef>
                <a:spcPts val="280"/>
              </a:spcBef>
              <a:buSzPts val="1400"/>
            </a:pPr>
            <a:r>
              <a:rPr lang="en-US" sz="1400" dirty="0">
                <a:solidFill>
                  <a:schemeClr val="tx1"/>
                </a:solidFill>
                <a:effectLst>
                  <a:outerShdw blurRad="38100" dist="19050" dir="2700000" algn="tl" rotWithShape="0">
                    <a:schemeClr val="dk1">
                      <a:alpha val="40000"/>
                    </a:schemeClr>
                  </a:outerShdw>
                </a:effectLst>
              </a:rPr>
              <a:t>Supervised By: </a:t>
            </a:r>
            <a:r>
              <a:rPr lang="en-US" sz="1400" dirty="0" err="1">
                <a:solidFill>
                  <a:schemeClr val="tx1"/>
                </a:solidFill>
                <a:effectLst>
                  <a:outerShdw blurRad="38100" dist="19050" dir="2700000" algn="tl" rotWithShape="0">
                    <a:schemeClr val="dk1">
                      <a:alpha val="40000"/>
                    </a:schemeClr>
                  </a:outerShdw>
                </a:effectLst>
              </a:rPr>
              <a:t>Mr</a:t>
            </a:r>
            <a:r>
              <a:rPr lang="en-US" sz="1400" dirty="0">
                <a:solidFill>
                  <a:schemeClr val="tx1"/>
                </a:solidFill>
                <a:effectLst>
                  <a:outerShdw blurRad="38100" dist="19050" dir="2700000" algn="tl" rotWithShape="0">
                    <a:schemeClr val="dk1">
                      <a:alpha val="40000"/>
                    </a:schemeClr>
                  </a:outerShdw>
                </a:effectLst>
              </a:rPr>
              <a:t> Hafiz Haseeb</a:t>
            </a:r>
          </a:p>
        </p:txBody>
      </p:sp>
      <p:pic>
        <p:nvPicPr>
          <p:cNvPr id="86" name="Google Shape;86;p1" descr="Riphah.jpg"/>
          <p:cNvPicPr preferRelativeResize="0"/>
          <p:nvPr/>
        </p:nvPicPr>
        <p:blipFill rotWithShape="1">
          <a:blip r:embed="rId4">
            <a:alphaModFix/>
          </a:blip>
          <a:srcRect l="3033" t="4065" r="6926" b="4925"/>
          <a:stretch/>
        </p:blipFill>
        <p:spPr>
          <a:xfrm>
            <a:off x="4076700" y="1295400"/>
            <a:ext cx="990600"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Project Team</a:t>
            </a:r>
            <a:endParaRPr/>
          </a:p>
        </p:txBody>
      </p:sp>
      <p:sp>
        <p:nvSpPr>
          <p:cNvPr id="92" name="Google Shape;92;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Muhammad Usman (24761)</a:t>
            </a:r>
            <a:endParaRPr dirty="0"/>
          </a:p>
          <a:p>
            <a:pPr marL="342900" lvl="0">
              <a:spcBef>
                <a:spcPts val="640"/>
              </a:spcBef>
              <a:buSzPts val="3200"/>
            </a:pPr>
            <a:r>
              <a:rPr lang="en-US" dirty="0"/>
              <a:t>Hassan Dastagir (40124)</a:t>
            </a:r>
          </a:p>
          <a:p>
            <a:pPr marL="342900" lvl="0" indent="-342900" algn="l" rtl="0">
              <a:lnSpc>
                <a:spcPct val="100000"/>
              </a:lnSpc>
              <a:spcBef>
                <a:spcPts val="640"/>
              </a:spcBef>
              <a:spcAft>
                <a:spcPts val="0"/>
              </a:spcAft>
              <a:buClr>
                <a:schemeClr val="dk1"/>
              </a:buClr>
              <a:buSzPts val="3200"/>
              <a:buChar char="•"/>
            </a:pPr>
            <a:r>
              <a:rPr lang="en-US" dirty="0"/>
              <a:t>Ali Sher Khan (39917)</a:t>
            </a:r>
            <a:endParaRPr dirty="0"/>
          </a:p>
          <a:p>
            <a:pPr marL="342900" lvl="0" indent="-13970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Table of Content</a:t>
            </a:r>
            <a:endParaRPr dirty="0"/>
          </a:p>
        </p:txBody>
      </p:sp>
      <p:sp>
        <p:nvSpPr>
          <p:cNvPr id="98" name="Google Shape;98;p3"/>
          <p:cNvSpPr txBox="1">
            <a:spLocks noGrp="1"/>
          </p:cNvSpPr>
          <p:nvPr>
            <p:ph type="body" idx="1"/>
          </p:nvPr>
        </p:nvSpPr>
        <p:spPr>
          <a:xfrm>
            <a:off x="345440" y="1166018"/>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800"/>
              <a:buChar char="•"/>
            </a:pPr>
            <a:r>
              <a:rPr lang="en-US" sz="2400" dirty="0"/>
              <a:t>Introduction and Background</a:t>
            </a:r>
            <a:endParaRPr sz="2800" dirty="0"/>
          </a:p>
          <a:p>
            <a:pPr marL="342900" lvl="0" indent="-342900" algn="l" rtl="0">
              <a:lnSpc>
                <a:spcPct val="100000"/>
              </a:lnSpc>
              <a:spcBef>
                <a:spcPts val="560"/>
              </a:spcBef>
              <a:spcAft>
                <a:spcPts val="0"/>
              </a:spcAft>
              <a:buClr>
                <a:schemeClr val="dk1"/>
              </a:buClr>
              <a:buSzPts val="2800"/>
              <a:buChar char="•"/>
            </a:pPr>
            <a:r>
              <a:rPr lang="en-US" sz="2400" dirty="0"/>
              <a:t>Literature Review and Summary Table</a:t>
            </a:r>
            <a:endParaRPr sz="2400" dirty="0"/>
          </a:p>
          <a:p>
            <a:pPr marL="342900" lvl="0" indent="-342900" algn="l" rtl="0">
              <a:lnSpc>
                <a:spcPct val="100000"/>
              </a:lnSpc>
              <a:spcBef>
                <a:spcPts val="560"/>
              </a:spcBef>
              <a:spcAft>
                <a:spcPts val="0"/>
              </a:spcAft>
              <a:buSzPts val="2800"/>
              <a:buChar char="•"/>
            </a:pPr>
            <a:r>
              <a:rPr lang="en-US" sz="2400" dirty="0"/>
              <a:t>Problem Statement</a:t>
            </a:r>
            <a:endParaRPr sz="2400" dirty="0"/>
          </a:p>
          <a:p>
            <a:pPr marL="342900" lvl="0" indent="-342900" algn="l" rtl="0">
              <a:lnSpc>
                <a:spcPct val="100000"/>
              </a:lnSpc>
              <a:spcBef>
                <a:spcPts val="560"/>
              </a:spcBef>
              <a:spcAft>
                <a:spcPts val="0"/>
              </a:spcAft>
              <a:buSzPts val="2800"/>
              <a:buChar char="•"/>
            </a:pPr>
            <a:r>
              <a:rPr lang="en-US" sz="2400" dirty="0"/>
              <a:t>Methodology</a:t>
            </a:r>
          </a:p>
          <a:p>
            <a:pPr marL="342900" lvl="0" indent="-342900" algn="l" rtl="0">
              <a:lnSpc>
                <a:spcPct val="100000"/>
              </a:lnSpc>
              <a:spcBef>
                <a:spcPts val="560"/>
              </a:spcBef>
              <a:spcAft>
                <a:spcPts val="0"/>
              </a:spcAft>
              <a:buSzPts val="2800"/>
              <a:buChar char="•"/>
            </a:pPr>
            <a:r>
              <a:rPr lang="en-US" sz="2400" dirty="0"/>
              <a:t>Market Survey</a:t>
            </a:r>
            <a:endParaRPr sz="2400" dirty="0"/>
          </a:p>
          <a:p>
            <a:pPr marL="342900" lvl="0" indent="-342900" algn="l" rtl="0">
              <a:lnSpc>
                <a:spcPct val="100000"/>
              </a:lnSpc>
              <a:spcBef>
                <a:spcPts val="560"/>
              </a:spcBef>
              <a:spcAft>
                <a:spcPts val="0"/>
              </a:spcAft>
              <a:buClr>
                <a:schemeClr val="dk1"/>
              </a:buClr>
              <a:buSzPts val="2800"/>
              <a:buChar char="•"/>
            </a:pPr>
            <a:r>
              <a:rPr lang="en-US" sz="2400" dirty="0"/>
              <a:t>Progress Report Summary</a:t>
            </a:r>
            <a:endParaRPr sz="2800" dirty="0"/>
          </a:p>
          <a:p>
            <a:pPr marL="742950" lvl="1" indent="-285750" algn="l" rtl="0">
              <a:lnSpc>
                <a:spcPct val="100000"/>
              </a:lnSpc>
              <a:spcBef>
                <a:spcPts val="480"/>
              </a:spcBef>
              <a:spcAft>
                <a:spcPts val="0"/>
              </a:spcAft>
              <a:buClr>
                <a:schemeClr val="dk1"/>
              </a:buClr>
              <a:buSzPts val="2400"/>
              <a:buChar char="–"/>
            </a:pPr>
            <a:r>
              <a:rPr lang="en-US" sz="2000" dirty="0"/>
              <a:t>Requirements</a:t>
            </a:r>
            <a:endParaRPr sz="2400" dirty="0"/>
          </a:p>
          <a:p>
            <a:pPr marL="742950" lvl="1" indent="-285750" algn="l" rtl="0">
              <a:lnSpc>
                <a:spcPct val="100000"/>
              </a:lnSpc>
              <a:spcBef>
                <a:spcPts val="480"/>
              </a:spcBef>
              <a:spcAft>
                <a:spcPts val="0"/>
              </a:spcAft>
              <a:buClr>
                <a:schemeClr val="dk1"/>
              </a:buClr>
              <a:buSzPts val="2400"/>
              <a:buChar char="–"/>
            </a:pPr>
            <a:r>
              <a:rPr lang="en-US" sz="2000" dirty="0"/>
              <a:t>Software System (Design + Implementation + Testing)</a:t>
            </a:r>
            <a:endParaRPr sz="2400" dirty="0"/>
          </a:p>
          <a:p>
            <a:pPr marL="742950" lvl="1" indent="-285750" algn="l" rtl="0">
              <a:lnSpc>
                <a:spcPct val="100000"/>
              </a:lnSpc>
              <a:spcBef>
                <a:spcPts val="480"/>
              </a:spcBef>
              <a:spcAft>
                <a:spcPts val="0"/>
              </a:spcAft>
              <a:buClr>
                <a:schemeClr val="dk1"/>
              </a:buClr>
              <a:buSzPts val="2400"/>
              <a:buChar char="–"/>
            </a:pPr>
            <a:r>
              <a:rPr lang="en-US" sz="2000" dirty="0"/>
              <a:t>Endeavour (Team)</a:t>
            </a:r>
            <a:endParaRPr sz="2400" dirty="0"/>
          </a:p>
          <a:p>
            <a:pPr marL="342900" lvl="0" indent="-342900" algn="l" rtl="0">
              <a:lnSpc>
                <a:spcPct val="100000"/>
              </a:lnSpc>
              <a:spcBef>
                <a:spcPts val="560"/>
              </a:spcBef>
              <a:spcAft>
                <a:spcPts val="0"/>
              </a:spcAft>
              <a:buClr>
                <a:schemeClr val="dk1"/>
              </a:buClr>
              <a:buSzPts val="2800"/>
              <a:buChar char="•"/>
            </a:pPr>
            <a:r>
              <a:rPr lang="en-US" sz="2400" dirty="0"/>
              <a:t>Next Steps</a:t>
            </a:r>
            <a:endParaRPr sz="2800" dirty="0"/>
          </a:p>
          <a:p>
            <a:pPr marL="342900" lvl="0" indent="-342900" algn="l" rtl="0">
              <a:lnSpc>
                <a:spcPct val="100000"/>
              </a:lnSpc>
              <a:spcBef>
                <a:spcPts val="560"/>
              </a:spcBef>
              <a:spcAft>
                <a:spcPts val="0"/>
              </a:spcAft>
              <a:buClr>
                <a:schemeClr val="dk1"/>
              </a:buClr>
              <a:buSzPts val="2800"/>
              <a:buChar char="•"/>
            </a:pPr>
            <a:r>
              <a:rPr lang="en-US" sz="2400" dirty="0"/>
              <a:t>Prototype / Report</a:t>
            </a:r>
            <a:endParaRP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dirty="0"/>
              <a:t>INTRODUCTION AND BACKGROUND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Introduction and Background[1/2] </a:t>
            </a:r>
            <a:endParaRPr dirty="0"/>
          </a:p>
        </p:txBody>
      </p:sp>
      <p:sp>
        <p:nvSpPr>
          <p:cNvPr id="110" name="Google Shape;110;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indent="-139700" algn="just">
              <a:spcBef>
                <a:spcPts val="0"/>
              </a:spcBef>
              <a:buSzPts val="3200"/>
              <a:buNone/>
            </a:pPr>
            <a:r>
              <a:rPr lang="en-US" sz="2400" dirty="0"/>
              <a:t>  This project develops an AI-based model using deep learning to automatically detect and classify skin lesions from </a:t>
            </a:r>
            <a:r>
              <a:rPr lang="en-US" sz="2400" dirty="0" err="1"/>
              <a:t>dermoscopic</a:t>
            </a:r>
            <a:r>
              <a:rPr lang="en-US" sz="2400" dirty="0"/>
              <a:t> images. The AI-based model aims to accurately identify skin cancer types, such as melanoma, basal cell carcinoma and squamous cell carcinoma. The goal is to improve diagnostic accuracy and efficiency, supporting early skin cancer detection and assisting healthcare professionals in medical decision-making.</a:t>
            </a:r>
            <a:endParaRPr lang="en-US" sz="2400" b="1" dirty="0">
              <a:latin typeface="Calibri" panose="020F0502020204030204" charset="0"/>
            </a:endParaRPr>
          </a:p>
          <a:p>
            <a:pPr marL="342900" lvl="0" indent="-139700" algn="l" rtl="0">
              <a:lnSpc>
                <a:spcPct val="100000"/>
              </a:lnSpc>
              <a:spcBef>
                <a:spcPts val="0"/>
              </a:spcBef>
              <a:spcAft>
                <a:spcPts val="0"/>
              </a:spcAft>
              <a:buClr>
                <a:schemeClr val="dk1"/>
              </a:buClr>
              <a:buSzPts val="32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318930A1-704F-4857-5D97-CD521773CCF0}"/>
            </a:ext>
          </a:extLst>
        </p:cNvPr>
        <p:cNvGrpSpPr/>
        <p:nvPr/>
      </p:nvGrpSpPr>
      <p:grpSpPr>
        <a:xfrm>
          <a:off x="0" y="0"/>
          <a:ext cx="0" cy="0"/>
          <a:chOff x="0" y="0"/>
          <a:chExt cx="0" cy="0"/>
        </a:xfrm>
      </p:grpSpPr>
      <p:sp>
        <p:nvSpPr>
          <p:cNvPr id="109" name="Google Shape;109;p5">
            <a:extLst>
              <a:ext uri="{FF2B5EF4-FFF2-40B4-BE49-F238E27FC236}">
                <a16:creationId xmlns:a16="http://schemas.microsoft.com/office/drawing/2014/main" id="{0FD537E5-8290-CC48-26AB-A8FB4EFCA065}"/>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Introduction and Background[2/2] </a:t>
            </a:r>
            <a:endParaRPr dirty="0"/>
          </a:p>
        </p:txBody>
      </p:sp>
      <p:sp>
        <p:nvSpPr>
          <p:cNvPr id="110" name="Google Shape;110;p5">
            <a:extLst>
              <a:ext uri="{FF2B5EF4-FFF2-40B4-BE49-F238E27FC236}">
                <a16:creationId xmlns:a16="http://schemas.microsoft.com/office/drawing/2014/main" id="{F2CF0A09-3509-76F9-93F9-DA34C016C57C}"/>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274320" lvl="0" indent="3175" algn="just">
              <a:spcBef>
                <a:spcPts val="0"/>
              </a:spcBef>
              <a:buSzPts val="3200"/>
              <a:buNone/>
            </a:pPr>
            <a:r>
              <a:rPr lang="en-US" sz="2400" dirty="0"/>
              <a:t>Skin cancer is a major global health concern, with early detection being crucial for effective treatment. Traditional diagnostic methods such as visual examination by dermatologists, </a:t>
            </a:r>
            <a:r>
              <a:rPr lang="en-US" sz="2400" dirty="0" err="1"/>
              <a:t>dermoscopy</a:t>
            </a:r>
            <a:r>
              <a:rPr lang="en-US" sz="2400" dirty="0"/>
              <a:t> and skin biopsies, are often time-consuming, subjective, and require expert analysis. These limitations highlight the need for artificial intelligence (AI) to provide faster, more accurate, and automated skin cancer detection, improving early diagnosis and treatment outcomes.</a:t>
            </a:r>
            <a:endParaRPr lang="en-US" sz="2400" dirty="0">
              <a:latin typeface="Calibri" panose="020F0502020204030204" charset="0"/>
              <a:cs typeface="Calibri" panose="020F0502020204030204" charset="0"/>
            </a:endParaRPr>
          </a:p>
          <a:p>
            <a:pPr marL="342900" lvl="0" indent="-139700" algn="l" rtl="0">
              <a:lnSpc>
                <a:spcPct val="100000"/>
              </a:lnSpc>
              <a:spcBef>
                <a:spcPts val="0"/>
              </a:spcBef>
              <a:spcAft>
                <a:spcPts val="0"/>
              </a:spcAft>
              <a:buClr>
                <a:schemeClr val="dk1"/>
              </a:buClr>
              <a:buSzPts val="3200"/>
              <a:buNone/>
            </a:pPr>
            <a:endParaRPr dirty="0"/>
          </a:p>
        </p:txBody>
      </p:sp>
    </p:spTree>
    <p:extLst>
      <p:ext uri="{BB962C8B-B14F-4D97-AF65-F5344CB8AC3E}">
        <p14:creationId xmlns:p14="http://schemas.microsoft.com/office/powerpoint/2010/main" val="2742623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406400" y="3545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4000" dirty="0"/>
              <a:t>Literature Review and Summary Table</a:t>
            </a:r>
            <a:endParaRPr sz="4000" dirty="0"/>
          </a:p>
        </p:txBody>
      </p:sp>
      <p:graphicFrame>
        <p:nvGraphicFramePr>
          <p:cNvPr id="4" name="Table 3">
            <a:extLst>
              <a:ext uri="{FF2B5EF4-FFF2-40B4-BE49-F238E27FC236}">
                <a16:creationId xmlns:a16="http://schemas.microsoft.com/office/drawing/2014/main" id="{30ABCDC8-F2F9-D138-7556-B89EDF950673}"/>
              </a:ext>
            </a:extLst>
          </p:cNvPr>
          <p:cNvGraphicFramePr>
            <a:graphicFrameLocks noGrp="1"/>
          </p:cNvGraphicFramePr>
          <p:nvPr>
            <p:extLst>
              <p:ext uri="{D42A27DB-BD31-4B8C-83A1-F6EECF244321}">
                <p14:modId xmlns:p14="http://schemas.microsoft.com/office/powerpoint/2010/main" val="3778787722"/>
              </p:ext>
            </p:extLst>
          </p:nvPr>
        </p:nvGraphicFramePr>
        <p:xfrm>
          <a:off x="431800" y="1227337"/>
          <a:ext cx="8178800" cy="3868830"/>
        </p:xfrm>
        <a:graphic>
          <a:graphicData uri="http://schemas.openxmlformats.org/drawingml/2006/table">
            <a:tbl>
              <a:tblPr firstRow="1" bandRow="1">
                <a:tableStyleId>{5C22544A-7EE6-4342-B048-85BDC9FD1C3A}</a:tableStyleId>
              </a:tblPr>
              <a:tblGrid>
                <a:gridCol w="1229360">
                  <a:extLst>
                    <a:ext uri="{9D8B030D-6E8A-4147-A177-3AD203B41FA5}">
                      <a16:colId xmlns:a16="http://schemas.microsoft.com/office/drawing/2014/main" val="1285567017"/>
                    </a:ext>
                  </a:extLst>
                </a:gridCol>
                <a:gridCol w="3149600">
                  <a:extLst>
                    <a:ext uri="{9D8B030D-6E8A-4147-A177-3AD203B41FA5}">
                      <a16:colId xmlns:a16="http://schemas.microsoft.com/office/drawing/2014/main" val="1000561147"/>
                    </a:ext>
                  </a:extLst>
                </a:gridCol>
                <a:gridCol w="2336800">
                  <a:extLst>
                    <a:ext uri="{9D8B030D-6E8A-4147-A177-3AD203B41FA5}">
                      <a16:colId xmlns:a16="http://schemas.microsoft.com/office/drawing/2014/main" val="2703491774"/>
                    </a:ext>
                  </a:extLst>
                </a:gridCol>
                <a:gridCol w="1463040">
                  <a:extLst>
                    <a:ext uri="{9D8B030D-6E8A-4147-A177-3AD203B41FA5}">
                      <a16:colId xmlns:a16="http://schemas.microsoft.com/office/drawing/2014/main" val="2605411947"/>
                    </a:ext>
                  </a:extLst>
                </a:gridCol>
              </a:tblGrid>
              <a:tr h="563772">
                <a:tc>
                  <a:txBody>
                    <a:bodyPr/>
                    <a:lstStyle/>
                    <a:p>
                      <a:pPr algn="ctr">
                        <a:buNone/>
                      </a:pPr>
                      <a:r>
                        <a:rPr lang="en-US" sz="1400" dirty="0"/>
                        <a:t>References</a:t>
                      </a:r>
                    </a:p>
                  </a:txBody>
                  <a:tcPr anchor="ctr"/>
                </a:tc>
                <a:tc>
                  <a:txBody>
                    <a:bodyPr/>
                    <a:lstStyle/>
                    <a:p>
                      <a:pPr algn="ctr">
                        <a:buNone/>
                      </a:pPr>
                      <a:r>
                        <a:rPr lang="en-US" sz="1400" dirty="0"/>
                        <a:t>Deep</a:t>
                      </a:r>
                      <a:r>
                        <a:rPr lang="en-US" sz="1400" baseline="0" dirty="0"/>
                        <a:t> Learning techniques</a:t>
                      </a:r>
                      <a:endParaRPr lang="en-US" sz="1400" dirty="0"/>
                    </a:p>
                  </a:txBody>
                  <a:tcPr anchor="ctr"/>
                </a:tc>
                <a:tc>
                  <a:txBody>
                    <a:bodyPr/>
                    <a:lstStyle/>
                    <a:p>
                      <a:pPr algn="ctr">
                        <a:buNone/>
                      </a:pPr>
                      <a:r>
                        <a:rPr lang="en-US" sz="1400" dirty="0"/>
                        <a:t>Dataset</a:t>
                      </a:r>
                    </a:p>
                  </a:txBody>
                  <a:tcPr anchor="ctr"/>
                </a:tc>
                <a:tc>
                  <a:txBody>
                    <a:bodyPr/>
                    <a:lstStyle/>
                    <a:p>
                      <a:pPr algn="ctr">
                        <a:buNone/>
                      </a:pPr>
                      <a:r>
                        <a:rPr lang="en-US" sz="1400" dirty="0"/>
                        <a:t>Accuracy</a:t>
                      </a:r>
                    </a:p>
                  </a:txBody>
                  <a:tcPr anchor="ctr"/>
                </a:tc>
                <a:extLst>
                  <a:ext uri="{0D108BD9-81ED-4DB2-BD59-A6C34878D82A}">
                    <a16:rowId xmlns:a16="http://schemas.microsoft.com/office/drawing/2014/main" val="2126337625"/>
                  </a:ext>
                </a:extLst>
              </a:tr>
              <a:tr h="384058">
                <a:tc>
                  <a:txBody>
                    <a:bodyPr/>
                    <a:lstStyle/>
                    <a:p>
                      <a:pPr algn="ctr">
                        <a:buNone/>
                      </a:pPr>
                      <a:r>
                        <a:rPr lang="en-US" sz="1200" b="1" dirty="0"/>
                        <a:t>[1]</a:t>
                      </a:r>
                    </a:p>
                  </a:txBody>
                  <a:tcPr anchor="ctr"/>
                </a:tc>
                <a:tc>
                  <a:txBody>
                    <a:bodyPr/>
                    <a:lstStyle/>
                    <a:p>
                      <a:pPr algn="ctr">
                        <a:buNone/>
                      </a:pPr>
                      <a:r>
                        <a:rPr lang="en-US" sz="1200" dirty="0"/>
                        <a:t>Applied </a:t>
                      </a:r>
                      <a:r>
                        <a:rPr lang="en-US" sz="1200" dirty="0" err="1"/>
                        <a:t>MobileNet</a:t>
                      </a:r>
                      <a:r>
                        <a:rPr lang="en-US" sz="1200" dirty="0"/>
                        <a:t> architecture</a:t>
                      </a:r>
                    </a:p>
                  </a:txBody>
                  <a:tcPr anchor="ctr"/>
                </a:tc>
                <a:tc>
                  <a:txBody>
                    <a:bodyPr/>
                    <a:lstStyle/>
                    <a:p>
                      <a:pPr algn="ctr">
                        <a:buNone/>
                      </a:pPr>
                      <a:r>
                        <a:rPr lang="en-US" sz="1200" dirty="0"/>
                        <a:t>HAM10000</a:t>
                      </a:r>
                    </a:p>
                  </a:txBody>
                  <a:tcPr anchor="ctr"/>
                </a:tc>
                <a:tc>
                  <a:txBody>
                    <a:bodyPr/>
                    <a:lstStyle/>
                    <a:p>
                      <a:pPr algn="ctr">
                        <a:buNone/>
                      </a:pPr>
                      <a:r>
                        <a:rPr lang="en-US" sz="1200" dirty="0"/>
                        <a:t>85%</a:t>
                      </a:r>
                    </a:p>
                  </a:txBody>
                  <a:tcPr anchor="ctr"/>
                </a:tc>
                <a:extLst>
                  <a:ext uri="{0D108BD9-81ED-4DB2-BD59-A6C34878D82A}">
                    <a16:rowId xmlns:a16="http://schemas.microsoft.com/office/drawing/2014/main" val="2081663699"/>
                  </a:ext>
                </a:extLst>
              </a:tr>
              <a:tr h="325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b="1" dirty="0"/>
                        <a:t>[2]</a:t>
                      </a:r>
                    </a:p>
                  </a:txBody>
                  <a:tcPr anchor="ctr"/>
                </a:tc>
                <a:tc>
                  <a:txBody>
                    <a:bodyPr/>
                    <a:lstStyle/>
                    <a:p>
                      <a:pPr algn="ctr">
                        <a:buNone/>
                      </a:pPr>
                      <a:r>
                        <a:rPr lang="en-US" sz="1200" dirty="0"/>
                        <a:t>Utilized VGG16 and </a:t>
                      </a:r>
                      <a:r>
                        <a:rPr lang="en-US" sz="1200" dirty="0" err="1"/>
                        <a:t>Streamlit</a:t>
                      </a:r>
                      <a:endParaRPr lang="en-US" sz="1200" dirty="0"/>
                    </a:p>
                  </a:txBody>
                  <a:tcPr anchor="ctr"/>
                </a:tc>
                <a:tc>
                  <a:txBody>
                    <a:bodyPr/>
                    <a:lstStyle/>
                    <a:p>
                      <a:pPr algn="ctr">
                        <a:buNone/>
                      </a:pPr>
                      <a:r>
                        <a:rPr lang="en-US" sz="1200" dirty="0"/>
                        <a:t>Private collected dataset</a:t>
                      </a:r>
                    </a:p>
                  </a:txBody>
                  <a:tcPr anchor="ctr"/>
                </a:tc>
                <a:tc>
                  <a:txBody>
                    <a:bodyPr/>
                    <a:lstStyle/>
                    <a:p>
                      <a:pPr algn="ctr">
                        <a:buNone/>
                      </a:pPr>
                      <a:r>
                        <a:rPr lang="en-US" sz="1200" dirty="0"/>
                        <a:t>86%</a:t>
                      </a:r>
                    </a:p>
                  </a:txBody>
                  <a:tcPr anchor="ctr"/>
                </a:tc>
                <a:extLst>
                  <a:ext uri="{0D108BD9-81ED-4DB2-BD59-A6C34878D82A}">
                    <a16:rowId xmlns:a16="http://schemas.microsoft.com/office/drawing/2014/main" val="380701328"/>
                  </a:ext>
                </a:extLst>
              </a:tr>
              <a:tr h="467360">
                <a:tc>
                  <a:txBody>
                    <a:bodyPr/>
                    <a:lstStyle/>
                    <a:p>
                      <a:pPr algn="ctr">
                        <a:buNone/>
                      </a:pPr>
                      <a:r>
                        <a:rPr lang="en-US" sz="1200" b="1" dirty="0">
                          <a:solidFill>
                            <a:schemeClr val="tx1"/>
                          </a:solidFill>
                        </a:rPr>
                        <a:t>[3]</a:t>
                      </a:r>
                    </a:p>
                  </a:txBody>
                  <a:tcPr anchor="ctr"/>
                </a:tc>
                <a:tc>
                  <a:txBody>
                    <a:bodyPr/>
                    <a:lstStyle/>
                    <a:p>
                      <a:pPr algn="ctr">
                        <a:buNone/>
                      </a:pPr>
                      <a:r>
                        <a:rPr lang="en-US" sz="1200" b="0" dirty="0">
                          <a:solidFill>
                            <a:schemeClr val="tx1"/>
                          </a:solidFill>
                        </a:rPr>
                        <a:t> k nearest neighbors model</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Population-based Australian cohort study</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91%</a:t>
                      </a:r>
                    </a:p>
                  </a:txBody>
                  <a:tcPr anchor="ctr"/>
                </a:tc>
                <a:extLst>
                  <a:ext uri="{0D108BD9-81ED-4DB2-BD59-A6C34878D82A}">
                    <a16:rowId xmlns:a16="http://schemas.microsoft.com/office/drawing/2014/main" val="1689988428"/>
                  </a:ext>
                </a:extLst>
              </a:tr>
              <a:tr h="299720">
                <a:tc>
                  <a:txBody>
                    <a:bodyPr/>
                    <a:lstStyle/>
                    <a:p>
                      <a:pPr algn="ctr">
                        <a:buNone/>
                      </a:pPr>
                      <a:r>
                        <a:rPr lang="en-US" sz="1200" b="1" dirty="0">
                          <a:solidFill>
                            <a:schemeClr val="tx1"/>
                          </a:solidFill>
                        </a:rPr>
                        <a:t>[4]</a:t>
                      </a:r>
                    </a:p>
                  </a:txBody>
                  <a:tcPr anchor="ctr"/>
                </a:tc>
                <a:tc>
                  <a:txBody>
                    <a:bodyPr/>
                    <a:lstStyle/>
                    <a:p>
                      <a:pPr algn="ctr">
                        <a:buNone/>
                      </a:pPr>
                      <a:r>
                        <a:rPr lang="en-US" sz="1200" dirty="0"/>
                        <a:t> federated learning system</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ISIC2019</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90%</a:t>
                      </a:r>
                      <a:endParaRPr lang="en-US" sz="1200" b="0" dirty="0">
                        <a:solidFill>
                          <a:schemeClr val="tx1"/>
                        </a:solidFill>
                      </a:endParaRPr>
                    </a:p>
                  </a:txBody>
                  <a:tcPr anchor="ctr"/>
                </a:tc>
                <a:extLst>
                  <a:ext uri="{0D108BD9-81ED-4DB2-BD59-A6C34878D82A}">
                    <a16:rowId xmlns:a16="http://schemas.microsoft.com/office/drawing/2014/main" val="1006077148"/>
                  </a:ext>
                </a:extLst>
              </a:tr>
              <a:tr h="370840">
                <a:tc>
                  <a:txBody>
                    <a:bodyPr/>
                    <a:lstStyle/>
                    <a:p>
                      <a:pPr algn="ctr">
                        <a:buNone/>
                      </a:pPr>
                      <a:r>
                        <a:rPr lang="en-US" sz="1200" b="1" dirty="0">
                          <a:solidFill>
                            <a:schemeClr val="tx1"/>
                          </a:solidFill>
                        </a:rPr>
                        <a:t>[5]</a:t>
                      </a:r>
                    </a:p>
                  </a:txBody>
                  <a:tcPr anchor="ctr"/>
                </a:tc>
                <a:tc>
                  <a:txBody>
                    <a:bodyPr/>
                    <a:lstStyle/>
                    <a:p>
                      <a:pPr algn="ctr">
                        <a:buNone/>
                      </a:pPr>
                      <a:r>
                        <a:rPr lang="en-US" sz="1200" dirty="0"/>
                        <a:t>Developed a deep learning system for differential diagnosis of 26 common skin conditions</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err="1"/>
                        <a:t>Teledermatology</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66%</a:t>
                      </a:r>
                      <a:endParaRPr lang="en-US" sz="1200" b="0" dirty="0">
                        <a:solidFill>
                          <a:schemeClr val="tx1"/>
                        </a:solidFill>
                      </a:endParaRPr>
                    </a:p>
                  </a:txBody>
                  <a:tcPr anchor="ctr"/>
                </a:tc>
                <a:extLst>
                  <a:ext uri="{0D108BD9-81ED-4DB2-BD59-A6C34878D82A}">
                    <a16:rowId xmlns:a16="http://schemas.microsoft.com/office/drawing/2014/main" val="4114768777"/>
                  </a:ext>
                </a:extLst>
              </a:tr>
              <a:tr h="152400">
                <a:tc>
                  <a:txBody>
                    <a:bodyPr/>
                    <a:lstStyle/>
                    <a:p>
                      <a:pPr algn="ctr">
                        <a:buNone/>
                      </a:pPr>
                      <a:r>
                        <a:rPr lang="en-US" sz="1200" b="1" dirty="0"/>
                        <a:t>[6]</a:t>
                      </a:r>
                    </a:p>
                  </a:txBody>
                  <a:tcPr anchor="ctr"/>
                </a:tc>
                <a:tc>
                  <a:txBody>
                    <a:bodyPr/>
                    <a:lstStyle/>
                    <a:p>
                      <a:pPr algn="ctr">
                        <a:buNone/>
                      </a:pPr>
                      <a:r>
                        <a:rPr lang="en-US" sz="1200" dirty="0"/>
                        <a:t>Implemented CNNs with Flask</a:t>
                      </a:r>
                    </a:p>
                  </a:txBody>
                  <a:tcPr anchor="ctr"/>
                </a:tc>
                <a:tc>
                  <a:txBody>
                    <a:bodyPr/>
                    <a:lstStyle/>
                    <a:p>
                      <a:pPr algn="ctr">
                        <a:buNone/>
                      </a:pPr>
                      <a:r>
                        <a:rPr lang="en-US" sz="1200" dirty="0"/>
                        <a:t>ISIC</a:t>
                      </a:r>
                    </a:p>
                  </a:txBody>
                  <a:tcPr anchor="ctr"/>
                </a:tc>
                <a:tc>
                  <a:txBody>
                    <a:bodyPr/>
                    <a:lstStyle/>
                    <a:p>
                      <a:pPr algn="ctr">
                        <a:buNone/>
                      </a:pPr>
                      <a:r>
                        <a:rPr lang="en-US" sz="1200" dirty="0"/>
                        <a:t>90%</a:t>
                      </a:r>
                    </a:p>
                  </a:txBody>
                  <a:tcPr anchor="ctr"/>
                </a:tc>
                <a:extLst>
                  <a:ext uri="{0D108BD9-81ED-4DB2-BD59-A6C34878D82A}">
                    <a16:rowId xmlns:a16="http://schemas.microsoft.com/office/drawing/2014/main" val="2751636014"/>
                  </a:ext>
                </a:extLst>
              </a:tr>
              <a:tr h="0">
                <a:tc>
                  <a:txBody>
                    <a:bodyPr/>
                    <a:lstStyle/>
                    <a:p>
                      <a:pPr algn="ctr">
                        <a:buNone/>
                      </a:pPr>
                      <a:r>
                        <a:rPr lang="en-US" sz="1200" b="0" dirty="0">
                          <a:solidFill>
                            <a:schemeClr val="tx1"/>
                          </a:solidFill>
                        </a:rPr>
                        <a:t>[</a:t>
                      </a:r>
                      <a:r>
                        <a:rPr lang="en-US" sz="1200" b="1" dirty="0">
                          <a:solidFill>
                            <a:schemeClr val="tx1"/>
                          </a:solidFill>
                        </a:rPr>
                        <a:t>7]</a:t>
                      </a:r>
                    </a:p>
                  </a:txBody>
                  <a:tcPr anchor="ctr"/>
                </a:tc>
                <a:tc>
                  <a:txBody>
                    <a:bodyPr/>
                    <a:lstStyle/>
                    <a:p>
                      <a:pPr algn="ctr">
                        <a:buNone/>
                      </a:pPr>
                      <a:r>
                        <a:rPr lang="en-US" sz="1200" b="0" dirty="0">
                          <a:solidFill>
                            <a:schemeClr val="tx1"/>
                          </a:solidFill>
                        </a:rPr>
                        <a:t> CNN models implemented with </a:t>
                      </a:r>
                      <a:r>
                        <a:rPr lang="en-US" sz="1200" b="0" dirty="0" err="1">
                          <a:solidFill>
                            <a:schemeClr val="tx1"/>
                          </a:solidFill>
                        </a:rPr>
                        <a:t>TensorFlow</a:t>
                      </a:r>
                      <a:r>
                        <a:rPr lang="en-US" sz="1200" b="0" dirty="0">
                          <a:solidFill>
                            <a:schemeClr val="tx1"/>
                          </a:solidFill>
                        </a:rPr>
                        <a:t> Lite</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Seven classes on a combined dataset</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74.27%</a:t>
                      </a:r>
                    </a:p>
                  </a:txBody>
                  <a:tcPr anchor="ctr"/>
                </a:tc>
                <a:extLst>
                  <a:ext uri="{0D108BD9-81ED-4DB2-BD59-A6C34878D82A}">
                    <a16:rowId xmlns:a16="http://schemas.microsoft.com/office/drawing/2014/main" val="52342782"/>
                  </a:ext>
                </a:extLst>
              </a:tr>
              <a:tr h="0">
                <a:tc>
                  <a:txBody>
                    <a:bodyPr/>
                    <a:lstStyle/>
                    <a:p>
                      <a:pPr algn="ctr">
                        <a:buNone/>
                      </a:pPr>
                      <a:r>
                        <a:rPr lang="en-US" sz="1200" b="1" dirty="0">
                          <a:solidFill>
                            <a:schemeClr val="tx1"/>
                          </a:solidFill>
                        </a:rPr>
                        <a:t>[8]</a:t>
                      </a:r>
                    </a:p>
                  </a:txBody>
                  <a:tcPr anchor="ctr"/>
                </a:tc>
                <a:tc>
                  <a:txBody>
                    <a:bodyPr/>
                    <a:lstStyle/>
                    <a:p>
                      <a:pPr algn="ctr">
                        <a:buNone/>
                      </a:pPr>
                      <a:r>
                        <a:rPr lang="en-US" sz="1200" dirty="0"/>
                        <a:t>EfficientNetB1 and EfficientNetB5 architectures</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dirty="0"/>
                        <a:t>HAM10000</a:t>
                      </a:r>
                      <a:endParaRPr lang="en-US" sz="1200" b="0" dirty="0">
                        <a:solidFill>
                          <a:schemeClr val="tx1"/>
                        </a:solidFill>
                        <a:latin typeface="Calibri" panose="020F0502020204030204" charset="0"/>
                        <a:cs typeface="Calibri" panose="020F0502020204030204" charset="0"/>
                      </a:endParaRPr>
                    </a:p>
                  </a:txBody>
                  <a:tcPr anchor="ctr"/>
                </a:tc>
                <a:tc>
                  <a:txBody>
                    <a:bodyPr/>
                    <a:lstStyle/>
                    <a:p>
                      <a:pPr algn="ctr">
                        <a:buNone/>
                      </a:pPr>
                      <a:r>
                        <a:rPr lang="en-US" sz="1200" b="0" dirty="0">
                          <a:solidFill>
                            <a:schemeClr val="tx1"/>
                          </a:solidFill>
                        </a:rPr>
                        <a:t>93%</a:t>
                      </a:r>
                    </a:p>
                  </a:txBody>
                  <a:tcPr anchor="ctr"/>
                </a:tc>
                <a:extLst>
                  <a:ext uri="{0D108BD9-81ED-4DB2-BD59-A6C34878D82A}">
                    <a16:rowId xmlns:a16="http://schemas.microsoft.com/office/drawing/2014/main" val="985110703"/>
                  </a:ext>
                </a:extLst>
              </a:tr>
            </a:tbl>
          </a:graphicData>
        </a:graphic>
      </p:graphicFrame>
      <p:sp>
        <p:nvSpPr>
          <p:cNvPr id="3" name="TextBox 2">
            <a:extLst>
              <a:ext uri="{FF2B5EF4-FFF2-40B4-BE49-F238E27FC236}">
                <a16:creationId xmlns:a16="http://schemas.microsoft.com/office/drawing/2014/main" id="{D6867F27-BA2B-E5D7-C689-122E439A57B8}"/>
              </a:ext>
            </a:extLst>
          </p:cNvPr>
          <p:cNvSpPr txBox="1"/>
          <p:nvPr/>
        </p:nvSpPr>
        <p:spPr>
          <a:xfrm>
            <a:off x="508493" y="5096167"/>
            <a:ext cx="8229600" cy="738664"/>
          </a:xfrm>
          <a:prstGeom prst="rect">
            <a:avLst/>
          </a:prstGeom>
          <a:noFill/>
        </p:spPr>
        <p:txBody>
          <a:bodyPr wrap="square">
            <a:spAutoFit/>
          </a:bodyPr>
          <a:lstStyle/>
          <a:p>
            <a:r>
              <a:rPr lang="en-US" dirty="0"/>
              <a:t>I reviewed </a:t>
            </a:r>
            <a:r>
              <a:rPr lang="en-US" b="1" dirty="0"/>
              <a:t>15 research papers</a:t>
            </a:r>
            <a:r>
              <a:rPr lang="en-US" dirty="0"/>
              <a:t> on </a:t>
            </a:r>
            <a:r>
              <a:rPr lang="en-US" b="1" dirty="0"/>
              <a:t>Skin Cancer Detection</a:t>
            </a:r>
            <a:r>
              <a:rPr lang="en-US" dirty="0"/>
              <a:t>, including </a:t>
            </a:r>
            <a:r>
              <a:rPr lang="en-US" b="1" dirty="0"/>
              <a:t>8 recent papers (2022–2024)</a:t>
            </a:r>
            <a:r>
              <a:rPr lang="en-US" dirty="0"/>
              <a:t>. These focused on deep learning techniques, diagnostic accuracy, and clinical applications, helping me understand current trends and challenges in the field.</a:t>
            </a:r>
            <a:endParaRPr lang="en-PK"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203715cfd4a_0_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Problem Statement</a:t>
            </a:r>
            <a:endParaRPr dirty="0"/>
          </a:p>
        </p:txBody>
      </p:sp>
      <p:sp>
        <p:nvSpPr>
          <p:cNvPr id="122" name="Google Shape;122;g203715cfd4a_0_2"/>
          <p:cNvSpPr txBox="1">
            <a:spLocks noGrp="1"/>
          </p:cNvSpPr>
          <p:nvPr>
            <p:ph type="body" idx="1"/>
          </p:nvPr>
        </p:nvSpPr>
        <p:spPr>
          <a:xfrm>
            <a:off x="457200" y="1346200"/>
            <a:ext cx="8229600" cy="4526100"/>
          </a:xfrm>
          <a:prstGeom prst="rect">
            <a:avLst/>
          </a:prstGeom>
          <a:noFill/>
          <a:ln>
            <a:noFill/>
          </a:ln>
        </p:spPr>
        <p:txBody>
          <a:bodyPr spcFirstLastPara="1" wrap="square" lIns="91425" tIns="45700" rIns="91425" bIns="45700" anchor="t" anchorCtr="0">
            <a:noAutofit/>
          </a:bodyPr>
          <a:lstStyle/>
          <a:p>
            <a:pPr marL="342900" indent="-139700" algn="just">
              <a:spcBef>
                <a:spcPts val="0"/>
              </a:spcBef>
              <a:buSzPts val="3200"/>
              <a:buNone/>
            </a:pPr>
            <a:r>
              <a:rPr lang="en-US" sz="2400" dirty="0"/>
              <a:t>  Skin cancer is one of the most common and deadly cancers worldwide. Early and accurate detection greatly improves survival rates. However, traditional diagnosis is slow, subjective, and depends on specialists. Limited access to dermatologists causes delays, especially in remote areas. Current AI tools lack accuracy and may not work well for diverse skin tones, highlighting the need for a reliable, accessible AI-based detection system.</a:t>
            </a: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03715cfd4a_0_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Methodology</a:t>
            </a:r>
            <a:endParaRPr/>
          </a:p>
        </p:txBody>
      </p:sp>
      <p:pic>
        <p:nvPicPr>
          <p:cNvPr id="3" name="Picture 2">
            <a:extLst>
              <a:ext uri="{FF2B5EF4-FFF2-40B4-BE49-F238E27FC236}">
                <a16:creationId xmlns:a16="http://schemas.microsoft.com/office/drawing/2014/main" id="{6DCE5AC9-7F1F-8E87-3475-45AB98660EA5}"/>
              </a:ext>
            </a:extLst>
          </p:cNvPr>
          <p:cNvPicPr>
            <a:picLocks noChangeAspect="1"/>
          </p:cNvPicPr>
          <p:nvPr/>
        </p:nvPicPr>
        <p:blipFill>
          <a:blip r:embed="rId3"/>
          <a:stretch>
            <a:fillRect/>
          </a:stretch>
        </p:blipFill>
        <p:spPr>
          <a:xfrm>
            <a:off x="193474" y="1296140"/>
            <a:ext cx="8746339" cy="44832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9F86-9C06-25A4-4F1B-EF836E1F246B}"/>
              </a:ext>
            </a:extLst>
          </p:cNvPr>
          <p:cNvSpPr>
            <a:spLocks noGrp="1"/>
          </p:cNvSpPr>
          <p:nvPr>
            <p:ph type="title"/>
          </p:nvPr>
        </p:nvSpPr>
        <p:spPr>
          <a:xfrm>
            <a:off x="429208" y="0"/>
            <a:ext cx="8229600" cy="1143000"/>
          </a:xfrm>
        </p:spPr>
        <p:txBody>
          <a:bodyPr/>
          <a:lstStyle/>
          <a:p>
            <a:r>
              <a:rPr lang="en-US" dirty="0"/>
              <a:t>Market Survey</a:t>
            </a:r>
            <a:r>
              <a:rPr lang="en-US" dirty="0">
                <a:highlight>
                  <a:srgbClr val="FF0000"/>
                </a:highlight>
              </a:rPr>
              <a:t>	</a:t>
            </a:r>
          </a:p>
        </p:txBody>
      </p:sp>
      <p:graphicFrame>
        <p:nvGraphicFramePr>
          <p:cNvPr id="5" name="Table 4">
            <a:extLst>
              <a:ext uri="{FF2B5EF4-FFF2-40B4-BE49-F238E27FC236}">
                <a16:creationId xmlns:a16="http://schemas.microsoft.com/office/drawing/2014/main" id="{93D30E9D-76EC-3EF0-DD4F-C1EB754F5E64}"/>
              </a:ext>
            </a:extLst>
          </p:cNvPr>
          <p:cNvGraphicFramePr>
            <a:graphicFrameLocks noGrp="1"/>
          </p:cNvGraphicFramePr>
          <p:nvPr>
            <p:extLst>
              <p:ext uri="{D42A27DB-BD31-4B8C-83A1-F6EECF244321}">
                <p14:modId xmlns:p14="http://schemas.microsoft.com/office/powerpoint/2010/main" val="3500513414"/>
              </p:ext>
            </p:extLst>
          </p:nvPr>
        </p:nvGraphicFramePr>
        <p:xfrm>
          <a:off x="809352" y="891012"/>
          <a:ext cx="7469312" cy="4937760"/>
        </p:xfrm>
        <a:graphic>
          <a:graphicData uri="http://schemas.openxmlformats.org/drawingml/2006/table">
            <a:tbl>
              <a:tblPr firstRow="1" bandRow="1">
                <a:tableStyleId>{5C22544A-7EE6-4342-B048-85BDC9FD1C3A}</a:tableStyleId>
              </a:tblPr>
              <a:tblGrid>
                <a:gridCol w="1867328">
                  <a:extLst>
                    <a:ext uri="{9D8B030D-6E8A-4147-A177-3AD203B41FA5}">
                      <a16:colId xmlns:a16="http://schemas.microsoft.com/office/drawing/2014/main" val="980787807"/>
                    </a:ext>
                  </a:extLst>
                </a:gridCol>
                <a:gridCol w="1867328">
                  <a:extLst>
                    <a:ext uri="{9D8B030D-6E8A-4147-A177-3AD203B41FA5}">
                      <a16:colId xmlns:a16="http://schemas.microsoft.com/office/drawing/2014/main" val="2280806505"/>
                    </a:ext>
                  </a:extLst>
                </a:gridCol>
                <a:gridCol w="1838960">
                  <a:extLst>
                    <a:ext uri="{9D8B030D-6E8A-4147-A177-3AD203B41FA5}">
                      <a16:colId xmlns:a16="http://schemas.microsoft.com/office/drawing/2014/main" val="2629890050"/>
                    </a:ext>
                  </a:extLst>
                </a:gridCol>
                <a:gridCol w="1895696">
                  <a:extLst>
                    <a:ext uri="{9D8B030D-6E8A-4147-A177-3AD203B41FA5}">
                      <a16:colId xmlns:a16="http://schemas.microsoft.com/office/drawing/2014/main" val="4114370384"/>
                    </a:ext>
                  </a:extLst>
                </a:gridCol>
              </a:tblGrid>
              <a:tr h="285068">
                <a:tc>
                  <a:txBody>
                    <a:bodyPr/>
                    <a:lstStyle/>
                    <a:p>
                      <a:r>
                        <a:rPr lang="en-US" dirty="0"/>
                        <a:t>Application</a:t>
                      </a:r>
                    </a:p>
                  </a:txBody>
                  <a:tcPr/>
                </a:tc>
                <a:tc>
                  <a:txBody>
                    <a:bodyPr/>
                    <a:lstStyle/>
                    <a:p>
                      <a:r>
                        <a:rPr lang="en-US" dirty="0"/>
                        <a:t>Technique</a:t>
                      </a:r>
                    </a:p>
                  </a:txBody>
                  <a:tcPr/>
                </a:tc>
                <a:tc>
                  <a:txBody>
                    <a:bodyPr/>
                    <a:lstStyle/>
                    <a:p>
                      <a:r>
                        <a:rPr lang="en-US" dirty="0"/>
                        <a:t>Test Set</a:t>
                      </a:r>
                    </a:p>
                  </a:txBody>
                  <a:tcPr/>
                </a:tc>
                <a:tc>
                  <a:txBody>
                    <a:bodyPr/>
                    <a:lstStyle/>
                    <a:p>
                      <a:r>
                        <a:rPr lang="en-US" dirty="0"/>
                        <a:t>Remarks</a:t>
                      </a:r>
                    </a:p>
                  </a:txBody>
                  <a:tcPr/>
                </a:tc>
                <a:extLst>
                  <a:ext uri="{0D108BD9-81ED-4DB2-BD59-A6C34878D82A}">
                    <a16:rowId xmlns:a16="http://schemas.microsoft.com/office/drawing/2014/main" val="464588140"/>
                  </a:ext>
                </a:extLst>
              </a:tr>
              <a:tr h="1282808">
                <a:tc>
                  <a:txBody>
                    <a:bodyPr/>
                    <a:lstStyle/>
                    <a:p>
                      <a:r>
                        <a:rPr lang="en-US" dirty="0" err="1"/>
                        <a:t>SkinVision</a:t>
                      </a:r>
                      <a:r>
                        <a:rPr lang="en-US" dirty="0"/>
                        <a:t> App</a:t>
                      </a:r>
                    </a:p>
                  </a:txBody>
                  <a:tcPr/>
                </a:tc>
                <a:tc>
                  <a:txBody>
                    <a:bodyPr/>
                    <a:lstStyle/>
                    <a:p>
                      <a:r>
                        <a:rPr lang="en-US" sz="1400" b="0" i="0" u="none" strike="noStrike" cap="none" dirty="0">
                          <a:solidFill>
                            <a:schemeClr val="dk1"/>
                          </a:solidFill>
                          <a:effectLst/>
                          <a:latin typeface="+mn-lt"/>
                          <a:ea typeface="+mn-ea"/>
                          <a:cs typeface="+mn-cs"/>
                          <a:sym typeface="Arial" panose="020B0604020202020204"/>
                        </a:rPr>
                        <a:t>Conditional generative adversarial neural network (segmentation) and SVM (classification)</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~black‑white melanoma photos → sensitivity 73%, specificity 83%,</a:t>
                      </a:r>
                    </a:p>
                  </a:txBody>
                  <a:tcPr/>
                </a:tc>
                <a:tc>
                  <a:txBody>
                    <a:bodyPr/>
                    <a:lstStyle/>
                    <a:p>
                      <a:pPr marL="0" marR="0" indent="0" algn="l">
                        <a:lnSpc>
                          <a:spcPct val="103000"/>
                        </a:lnSpc>
                        <a:spcAft>
                          <a:spcPts val="115"/>
                        </a:spcAft>
                      </a:pPr>
                      <a:r>
                        <a:rPr lang="en-US" sz="1400" kern="100" dirty="0">
                          <a:solidFill>
                            <a:srgbClr val="000000"/>
                          </a:solidFill>
                          <a:effectLst/>
                          <a:latin typeface="Times New Roman" panose="02020603050405020304" pitchFamily="18" charset="0"/>
                          <a:ea typeface="Times New Roman" panose="02020603050405020304" pitchFamily="18" charset="0"/>
                        </a:rPr>
                        <a:t> </a:t>
                      </a:r>
                      <a:r>
                        <a:rPr lang="en-US" dirty="0"/>
                        <a:t>CE‑marked; performance drops in real‑world lesions</a:t>
                      </a:r>
                      <a:endParaRPr lang="en-US" sz="1400" kern="100" dirty="0">
                        <a:solidFill>
                          <a:srgbClr val="000000"/>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209724763"/>
                  </a:ext>
                </a:extLst>
              </a:tr>
              <a:tr h="883712">
                <a:tc>
                  <a:txBody>
                    <a:bodyPr/>
                    <a:lstStyle/>
                    <a:p>
                      <a:r>
                        <a:rPr lang="en-US" dirty="0" err="1"/>
                        <a:t>SpotMole</a:t>
                      </a:r>
                      <a:endParaRPr lang="en-US" dirty="0"/>
                    </a:p>
                  </a:txBody>
                  <a:tcPr/>
                </a:tc>
                <a:tc>
                  <a:txBody>
                    <a:bodyPr/>
                    <a:lstStyle/>
                    <a:p>
                      <a:pPr marL="0" marR="0" indent="0" algn="l">
                        <a:lnSpc>
                          <a:spcPct val="107000"/>
                        </a:lnSpc>
                        <a:spcAft>
                          <a:spcPts val="115"/>
                        </a:spcAft>
                      </a:pPr>
                      <a:r>
                        <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Image processing techniques,</a:t>
                      </a:r>
                    </a:p>
                    <a:p>
                      <a:pPr marL="0" marR="0" indent="0" algn="l">
                        <a:lnSpc>
                          <a:spcPct val="107000"/>
                        </a:lnSpc>
                        <a:spcAft>
                          <a:spcPts val="115"/>
                        </a:spcAft>
                      </a:pPr>
                      <a:r>
                        <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ABCDE rule (Asymmetry Border Color Diameter Evolution)</a:t>
                      </a:r>
                    </a:p>
                  </a:txBody>
                  <a:tcPr marL="0" marR="0" marT="0" marB="0"/>
                </a:tc>
                <a:tc>
                  <a:txBody>
                    <a:bodyPr/>
                    <a:lstStyle/>
                    <a:p>
                      <a:r>
                        <a:rPr lang="en-US" dirty="0"/>
                        <a:t>1 melanoma + 41 suspicious lesions (same Brisbane dataset): sensitivity 43%, specificity 80%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dirty="0"/>
                        <a:t>Low sensitivity (missed &gt;50% melanomas); no recent updates, likely discontinued</a:t>
                      </a:r>
                    </a:p>
                  </a:txBody>
                  <a:tcPr/>
                </a:tc>
                <a:extLst>
                  <a:ext uri="{0D108BD9-81ED-4DB2-BD59-A6C34878D82A}">
                    <a16:rowId xmlns:a16="http://schemas.microsoft.com/office/drawing/2014/main" val="2416992427"/>
                  </a:ext>
                </a:extLst>
              </a:tr>
              <a:tr h="883712">
                <a:tc>
                  <a:txBody>
                    <a:bodyPr/>
                    <a:lstStyle/>
                    <a:p>
                      <a:r>
                        <a:rPr lang="en-US" dirty="0"/>
                        <a:t>Dr Mole</a:t>
                      </a:r>
                    </a:p>
                  </a:txBody>
                  <a:tcPr/>
                </a:tc>
                <a:tc>
                  <a:txBody>
                    <a:bodyPr/>
                    <a:lstStyle/>
                    <a:p>
                      <a:r>
                        <a:rPr lang="en-US" sz="1400" b="0" i="0" u="none" strike="noStrike" cap="none" dirty="0">
                          <a:solidFill>
                            <a:schemeClr val="dk1"/>
                          </a:solidFill>
                          <a:effectLst/>
                          <a:latin typeface="+mn-lt"/>
                          <a:ea typeface="+mn-ea"/>
                          <a:cs typeface="+mn-cs"/>
                          <a:sym typeface="Arial" panose="020B0604020202020204"/>
                        </a:rPr>
                        <a:t>Algorithm based on the ABCDE rule </a:t>
                      </a:r>
                      <a:r>
                        <a:rPr lang="en-US"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(Asymmetry Border Color Diameter Evolution)</a:t>
                      </a:r>
                      <a:endParaRPr lang="en-US" dirty="0"/>
                    </a:p>
                  </a:txBody>
                  <a:tcPr/>
                </a:tc>
                <a:tc>
                  <a:txBody>
                    <a:bodyPr/>
                    <a:lstStyle/>
                    <a:p>
                      <a:r>
                        <a:rPr lang="en-US" dirty="0"/>
                        <a:t>Same test set: 1 melanoma + 41 lesions → sensitivity 21%, specificity 100%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400" kern="100" dirty="0">
                          <a:solidFill>
                            <a:srgbClr val="000000"/>
                          </a:solidFill>
                          <a:effectLst/>
                          <a:latin typeface="Times New Roman" panose="02020603050405020304" pitchFamily="18" charset="0"/>
                          <a:ea typeface="Times New Roman" panose="02020603050405020304" pitchFamily="18" charset="0"/>
                        </a:rPr>
                        <a:t>Only 1 malignant melanoma was Found</a:t>
                      </a:r>
                      <a:endParaRPr lang="en-US" dirty="0"/>
                    </a:p>
                  </a:txBody>
                  <a:tcPr/>
                </a:tc>
                <a:extLst>
                  <a:ext uri="{0D108BD9-81ED-4DB2-BD59-A6C34878D82A}">
                    <a16:rowId xmlns:a16="http://schemas.microsoft.com/office/drawing/2014/main" val="1234523292"/>
                  </a:ext>
                </a:extLst>
              </a:tr>
              <a:tr h="916660">
                <a:tc>
                  <a:txBody>
                    <a:bodyPr/>
                    <a:lstStyle/>
                    <a:p>
                      <a:r>
                        <a:rPr lang="en-US" dirty="0" err="1"/>
                        <a:t>Lubax</a:t>
                      </a:r>
                      <a:endParaRPr lang="en-US" dirty="0"/>
                    </a:p>
                  </a:txBody>
                  <a:tcPr/>
                </a:tc>
                <a:tc>
                  <a:txBody>
                    <a:bodyPr/>
                    <a:lstStyle/>
                    <a:p>
                      <a:r>
                        <a:rPr lang="en-US" sz="1400" b="0" i="0" u="none" strike="noStrike" cap="none" dirty="0">
                          <a:solidFill>
                            <a:schemeClr val="dk1"/>
                          </a:solidFill>
                          <a:effectLst/>
                          <a:latin typeface="+mn-lt"/>
                          <a:ea typeface="+mn-ea"/>
                          <a:cs typeface="+mn-cs"/>
                          <a:sym typeface="Arial" panose="020B0604020202020204"/>
                        </a:rPr>
                        <a:t>Content-based image retrieval, k-nearest neighbor</a:t>
                      </a:r>
                      <a:endParaRPr lang="en-US" dirty="0"/>
                    </a:p>
                  </a:txBody>
                  <a:tcPr/>
                </a:tc>
                <a:tc>
                  <a:txBody>
                    <a:bodyPr/>
                    <a:lstStyle/>
                    <a:p>
                      <a:r>
                        <a:rPr lang="en-US" sz="1400" b="0" i="0" u="none" strike="noStrike" cap="none" dirty="0">
                          <a:solidFill>
                            <a:schemeClr val="dk1"/>
                          </a:solidFill>
                          <a:effectLst/>
                          <a:latin typeface="+mn-lt"/>
                          <a:ea typeface="+mn-ea"/>
                          <a:cs typeface="+mn-cs"/>
                          <a:sym typeface="Arial" panose="020B0604020202020204"/>
                        </a:rPr>
                        <a:t>208 lesions with </a:t>
                      </a:r>
                      <a:r>
                        <a:rPr lang="en-US" sz="1400" b="0" i="0" u="none" strike="noStrike" cap="none" dirty="0" err="1">
                          <a:solidFill>
                            <a:schemeClr val="dk1"/>
                          </a:solidFill>
                          <a:effectLst/>
                          <a:latin typeface="+mn-lt"/>
                          <a:ea typeface="+mn-ea"/>
                          <a:cs typeface="+mn-cs"/>
                          <a:sym typeface="Arial" panose="020B0604020202020204"/>
                        </a:rPr>
                        <a:t>melanoma</a:t>
                      </a:r>
                      <a:r>
                        <a:rPr lang="en-US" sz="1400" b="0" i="0" u="none" strike="noStrike" cap="none" baseline="30000" dirty="0" err="1">
                          <a:solidFill>
                            <a:schemeClr val="dk1"/>
                          </a:solidFill>
                          <a:effectLst/>
                          <a:latin typeface="+mn-lt"/>
                          <a:ea typeface="+mn-ea"/>
                          <a:cs typeface="+mn-cs"/>
                          <a:sym typeface="Arial" panose="020B0604020202020204"/>
                        </a:rPr>
                        <a:t>d</a:t>
                      </a:r>
                      <a:endParaRPr lang="en-US" dirty="0"/>
                    </a:p>
                  </a:txBody>
                  <a:tcPr/>
                </a:tc>
                <a:tc>
                  <a:txBody>
                    <a:bodyPr/>
                    <a:lstStyle/>
                    <a:p>
                      <a:r>
                        <a:rPr lang="en-US" sz="1400" b="0" i="0" u="none" strike="noStrike" cap="none" dirty="0">
                          <a:solidFill>
                            <a:schemeClr val="dk1"/>
                          </a:solidFill>
                          <a:effectLst/>
                          <a:latin typeface="+mn-lt"/>
                          <a:ea typeface="+mn-ea"/>
                          <a:cs typeface="+mn-cs"/>
                          <a:sym typeface="Arial" panose="020B0604020202020204"/>
                        </a:rPr>
                        <a:t>Algorithm tested only on malignant melanoma (large lesions only)</a:t>
                      </a:r>
                      <a:endParaRPr lang="en-US" dirty="0"/>
                    </a:p>
                  </a:txBody>
                  <a:tcPr/>
                </a:tc>
                <a:extLst>
                  <a:ext uri="{0D108BD9-81ED-4DB2-BD59-A6C34878D82A}">
                    <a16:rowId xmlns:a16="http://schemas.microsoft.com/office/drawing/2014/main" val="870537198"/>
                  </a:ext>
                </a:extLst>
              </a:tr>
            </a:tbl>
          </a:graphicData>
        </a:graphic>
      </p:graphicFrame>
    </p:spTree>
    <p:extLst>
      <p:ext uri="{BB962C8B-B14F-4D97-AF65-F5344CB8AC3E}">
        <p14:creationId xmlns:p14="http://schemas.microsoft.com/office/powerpoint/2010/main" val="1686172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PROGRESS REPORT</a:t>
            </a:r>
            <a:br>
              <a:rPr lang="en-US"/>
            </a:br>
            <a:r>
              <a:rPr lang="en-US"/>
              <a:t>SUMMARY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Requirements(1/3)</a:t>
            </a:r>
            <a:endParaRPr dirty="0"/>
          </a:p>
        </p:txBody>
      </p:sp>
      <p:sp>
        <p:nvSpPr>
          <p:cNvPr id="140" name="Google Shape;140;p9"/>
          <p:cNvSpPr txBox="1">
            <a:spLocks noGrp="1"/>
          </p:cNvSpPr>
          <p:nvPr>
            <p:ph type="body" idx="1"/>
          </p:nvPr>
        </p:nvSpPr>
        <p:spPr>
          <a:xfrm>
            <a:off x="473826" y="1167938"/>
            <a:ext cx="82296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sz="2000" b="1" dirty="0"/>
              <a:t>1.List Of Different Users:</a:t>
            </a:r>
          </a:p>
          <a:p>
            <a:pPr marL="342900">
              <a:spcBef>
                <a:spcPts val="640"/>
              </a:spcBef>
              <a:buSzPts val="3200"/>
            </a:pPr>
            <a:r>
              <a:rPr lang="en-US" sz="2000" dirty="0"/>
              <a:t>patient</a:t>
            </a:r>
          </a:p>
          <a:p>
            <a:pPr marL="342900">
              <a:spcBef>
                <a:spcPts val="640"/>
              </a:spcBef>
              <a:buSzPts val="3200"/>
            </a:pPr>
            <a:r>
              <a:rPr lang="en-US" sz="2000" dirty="0"/>
              <a:t>Dermatologist</a:t>
            </a:r>
          </a:p>
          <a:p>
            <a:pPr marL="342900">
              <a:spcBef>
                <a:spcPts val="640"/>
              </a:spcBef>
              <a:buSzPts val="3200"/>
            </a:pPr>
            <a:r>
              <a:rPr lang="en-US" sz="2000" dirty="0"/>
              <a:t>Admin</a:t>
            </a:r>
          </a:p>
          <a:p>
            <a:pPr marL="0" indent="0">
              <a:spcBef>
                <a:spcPts val="640"/>
              </a:spcBef>
              <a:buSzPts val="3200"/>
              <a:buNone/>
            </a:pPr>
            <a:r>
              <a:rPr lang="en-US" sz="2000" b="1" dirty="0"/>
              <a:t>2.Functional Requirements:</a:t>
            </a:r>
          </a:p>
          <a:p>
            <a:pPr marL="342900">
              <a:spcBef>
                <a:spcPts val="640"/>
              </a:spcBef>
              <a:buSzPts val="3200"/>
            </a:pPr>
            <a:r>
              <a:rPr lang="en-US" sz="2000" dirty="0"/>
              <a:t>Five Functional Requirements.</a:t>
            </a:r>
          </a:p>
          <a:p>
            <a:pPr marL="0" indent="0">
              <a:spcBef>
                <a:spcPts val="640"/>
              </a:spcBef>
              <a:buSzPts val="3200"/>
              <a:buNone/>
            </a:pPr>
            <a:r>
              <a:rPr lang="en-US" sz="2000" b="1" dirty="0"/>
              <a:t>3.Non_Functional Requirements:</a:t>
            </a:r>
          </a:p>
          <a:p>
            <a:pPr marL="342900">
              <a:spcBef>
                <a:spcPts val="640"/>
              </a:spcBef>
              <a:buSzPts val="3200"/>
            </a:pPr>
            <a:r>
              <a:rPr lang="en-US" sz="2000" dirty="0"/>
              <a:t>Six </a:t>
            </a:r>
            <a:r>
              <a:rPr lang="en-US" sz="2000" dirty="0" err="1"/>
              <a:t>Non_Functional</a:t>
            </a:r>
            <a:r>
              <a:rPr lang="en-US" sz="2000" dirty="0"/>
              <a:t> Requirements.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Design</a:t>
            </a:r>
            <a:endParaRPr/>
          </a:p>
        </p:txBody>
      </p:sp>
      <p:pic>
        <p:nvPicPr>
          <p:cNvPr id="3" name="Picture 2">
            <a:extLst>
              <a:ext uri="{FF2B5EF4-FFF2-40B4-BE49-F238E27FC236}">
                <a16:creationId xmlns:a16="http://schemas.microsoft.com/office/drawing/2014/main" id="{C57CDFB0-EF80-6439-BC56-81059EBD589C}"/>
              </a:ext>
            </a:extLst>
          </p:cNvPr>
          <p:cNvPicPr>
            <a:picLocks noChangeAspect="1"/>
          </p:cNvPicPr>
          <p:nvPr/>
        </p:nvPicPr>
        <p:blipFill>
          <a:blip r:embed="rId3"/>
          <a:stretch>
            <a:fillRect/>
          </a:stretch>
        </p:blipFill>
        <p:spPr>
          <a:xfrm>
            <a:off x="1534160" y="1145107"/>
            <a:ext cx="5892800" cy="46765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F66C2-A3F5-3E1B-1AE5-E16729336FF7}"/>
              </a:ext>
            </a:extLst>
          </p:cNvPr>
          <p:cNvSpPr>
            <a:spLocks noGrp="1"/>
          </p:cNvSpPr>
          <p:nvPr>
            <p:ph type="title"/>
          </p:nvPr>
        </p:nvSpPr>
        <p:spPr/>
        <p:txBody>
          <a:bodyPr/>
          <a:lstStyle/>
          <a:p>
            <a:r>
              <a:rPr lang="en-US" dirty="0"/>
              <a:t>Design</a:t>
            </a:r>
            <a:endParaRPr lang="en-PK" dirty="0"/>
          </a:p>
        </p:txBody>
      </p:sp>
      <p:sp>
        <p:nvSpPr>
          <p:cNvPr id="3" name="Text Placeholder 2">
            <a:extLst>
              <a:ext uri="{FF2B5EF4-FFF2-40B4-BE49-F238E27FC236}">
                <a16:creationId xmlns:a16="http://schemas.microsoft.com/office/drawing/2014/main" id="{4A47681B-6E62-328D-A94E-13C67CDCB462}"/>
              </a:ext>
            </a:extLst>
          </p:cNvPr>
          <p:cNvSpPr>
            <a:spLocks noGrp="1"/>
          </p:cNvSpPr>
          <p:nvPr>
            <p:ph type="body" idx="1"/>
          </p:nvPr>
        </p:nvSpPr>
        <p:spPr/>
        <p:txBody>
          <a:bodyPr/>
          <a:lstStyle/>
          <a:p>
            <a:r>
              <a:rPr lang="en-US" dirty="0"/>
              <a:t>ERD DIAGRAM:</a:t>
            </a:r>
          </a:p>
          <a:p>
            <a:endParaRPr lang="en-PK" dirty="0"/>
          </a:p>
        </p:txBody>
      </p:sp>
      <p:pic>
        <p:nvPicPr>
          <p:cNvPr id="5" name="Picture 4">
            <a:extLst>
              <a:ext uri="{FF2B5EF4-FFF2-40B4-BE49-F238E27FC236}">
                <a16:creationId xmlns:a16="http://schemas.microsoft.com/office/drawing/2014/main" id="{B198255E-2EE9-E790-0A98-74F6F0AE32C1}"/>
              </a:ext>
            </a:extLst>
          </p:cNvPr>
          <p:cNvPicPr>
            <a:picLocks noChangeAspect="1"/>
          </p:cNvPicPr>
          <p:nvPr/>
        </p:nvPicPr>
        <p:blipFill>
          <a:blip r:embed="rId2"/>
          <a:stretch>
            <a:fillRect/>
          </a:stretch>
        </p:blipFill>
        <p:spPr>
          <a:xfrm>
            <a:off x="1487562" y="2182205"/>
            <a:ext cx="6168876" cy="3703690"/>
          </a:xfrm>
          <a:prstGeom prst="rect">
            <a:avLst/>
          </a:prstGeom>
        </p:spPr>
      </p:pic>
    </p:spTree>
    <p:extLst>
      <p:ext uri="{BB962C8B-B14F-4D97-AF65-F5344CB8AC3E}">
        <p14:creationId xmlns:p14="http://schemas.microsoft.com/office/powerpoint/2010/main" val="3173993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Implementation[1/3]</a:t>
            </a:r>
            <a:endParaRPr dirty="0"/>
          </a:p>
        </p:txBody>
      </p:sp>
      <p:sp>
        <p:nvSpPr>
          <p:cNvPr id="158" name="Google Shape;158;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dirty="0"/>
              <a:t>List Development Tools &amp; Technologies</a:t>
            </a:r>
          </a:p>
          <a:p>
            <a:pPr marL="285750" lvl="0" indent="-285750">
              <a:spcBef>
                <a:spcPts val="640"/>
              </a:spcBef>
              <a:buSzPts val="3200"/>
            </a:pPr>
            <a:r>
              <a:rPr lang="en-US" sz="2000" b="1" dirty="0"/>
              <a:t>Frontend:</a:t>
            </a:r>
            <a:r>
              <a:rPr lang="en-US" sz="2000" dirty="0"/>
              <a:t> HTML , CSS</a:t>
            </a:r>
          </a:p>
          <a:p>
            <a:pPr marL="285750" lvl="0" indent="-285750">
              <a:spcBef>
                <a:spcPts val="640"/>
              </a:spcBef>
              <a:buSzPts val="3200"/>
            </a:pPr>
            <a:r>
              <a:rPr lang="en-US" sz="2000" b="1" dirty="0"/>
              <a:t>Backend: </a:t>
            </a:r>
            <a:r>
              <a:rPr lang="en-US" sz="2000" dirty="0"/>
              <a:t>Flask </a:t>
            </a:r>
          </a:p>
          <a:p>
            <a:pPr marL="285750" lvl="0" indent="-285750">
              <a:spcBef>
                <a:spcPts val="640"/>
              </a:spcBef>
              <a:buSzPts val="3200"/>
            </a:pPr>
            <a:r>
              <a:rPr lang="en-US" sz="2000" b="1" dirty="0"/>
              <a:t>Database:</a:t>
            </a:r>
            <a:r>
              <a:rPr lang="en-US" sz="2000" dirty="0"/>
              <a:t> SQL Lite</a:t>
            </a:r>
          </a:p>
          <a:p>
            <a:pPr marL="285750" lvl="0" indent="-285750">
              <a:spcBef>
                <a:spcPts val="640"/>
              </a:spcBef>
              <a:buSzPts val="3200"/>
            </a:pPr>
            <a:r>
              <a:rPr lang="en-US" sz="2000" b="1" dirty="0"/>
              <a:t>Programming Languages:</a:t>
            </a:r>
            <a:r>
              <a:rPr lang="en-US" sz="2000" dirty="0"/>
              <a:t> Python </a:t>
            </a:r>
          </a:p>
          <a:p>
            <a:pPr marL="285750" lvl="0" indent="-285750">
              <a:spcBef>
                <a:spcPts val="640"/>
              </a:spcBef>
              <a:buSzPts val="3200"/>
            </a:pPr>
            <a:r>
              <a:rPr lang="en-US" sz="2000" b="1" dirty="0"/>
              <a:t>Machine Learning:</a:t>
            </a:r>
            <a:r>
              <a:rPr lang="en-US" sz="2000" dirty="0"/>
              <a:t> TensorFlow, OpenCV </a:t>
            </a:r>
          </a:p>
          <a:p>
            <a:pPr marL="285750" lvl="0" indent="-285750">
              <a:spcBef>
                <a:spcPts val="640"/>
              </a:spcBef>
              <a:buSzPts val="3200"/>
            </a:pPr>
            <a:r>
              <a:rPr lang="en-US" sz="2000" b="1" dirty="0"/>
              <a:t>Version Control:</a:t>
            </a:r>
            <a:r>
              <a:rPr lang="en-US" sz="2000" dirty="0"/>
              <a:t> GitHub (for collaboration version control and automation).</a:t>
            </a:r>
          </a:p>
          <a:p>
            <a:pPr marL="342900" lvl="0" indent="-342900" algn="l" rtl="0">
              <a:lnSpc>
                <a:spcPct val="100000"/>
              </a:lnSpc>
              <a:spcBef>
                <a:spcPts val="0"/>
              </a:spcBef>
              <a:spcAft>
                <a:spcPts val="0"/>
              </a:spcAft>
              <a:buClr>
                <a:schemeClr val="dk1"/>
              </a:buClr>
              <a:buSzPts val="3200"/>
              <a:buChar char="•"/>
            </a:pPr>
            <a:endParaRPr lang="en-US" dirty="0"/>
          </a:p>
          <a:p>
            <a:pPr marL="342900" lvl="0" indent="-342900" algn="l" rtl="0">
              <a:lnSpc>
                <a:spcPct val="100000"/>
              </a:lnSpc>
              <a:spcBef>
                <a:spcPts val="0"/>
              </a:spcBef>
              <a:spcAft>
                <a:spcPts val="0"/>
              </a:spcAft>
              <a:buClr>
                <a:schemeClr val="dk1"/>
              </a:buClr>
              <a:buSzPts val="3200"/>
              <a:buChar char="•"/>
            </a:pPr>
            <a:endParaRPr lang="en-US" dirty="0"/>
          </a:p>
          <a:p>
            <a:pPr marL="342900" lvl="0" indent="-342900" algn="l" rtl="0">
              <a:lnSpc>
                <a:spcPct val="100000"/>
              </a:lnSpc>
              <a:spcBef>
                <a:spcPts val="640"/>
              </a:spcBef>
              <a:spcAft>
                <a:spcPts val="0"/>
              </a:spcAft>
              <a:buClr>
                <a:schemeClr val="dk1"/>
              </a:buClr>
              <a:buSzPts val="3200"/>
              <a:buChar char="•"/>
            </a:pPr>
            <a:r>
              <a:rPr lang="en-US" dirty="0"/>
              <a:t>List Best Practices / Coding Standards</a:t>
            </a:r>
            <a:endParaRPr dirty="0"/>
          </a:p>
          <a:p>
            <a:pPr marL="342900" lvl="0" indent="-342900" algn="l" rtl="0">
              <a:lnSpc>
                <a:spcPct val="100000"/>
              </a:lnSpc>
              <a:spcBef>
                <a:spcPts val="640"/>
              </a:spcBef>
              <a:spcAft>
                <a:spcPts val="0"/>
              </a:spcAft>
              <a:buClr>
                <a:schemeClr val="dk1"/>
              </a:buClr>
              <a:buSzPts val="3200"/>
              <a:buChar char="•"/>
            </a:pPr>
            <a:r>
              <a:rPr lang="en-US" dirty="0"/>
              <a:t>List Libraries / Components / Web Services</a:t>
            </a:r>
            <a:endParaRPr dirty="0"/>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4237C455-B788-3E2D-1E0F-556BB6E7909C}"/>
            </a:ext>
          </a:extLst>
        </p:cNvPr>
        <p:cNvGrpSpPr/>
        <p:nvPr/>
      </p:nvGrpSpPr>
      <p:grpSpPr>
        <a:xfrm>
          <a:off x="0" y="0"/>
          <a:ext cx="0" cy="0"/>
          <a:chOff x="0" y="0"/>
          <a:chExt cx="0" cy="0"/>
        </a:xfrm>
      </p:grpSpPr>
      <p:sp>
        <p:nvSpPr>
          <p:cNvPr id="157" name="Google Shape;157;p12">
            <a:extLst>
              <a:ext uri="{FF2B5EF4-FFF2-40B4-BE49-F238E27FC236}">
                <a16:creationId xmlns:a16="http://schemas.microsoft.com/office/drawing/2014/main" id="{028092F5-700B-35D3-8165-5B36295F95FF}"/>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Implementation[2/3]</a:t>
            </a:r>
            <a:endParaRPr dirty="0"/>
          </a:p>
        </p:txBody>
      </p:sp>
      <p:sp>
        <p:nvSpPr>
          <p:cNvPr id="158" name="Google Shape;158;p12">
            <a:extLst>
              <a:ext uri="{FF2B5EF4-FFF2-40B4-BE49-F238E27FC236}">
                <a16:creationId xmlns:a16="http://schemas.microsoft.com/office/drawing/2014/main" id="{DCBCC388-82FC-D1D1-BC6E-F9E2BF9A1B8C}"/>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a:spcBef>
                <a:spcPts val="640"/>
              </a:spcBef>
              <a:buSzPts val="3200"/>
            </a:pPr>
            <a:r>
              <a:rPr lang="en-US" dirty="0"/>
              <a:t>List Libraries / Components / Web Services</a:t>
            </a:r>
          </a:p>
          <a:p>
            <a:pPr marL="114300" indent="0">
              <a:buNone/>
            </a:pPr>
            <a:r>
              <a:rPr lang="en-US" sz="2000" b="1" dirty="0"/>
              <a:t>Frontend Libraries:</a:t>
            </a:r>
          </a:p>
          <a:p>
            <a:r>
              <a:rPr lang="en-US" sz="2000" b="1" dirty="0"/>
              <a:t>Next.js:</a:t>
            </a:r>
            <a:r>
              <a:rPr lang="en-US" sz="2000" dirty="0"/>
              <a:t> </a:t>
            </a:r>
            <a:r>
              <a:rPr lang="en-US" sz="2000" dirty="0">
                <a:sym typeface="+mn-ea"/>
              </a:rPr>
              <a:t>for building dynamic user interfaces and</a:t>
            </a:r>
            <a:r>
              <a:rPr lang="en-US" sz="2000" dirty="0"/>
              <a:t> server-side rendering and optimized frontend performance.</a:t>
            </a:r>
          </a:p>
          <a:p>
            <a:r>
              <a:rPr lang="en-US" sz="2000" b="1" dirty="0"/>
              <a:t>React-</a:t>
            </a:r>
            <a:r>
              <a:rPr lang="en-US" sz="2000" b="1" dirty="0" err="1"/>
              <a:t>Toastify</a:t>
            </a:r>
            <a:r>
              <a:rPr lang="en-US" sz="2000" b="1" dirty="0"/>
              <a:t>: </a:t>
            </a:r>
            <a:r>
              <a:rPr lang="en-US" sz="2000" dirty="0"/>
              <a:t>For customizable notification alerts.</a:t>
            </a:r>
          </a:p>
          <a:p>
            <a:r>
              <a:rPr lang="en-US" sz="2000" b="1" dirty="0"/>
              <a:t>Framer Motion:</a:t>
            </a:r>
            <a:r>
              <a:rPr lang="en-US" sz="2000" dirty="0"/>
              <a:t> For animations and transitions in the dashboard.</a:t>
            </a:r>
          </a:p>
          <a:p>
            <a:pPr marL="114300" indent="0">
              <a:buNone/>
            </a:pPr>
            <a:r>
              <a:rPr lang="en-US" sz="2000" b="1" dirty="0"/>
              <a:t>Backend Libraries:</a:t>
            </a:r>
          </a:p>
          <a:p>
            <a:r>
              <a:rPr lang="en-US" sz="2000" b="1" dirty="0" err="1"/>
              <a:t>FastAPI</a:t>
            </a:r>
            <a:r>
              <a:rPr lang="en-US" sz="2000" b="1" dirty="0"/>
              <a:t>:</a:t>
            </a:r>
            <a:r>
              <a:rPr lang="en-US" sz="2000" dirty="0"/>
              <a:t> Framework for creating APIs.</a:t>
            </a:r>
          </a:p>
          <a:p>
            <a:r>
              <a:rPr lang="en-US" sz="2000" b="1" dirty="0" err="1"/>
              <a:t>SQLAlchemy</a:t>
            </a:r>
            <a:r>
              <a:rPr lang="en-US" sz="2000" b="1" dirty="0"/>
              <a:t>: </a:t>
            </a:r>
            <a:r>
              <a:rPr lang="en-US" sz="2000" dirty="0"/>
              <a:t>ORM for database management.</a:t>
            </a:r>
          </a:p>
          <a:p>
            <a:r>
              <a:rPr lang="en-US" sz="2000" b="1" dirty="0" err="1"/>
              <a:t>Uvicorn</a:t>
            </a:r>
            <a:r>
              <a:rPr lang="en-US" sz="2000" b="1" dirty="0"/>
              <a:t>:</a:t>
            </a:r>
            <a:r>
              <a:rPr lang="en-US" sz="2000" dirty="0"/>
              <a:t> ASGI server for </a:t>
            </a:r>
            <a:r>
              <a:rPr lang="en-US" sz="2000" dirty="0" err="1"/>
              <a:t>FastAPI</a:t>
            </a:r>
            <a:r>
              <a:rPr lang="en-US" sz="2000" dirty="0"/>
              <a:t>.</a:t>
            </a:r>
          </a:p>
          <a:p>
            <a:r>
              <a:rPr lang="en-US" sz="2000" b="1" dirty="0"/>
              <a:t>Python-Jose:</a:t>
            </a:r>
            <a:r>
              <a:rPr lang="en-US" sz="2000" dirty="0"/>
              <a:t> For secure JWT-based authentication.</a:t>
            </a:r>
          </a:p>
          <a:p>
            <a:pPr indent="-457200">
              <a:spcBef>
                <a:spcPts val="640"/>
              </a:spcBef>
              <a:buSzPts val="3200"/>
            </a:pPr>
            <a:endParaRPr dirty="0"/>
          </a:p>
        </p:txBody>
      </p:sp>
    </p:spTree>
    <p:extLst>
      <p:ext uri="{BB962C8B-B14F-4D97-AF65-F5344CB8AC3E}">
        <p14:creationId xmlns:p14="http://schemas.microsoft.com/office/powerpoint/2010/main" val="4272922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549862EF-C068-D0CB-8297-1D53736820FD}"/>
            </a:ext>
          </a:extLst>
        </p:cNvPr>
        <p:cNvGrpSpPr/>
        <p:nvPr/>
      </p:nvGrpSpPr>
      <p:grpSpPr>
        <a:xfrm>
          <a:off x="0" y="0"/>
          <a:ext cx="0" cy="0"/>
          <a:chOff x="0" y="0"/>
          <a:chExt cx="0" cy="0"/>
        </a:xfrm>
      </p:grpSpPr>
      <p:sp>
        <p:nvSpPr>
          <p:cNvPr id="157" name="Google Shape;157;p12">
            <a:extLst>
              <a:ext uri="{FF2B5EF4-FFF2-40B4-BE49-F238E27FC236}">
                <a16:creationId xmlns:a16="http://schemas.microsoft.com/office/drawing/2014/main" id="{89A0152A-A282-2C8E-109A-471E21A21964}"/>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Implementation[3/3]</a:t>
            </a:r>
            <a:endParaRPr dirty="0"/>
          </a:p>
        </p:txBody>
      </p:sp>
      <p:sp>
        <p:nvSpPr>
          <p:cNvPr id="158" name="Google Shape;158;p12">
            <a:extLst>
              <a:ext uri="{FF2B5EF4-FFF2-40B4-BE49-F238E27FC236}">
                <a16:creationId xmlns:a16="http://schemas.microsoft.com/office/drawing/2014/main" id="{57217677-35C0-1AC0-37E7-3C4EACE0FD2C}"/>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a:spcBef>
                <a:spcPts val="640"/>
              </a:spcBef>
              <a:buSzPts val="3200"/>
            </a:pPr>
            <a:r>
              <a:rPr lang="en-US" dirty="0"/>
              <a:t>List Libraries / Components / Web Services</a:t>
            </a:r>
          </a:p>
          <a:p>
            <a:pPr marL="114300" indent="0">
              <a:buNone/>
            </a:pPr>
            <a:r>
              <a:rPr lang="en-US" sz="2000" b="1" dirty="0"/>
              <a:t>Frontend Libraries:</a:t>
            </a:r>
          </a:p>
          <a:p>
            <a:r>
              <a:rPr lang="en-US" sz="2000" b="1" dirty="0"/>
              <a:t> HTML</a:t>
            </a:r>
          </a:p>
          <a:p>
            <a:r>
              <a:rPr lang="en-US" sz="2000" b="1" dirty="0"/>
              <a:t> CSS</a:t>
            </a:r>
          </a:p>
          <a:p>
            <a:r>
              <a:rPr lang="en-US" sz="2000" b="1" dirty="0"/>
              <a:t> Jinja 2</a:t>
            </a:r>
          </a:p>
          <a:p>
            <a:pPr marL="114300" indent="0">
              <a:buNone/>
            </a:pPr>
            <a:endParaRPr lang="en-US" sz="2000" b="1" dirty="0"/>
          </a:p>
          <a:p>
            <a:pPr marL="114300" indent="0">
              <a:buNone/>
            </a:pPr>
            <a:r>
              <a:rPr lang="en-US" sz="2000" b="1" dirty="0"/>
              <a:t>Backend Libraries:</a:t>
            </a:r>
          </a:p>
          <a:p>
            <a:r>
              <a:rPr lang="en-US" sz="2000" b="1" dirty="0"/>
              <a:t>Flask</a:t>
            </a:r>
            <a:endParaRPr lang="en-US" sz="2000" dirty="0"/>
          </a:p>
          <a:p>
            <a:r>
              <a:rPr lang="en-US" sz="2000" b="1" dirty="0"/>
              <a:t>SQL Lite</a:t>
            </a:r>
            <a:endParaRPr lang="en-US" sz="2000" dirty="0"/>
          </a:p>
          <a:p>
            <a:r>
              <a:rPr lang="en-US" sz="2000" b="1" dirty="0"/>
              <a:t>Python</a:t>
            </a:r>
            <a:endParaRPr lang="en-US" sz="2000" dirty="0"/>
          </a:p>
          <a:p>
            <a:pPr indent="-457200">
              <a:spcBef>
                <a:spcPts val="640"/>
              </a:spcBef>
              <a:buSzPts val="3200"/>
            </a:pPr>
            <a:endParaRPr dirty="0"/>
          </a:p>
        </p:txBody>
      </p:sp>
    </p:spTree>
    <p:extLst>
      <p:ext uri="{BB962C8B-B14F-4D97-AF65-F5344CB8AC3E}">
        <p14:creationId xmlns:p14="http://schemas.microsoft.com/office/powerpoint/2010/main" val="3448492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86C7FBB8-4997-9C9B-BD7C-DA2FA579C0E6}"/>
            </a:ext>
          </a:extLst>
        </p:cNvPr>
        <p:cNvGrpSpPr/>
        <p:nvPr/>
      </p:nvGrpSpPr>
      <p:grpSpPr>
        <a:xfrm>
          <a:off x="0" y="0"/>
          <a:ext cx="0" cy="0"/>
          <a:chOff x="0" y="0"/>
          <a:chExt cx="0" cy="0"/>
        </a:xfrm>
      </p:grpSpPr>
      <p:sp>
        <p:nvSpPr>
          <p:cNvPr id="157" name="Google Shape;157;p12">
            <a:extLst>
              <a:ext uri="{FF2B5EF4-FFF2-40B4-BE49-F238E27FC236}">
                <a16:creationId xmlns:a16="http://schemas.microsoft.com/office/drawing/2014/main" id="{EEB6C00E-2AC6-DC56-E625-944D2E0F782F}"/>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Implementation[3/3]</a:t>
            </a:r>
            <a:endParaRPr dirty="0"/>
          </a:p>
        </p:txBody>
      </p:sp>
      <p:sp>
        <p:nvSpPr>
          <p:cNvPr id="158" name="Google Shape;158;p12">
            <a:extLst>
              <a:ext uri="{FF2B5EF4-FFF2-40B4-BE49-F238E27FC236}">
                <a16:creationId xmlns:a16="http://schemas.microsoft.com/office/drawing/2014/main" id="{AD635374-1BCB-824A-E83B-78E45311BFF3}"/>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114300" indent="0">
              <a:buNone/>
            </a:pPr>
            <a:r>
              <a:rPr lang="en-US" sz="2000" b="1" dirty="0"/>
              <a:t>Machine Learning Libraries:</a:t>
            </a:r>
            <a:endParaRPr lang="en-US" sz="2000" dirty="0"/>
          </a:p>
          <a:p>
            <a:r>
              <a:rPr lang="en-US" sz="2000" b="1" dirty="0"/>
              <a:t>TensorFlow</a:t>
            </a:r>
            <a:endParaRPr lang="en-US" sz="2000" dirty="0"/>
          </a:p>
          <a:p>
            <a:r>
              <a:rPr lang="en-US" sz="2000" b="1" dirty="0"/>
              <a:t>OpenCV</a:t>
            </a:r>
            <a:endParaRPr lang="en-US" sz="2000" dirty="0"/>
          </a:p>
          <a:p>
            <a:pPr marL="114300" indent="0">
              <a:buNone/>
            </a:pPr>
            <a:r>
              <a:rPr lang="en-US" sz="2000" b="1" dirty="0"/>
              <a:t>Utilities and Other Tools:</a:t>
            </a:r>
          </a:p>
          <a:p>
            <a:r>
              <a:rPr lang="en-US" sz="2000" b="1" dirty="0"/>
              <a:t>Pandas </a:t>
            </a:r>
          </a:p>
          <a:p>
            <a:r>
              <a:rPr lang="en-US" sz="2000" b="1" dirty="0" err="1"/>
              <a:t>Numpy</a:t>
            </a:r>
            <a:endParaRPr lang="en-US" sz="2000" b="1" dirty="0"/>
          </a:p>
          <a:p>
            <a:r>
              <a:rPr lang="en-US" sz="2000" b="1" dirty="0" err="1"/>
              <a:t>ImageDataGenerator</a:t>
            </a:r>
            <a:endParaRPr lang="en-US" sz="2000" b="1" dirty="0"/>
          </a:p>
          <a:p>
            <a:pPr indent="-457200">
              <a:spcBef>
                <a:spcPts val="640"/>
              </a:spcBef>
              <a:buSzPts val="3200"/>
            </a:pPr>
            <a:endParaRPr dirty="0"/>
          </a:p>
        </p:txBody>
      </p:sp>
    </p:spTree>
    <p:extLst>
      <p:ext uri="{BB962C8B-B14F-4D97-AF65-F5344CB8AC3E}">
        <p14:creationId xmlns:p14="http://schemas.microsoft.com/office/powerpoint/2010/main" val="650439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ENDEAVOUR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Endeavour(1/2)</a:t>
            </a:r>
            <a:endParaRPr dirty="0"/>
          </a:p>
        </p:txBody>
      </p:sp>
      <p:sp>
        <p:nvSpPr>
          <p:cNvPr id="176" name="Google Shape;176;p15"/>
          <p:cNvSpPr txBox="1">
            <a:spLocks noGrp="1"/>
          </p:cNvSpPr>
          <p:nvPr>
            <p:ph type="body" idx="1"/>
          </p:nvPr>
        </p:nvSpPr>
        <p:spPr>
          <a:xfrm>
            <a:off x="297402" y="1050574"/>
            <a:ext cx="8229600" cy="4525963"/>
          </a:xfrm>
          <a:prstGeom prst="rect">
            <a:avLst/>
          </a:prstGeom>
          <a:noFill/>
          <a:ln>
            <a:noFill/>
          </a:ln>
        </p:spPr>
        <p:txBody>
          <a:bodyPr spcFirstLastPara="1" wrap="square" lIns="91425" tIns="45700" rIns="91425" bIns="45700" anchor="t" anchorCtr="0">
            <a:noAutofit/>
          </a:bodyPr>
          <a:lstStyle/>
          <a:p>
            <a:pPr marL="114300" indent="0">
              <a:buNone/>
            </a:pPr>
            <a:r>
              <a:rPr lang="en-US" sz="2800" b="1" dirty="0"/>
              <a:t>Hassan Dastagir:</a:t>
            </a:r>
          </a:p>
          <a:p>
            <a:r>
              <a:rPr lang="en-US" sz="2400" dirty="0"/>
              <a:t>Model Training</a:t>
            </a:r>
          </a:p>
          <a:p>
            <a:r>
              <a:rPr lang="en-US" sz="2400" dirty="0" err="1"/>
              <a:t>BackEnd</a:t>
            </a:r>
            <a:endParaRPr lang="en-US" sz="2400" dirty="0"/>
          </a:p>
          <a:p>
            <a:r>
              <a:rPr lang="en-US" sz="2400" dirty="0"/>
              <a:t>Documentation</a:t>
            </a:r>
          </a:p>
          <a:p>
            <a:pPr marL="114300" indent="0">
              <a:buNone/>
            </a:pPr>
            <a:r>
              <a:rPr lang="en-US" sz="2800" b="1" dirty="0"/>
              <a:t>Ali Sher Khan:</a:t>
            </a:r>
          </a:p>
          <a:p>
            <a:r>
              <a:rPr lang="en-US" sz="2400" dirty="0"/>
              <a:t>Model Training</a:t>
            </a:r>
          </a:p>
          <a:p>
            <a:r>
              <a:rPr lang="en-US" sz="2400" dirty="0"/>
              <a:t>Fine Tuning </a:t>
            </a:r>
          </a:p>
          <a:p>
            <a:r>
              <a:rPr lang="en-US" sz="2400" dirty="0"/>
              <a:t>Front End Designing &amp; Development</a:t>
            </a:r>
          </a:p>
          <a:p>
            <a:pPr marL="114300" indent="0">
              <a:buNone/>
            </a:pPr>
            <a:r>
              <a:rPr lang="en-US" sz="2800" b="1" dirty="0"/>
              <a:t>Muhammad Usman:</a:t>
            </a:r>
          </a:p>
          <a:p>
            <a:r>
              <a:rPr lang="en-US" sz="2400" dirty="0"/>
              <a:t>Model Training</a:t>
            </a:r>
          </a:p>
          <a:p>
            <a:r>
              <a:rPr lang="en-US" sz="2400" dirty="0"/>
              <a:t>Documentation</a:t>
            </a:r>
            <a:endParaRPr dirty="0"/>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13B54B3-0500-A3CA-85E5-BF32B9DC1ECB}"/>
            </a:ext>
          </a:extLst>
        </p:cNvPr>
        <p:cNvGrpSpPr/>
        <p:nvPr/>
      </p:nvGrpSpPr>
      <p:grpSpPr>
        <a:xfrm>
          <a:off x="0" y="0"/>
          <a:ext cx="0" cy="0"/>
          <a:chOff x="0" y="0"/>
          <a:chExt cx="0" cy="0"/>
        </a:xfrm>
      </p:grpSpPr>
      <p:sp>
        <p:nvSpPr>
          <p:cNvPr id="175" name="Google Shape;175;p15">
            <a:extLst>
              <a:ext uri="{FF2B5EF4-FFF2-40B4-BE49-F238E27FC236}">
                <a16:creationId xmlns:a16="http://schemas.microsoft.com/office/drawing/2014/main" id="{FFED221C-B05B-7B51-277A-0EB3D0C5C53F}"/>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Endeavour(2/2)</a:t>
            </a:r>
            <a:endParaRPr dirty="0"/>
          </a:p>
        </p:txBody>
      </p:sp>
      <p:sp>
        <p:nvSpPr>
          <p:cNvPr id="176" name="Google Shape;176;p15">
            <a:extLst>
              <a:ext uri="{FF2B5EF4-FFF2-40B4-BE49-F238E27FC236}">
                <a16:creationId xmlns:a16="http://schemas.microsoft.com/office/drawing/2014/main" id="{6406F97C-AB3F-F6A9-0969-A32101A386ED}"/>
              </a:ext>
            </a:extLst>
          </p:cNvPr>
          <p:cNvSpPr txBox="1">
            <a:spLocks noGrp="1"/>
          </p:cNvSpPr>
          <p:nvPr>
            <p:ph type="body" idx="1"/>
          </p:nvPr>
        </p:nvSpPr>
        <p:spPr>
          <a:xfrm>
            <a:off x="457200" y="1334693"/>
            <a:ext cx="8229600" cy="45259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40"/>
              </a:spcBef>
              <a:spcAft>
                <a:spcPts val="0"/>
              </a:spcAft>
              <a:buClr>
                <a:schemeClr val="dk1"/>
              </a:buClr>
              <a:buSzPts val="3200"/>
              <a:buNone/>
            </a:pPr>
            <a:r>
              <a:rPr lang="en-US" b="1" dirty="0"/>
              <a:t>software development process</a:t>
            </a:r>
            <a:endParaRPr b="1" dirty="0"/>
          </a:p>
          <a:p>
            <a:r>
              <a:rPr lang="en-US" sz="2400" dirty="0"/>
              <a:t>Requirements Gathering &amp; Analysis</a:t>
            </a:r>
          </a:p>
          <a:p>
            <a:r>
              <a:rPr lang="en-US" sz="2400" dirty="0"/>
              <a:t>Preprocessing &amp; Data Management</a:t>
            </a:r>
          </a:p>
          <a:p>
            <a:r>
              <a:rPr lang="en-US" sz="2400" dirty="0"/>
              <a:t>Data Splitting &amp; </a:t>
            </a:r>
            <a:r>
              <a:rPr lang="en-US" sz="2400" dirty="0" err="1"/>
              <a:t>DataFrames</a:t>
            </a:r>
            <a:endParaRPr lang="en-US" sz="2400" dirty="0"/>
          </a:p>
          <a:p>
            <a:r>
              <a:rPr lang="en-US" sz="2400" dirty="0"/>
              <a:t>Augmentation</a:t>
            </a:r>
          </a:p>
          <a:p>
            <a:r>
              <a:rPr lang="en-US" sz="2400" dirty="0"/>
              <a:t>Model Design &amp; Architecture</a:t>
            </a:r>
          </a:p>
          <a:p>
            <a:r>
              <a:rPr lang="en-US" sz="2400" dirty="0"/>
              <a:t>Training &amp; Testing</a:t>
            </a:r>
          </a:p>
          <a:p>
            <a:r>
              <a:rPr lang="en-US" sz="2400" dirty="0"/>
              <a:t>Implementation &amp; Integration (Flask WebApp)</a:t>
            </a:r>
            <a:endParaRPr lang="en-PK" sz="2400" dirty="0"/>
          </a:p>
          <a:p>
            <a:pPr marL="0" lvl="0" indent="0">
              <a:spcBef>
                <a:spcPts val="640"/>
              </a:spcBef>
              <a:buSzPts val="3200"/>
              <a:buNone/>
            </a:pPr>
            <a:endParaRPr dirty="0"/>
          </a:p>
        </p:txBody>
      </p:sp>
    </p:spTree>
    <p:extLst>
      <p:ext uri="{BB962C8B-B14F-4D97-AF65-F5344CB8AC3E}">
        <p14:creationId xmlns:p14="http://schemas.microsoft.com/office/powerpoint/2010/main" val="1229042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NEXT STEPS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Work Breakdown Structure</a:t>
            </a:r>
            <a:br>
              <a:rPr lang="en-US" dirty="0"/>
            </a:br>
            <a:endParaRPr dirty="0"/>
          </a:p>
        </p:txBody>
      </p:sp>
      <p:sp>
        <p:nvSpPr>
          <p:cNvPr id="188" name="Google Shape;188;p17"/>
          <p:cNvSpPr txBox="1">
            <a:spLocks noGrp="1"/>
          </p:cNvSpPr>
          <p:nvPr>
            <p:ph type="body" idx="1"/>
          </p:nvPr>
        </p:nvSpPr>
        <p:spPr>
          <a:xfrm>
            <a:off x="457200" y="846138"/>
            <a:ext cx="4191000" cy="441166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400"/>
              <a:buChar char="•"/>
            </a:pPr>
            <a:r>
              <a:rPr lang="en-US" sz="1800" b="1" dirty="0"/>
              <a:t>Project Planning &amp; Setup</a:t>
            </a:r>
            <a:endParaRPr sz="2000" b="1" dirty="0"/>
          </a:p>
          <a:p>
            <a:pPr marL="742950" lvl="1" indent="-285750" algn="l" rtl="0">
              <a:lnSpc>
                <a:spcPct val="100000"/>
              </a:lnSpc>
              <a:spcBef>
                <a:spcPts val="400"/>
              </a:spcBef>
              <a:spcAft>
                <a:spcPts val="0"/>
              </a:spcAft>
              <a:buClr>
                <a:schemeClr val="dk1"/>
              </a:buClr>
              <a:buSzPts val="2000"/>
              <a:buChar char="–"/>
            </a:pPr>
            <a:r>
              <a:rPr lang="en-US" sz="1800" strike="sngStrike" dirty="0"/>
              <a:t>Define Project goals and scope.</a:t>
            </a:r>
          </a:p>
          <a:p>
            <a:pPr marL="742950" lvl="1" indent="-285750" algn="l" rtl="0">
              <a:lnSpc>
                <a:spcPct val="100000"/>
              </a:lnSpc>
              <a:spcBef>
                <a:spcPts val="400"/>
              </a:spcBef>
              <a:spcAft>
                <a:spcPts val="0"/>
              </a:spcAft>
              <a:buClr>
                <a:schemeClr val="dk1"/>
              </a:buClr>
              <a:buSzPts val="2000"/>
              <a:buChar char="–"/>
            </a:pPr>
            <a:r>
              <a:rPr lang="en-US" sz="1800" strike="sngStrike" dirty="0"/>
              <a:t>Select Technologies and frameworks.</a:t>
            </a:r>
          </a:p>
          <a:p>
            <a:pPr marL="742950" lvl="1" indent="-285750" algn="l" rtl="0">
              <a:lnSpc>
                <a:spcPct val="100000"/>
              </a:lnSpc>
              <a:spcBef>
                <a:spcPts val="400"/>
              </a:spcBef>
              <a:spcAft>
                <a:spcPts val="0"/>
              </a:spcAft>
              <a:buClr>
                <a:schemeClr val="dk1"/>
              </a:buClr>
              <a:buSzPts val="2000"/>
              <a:buChar char="–"/>
            </a:pPr>
            <a:r>
              <a:rPr lang="en-US" sz="1800" strike="sngStrike" dirty="0"/>
              <a:t>Create Initial Project Timeline.</a:t>
            </a:r>
            <a:endParaRPr sz="2000" dirty="0"/>
          </a:p>
          <a:p>
            <a:pPr marL="342900" lvl="0" indent="-342900" algn="l" rtl="0">
              <a:lnSpc>
                <a:spcPct val="100000"/>
              </a:lnSpc>
              <a:spcBef>
                <a:spcPts val="480"/>
              </a:spcBef>
              <a:spcAft>
                <a:spcPts val="0"/>
              </a:spcAft>
              <a:buClr>
                <a:schemeClr val="dk1"/>
              </a:buClr>
              <a:buSzPts val="2400"/>
              <a:buChar char="•"/>
            </a:pPr>
            <a:r>
              <a:rPr lang="en-US" sz="1800" b="1" dirty="0"/>
              <a:t>Data Collection &amp; Preprocessing</a:t>
            </a:r>
            <a:endParaRPr lang="en-US" sz="2000" b="1" dirty="0"/>
          </a:p>
          <a:p>
            <a:pPr marL="742950" lvl="1" indent="-285750">
              <a:spcBef>
                <a:spcPts val="400"/>
              </a:spcBef>
              <a:buSzPts val="2000"/>
            </a:pPr>
            <a:r>
              <a:rPr lang="en-US" sz="1800" strike="sngStrike" dirty="0"/>
              <a:t>Collect Dataset From Kaggle (HAM10000).</a:t>
            </a:r>
            <a:endParaRPr lang="en-US" sz="1800" dirty="0"/>
          </a:p>
          <a:p>
            <a:pPr marL="742950" lvl="1" indent="-285750">
              <a:spcBef>
                <a:spcPts val="400"/>
              </a:spcBef>
              <a:buSzPts val="2000"/>
            </a:pPr>
            <a:r>
              <a:rPr lang="en-US" sz="1800" strike="sngStrike" dirty="0"/>
              <a:t>Preprocess images(</a:t>
            </a:r>
            <a:r>
              <a:rPr lang="en-US" sz="1800" strike="sngStrike" dirty="0" err="1"/>
              <a:t>resize,gaussian</a:t>
            </a:r>
            <a:r>
              <a:rPr lang="en-US" sz="1800" strike="sngStrike" dirty="0"/>
              <a:t> blur, </a:t>
            </a:r>
            <a:r>
              <a:rPr lang="en-US" sz="1800" strike="sngStrike" dirty="0" err="1"/>
              <a:t>inpaint</a:t>
            </a:r>
            <a:r>
              <a:rPr lang="en-US" sz="1800" strike="sngStrike" dirty="0"/>
              <a:t> </a:t>
            </a:r>
            <a:r>
              <a:rPr lang="en-US" sz="1800" strike="sngStrike" dirty="0" err="1"/>
              <a:t>etc</a:t>
            </a:r>
            <a:r>
              <a:rPr lang="en-US" sz="1800" strike="sngStrike" dirty="0"/>
              <a:t>)</a:t>
            </a:r>
          </a:p>
          <a:p>
            <a:pPr marL="742950" lvl="1" indent="-285750">
              <a:spcBef>
                <a:spcPts val="400"/>
              </a:spcBef>
              <a:buSzPts val="2000"/>
            </a:pPr>
            <a:r>
              <a:rPr lang="en-US" sz="1800" strike="sngStrike" dirty="0"/>
              <a:t>Split data into Train (70%),</a:t>
            </a:r>
            <a:r>
              <a:rPr lang="en-US" sz="1800" strike="sngStrike" dirty="0" err="1"/>
              <a:t>Testting</a:t>
            </a:r>
            <a:r>
              <a:rPr lang="en-US" sz="1800" strike="sngStrike" dirty="0"/>
              <a:t>(20%),Validation(10%)</a:t>
            </a:r>
            <a:r>
              <a:rPr lang="en-US" sz="1800" dirty="0"/>
              <a:t>. . .</a:t>
            </a:r>
          </a:p>
          <a:p>
            <a:pPr marL="742950" lvl="1" indent="-285750">
              <a:spcBef>
                <a:spcPts val="400"/>
              </a:spcBef>
              <a:buSzPts val="2000"/>
            </a:pPr>
            <a:r>
              <a:rPr lang="en-US" sz="1800" strike="sngStrike" dirty="0"/>
              <a:t>Perform Data </a:t>
            </a:r>
            <a:r>
              <a:rPr lang="en-US" sz="1800" strike="sngStrike" dirty="0" err="1"/>
              <a:t>Augemtation</a:t>
            </a:r>
            <a:r>
              <a:rPr lang="en-US" sz="1800" strike="sngStrike" dirty="0"/>
              <a:t> (Brightness </a:t>
            </a:r>
            <a:r>
              <a:rPr lang="en-US" sz="1800" strike="sngStrike" dirty="0" err="1"/>
              <a:t>range,shear_range</a:t>
            </a:r>
            <a:r>
              <a:rPr lang="en-US" sz="1800" strike="sngStrike" dirty="0"/>
              <a:t> ,</a:t>
            </a:r>
            <a:r>
              <a:rPr lang="en-US" sz="1800" strike="sngStrike" dirty="0" err="1"/>
              <a:t>Zoom_range</a:t>
            </a:r>
            <a:r>
              <a:rPr lang="en-US" sz="1800" strike="sngStrike" dirty="0"/>
              <a:t> </a:t>
            </a:r>
            <a:r>
              <a:rPr lang="en-US" sz="1800" strike="sngStrike" dirty="0" err="1"/>
              <a:t>etc</a:t>
            </a:r>
            <a:r>
              <a:rPr lang="en-US" sz="1800" strike="sngStrike" dirty="0"/>
              <a:t>).</a:t>
            </a:r>
            <a:endParaRPr sz="1800" dirty="0"/>
          </a:p>
          <a:p>
            <a:pPr marL="342900" lvl="0" indent="-165100" algn="l" rtl="0">
              <a:lnSpc>
                <a:spcPct val="100000"/>
              </a:lnSpc>
              <a:spcBef>
                <a:spcPts val="560"/>
              </a:spcBef>
              <a:spcAft>
                <a:spcPts val="0"/>
              </a:spcAft>
              <a:buClr>
                <a:schemeClr val="dk1"/>
              </a:buClr>
              <a:buSzPts val="2800"/>
              <a:buNone/>
            </a:pPr>
            <a:endParaRPr dirty="0"/>
          </a:p>
        </p:txBody>
      </p:sp>
      <p:sp>
        <p:nvSpPr>
          <p:cNvPr id="189" name="Google Shape;189;p17"/>
          <p:cNvSpPr txBox="1">
            <a:spLocks noGrp="1"/>
          </p:cNvSpPr>
          <p:nvPr>
            <p:ph type="body" idx="2"/>
          </p:nvPr>
        </p:nvSpPr>
        <p:spPr>
          <a:xfrm>
            <a:off x="4648200" y="846139"/>
            <a:ext cx="4272280" cy="4772341"/>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2400"/>
              <a:buChar char="•"/>
            </a:pPr>
            <a:r>
              <a:rPr lang="en-US" sz="2000" b="1" dirty="0"/>
              <a:t>Website Development</a:t>
            </a:r>
            <a:endParaRPr sz="2400" b="1" dirty="0"/>
          </a:p>
          <a:p>
            <a:pPr marL="742950" lvl="1" indent="-285750" algn="l" rtl="0">
              <a:lnSpc>
                <a:spcPct val="100000"/>
              </a:lnSpc>
              <a:spcBef>
                <a:spcPts val="400"/>
              </a:spcBef>
              <a:spcAft>
                <a:spcPts val="0"/>
              </a:spcAft>
              <a:buClr>
                <a:schemeClr val="dk1"/>
              </a:buClr>
              <a:buSzPts val="2000"/>
              <a:buChar char="–"/>
            </a:pPr>
            <a:r>
              <a:rPr lang="en-US" sz="1800" strike="sngStrike" dirty="0"/>
              <a:t>Create Flask Dashboard(</a:t>
            </a:r>
            <a:r>
              <a:rPr lang="en-US" sz="1800" strike="sngStrike" dirty="0" err="1"/>
              <a:t>login,signup</a:t>
            </a:r>
            <a:r>
              <a:rPr lang="en-US" sz="1800" strike="sngStrike" dirty="0"/>
              <a:t> ,</a:t>
            </a:r>
            <a:r>
              <a:rPr lang="en-US" sz="1800" strike="sngStrike" dirty="0" err="1"/>
              <a:t>Forgotpassword</a:t>
            </a:r>
            <a:r>
              <a:rPr lang="en-US" sz="1800" strike="sngStrike" dirty="0"/>
              <a:t>,).</a:t>
            </a:r>
          </a:p>
          <a:p>
            <a:pPr marL="742950" lvl="1" indent="-285750" algn="l" rtl="0">
              <a:lnSpc>
                <a:spcPct val="100000"/>
              </a:lnSpc>
              <a:spcBef>
                <a:spcPts val="400"/>
              </a:spcBef>
              <a:spcAft>
                <a:spcPts val="0"/>
              </a:spcAft>
              <a:buClr>
                <a:schemeClr val="dk1"/>
              </a:buClr>
              <a:buSzPts val="2000"/>
              <a:buChar char="–"/>
            </a:pPr>
            <a:r>
              <a:rPr lang="en-US" sz="1800" strike="sngStrike" dirty="0"/>
              <a:t>Design User Interface(</a:t>
            </a:r>
            <a:r>
              <a:rPr lang="en-US" sz="1800" strike="sngStrike" dirty="0" err="1"/>
              <a:t>Home,Analyze,contact,patient_records,Profile</a:t>
            </a:r>
            <a:r>
              <a:rPr lang="en-US" sz="1800" strike="sngStrike" dirty="0"/>
              <a:t> logout).</a:t>
            </a:r>
          </a:p>
          <a:p>
            <a:pPr marL="742950" lvl="1" indent="-285750" algn="l" rtl="0">
              <a:lnSpc>
                <a:spcPct val="100000"/>
              </a:lnSpc>
              <a:spcBef>
                <a:spcPts val="400"/>
              </a:spcBef>
              <a:spcAft>
                <a:spcPts val="0"/>
              </a:spcAft>
              <a:buClr>
                <a:schemeClr val="dk1"/>
              </a:buClr>
              <a:buSzPts val="2000"/>
              <a:buChar char="–"/>
            </a:pPr>
            <a:r>
              <a:rPr lang="en-US" sz="1800" strike="sngStrike" dirty="0"/>
              <a:t>Admin Interface(Admin </a:t>
            </a:r>
            <a:r>
              <a:rPr lang="en-US" sz="1800" strike="sngStrike" dirty="0" err="1"/>
              <a:t>Dashbaord</a:t>
            </a:r>
            <a:r>
              <a:rPr lang="en-US" sz="1800" strike="sngStrike" dirty="0"/>
              <a:t>).</a:t>
            </a:r>
            <a:r>
              <a:rPr lang="en-US" sz="1800" dirty="0"/>
              <a:t>. </a:t>
            </a:r>
            <a:endParaRPr sz="2000" dirty="0"/>
          </a:p>
          <a:p>
            <a:pPr marL="342900" lvl="0" indent="-342900" algn="l" rtl="0">
              <a:lnSpc>
                <a:spcPct val="100000"/>
              </a:lnSpc>
              <a:spcBef>
                <a:spcPts val="480"/>
              </a:spcBef>
              <a:spcAft>
                <a:spcPts val="0"/>
              </a:spcAft>
              <a:buClr>
                <a:schemeClr val="dk1"/>
              </a:buClr>
              <a:buSzPts val="2400"/>
              <a:buChar char="•"/>
            </a:pPr>
            <a:r>
              <a:rPr lang="en-US" sz="2000" b="1" dirty="0"/>
              <a:t>Testing &amp; Validation. </a:t>
            </a:r>
          </a:p>
          <a:p>
            <a:pPr marL="342900" lvl="0" indent="-342900" algn="l" rtl="0">
              <a:lnSpc>
                <a:spcPct val="100000"/>
              </a:lnSpc>
              <a:spcBef>
                <a:spcPts val="480"/>
              </a:spcBef>
              <a:spcAft>
                <a:spcPts val="0"/>
              </a:spcAft>
              <a:buClr>
                <a:schemeClr val="dk1"/>
              </a:buClr>
              <a:buSzPts val="2400"/>
              <a:buChar char="•"/>
            </a:pPr>
            <a:r>
              <a:rPr lang="en-US" sz="2000" b="1" dirty="0"/>
              <a:t>Final Optimization.</a:t>
            </a:r>
          </a:p>
          <a:p>
            <a:pPr marL="342900" lvl="0" indent="-342900" algn="l" rtl="0">
              <a:lnSpc>
                <a:spcPct val="100000"/>
              </a:lnSpc>
              <a:spcBef>
                <a:spcPts val="480"/>
              </a:spcBef>
              <a:spcAft>
                <a:spcPts val="0"/>
              </a:spcAft>
              <a:buClr>
                <a:schemeClr val="dk1"/>
              </a:buClr>
              <a:buSzPts val="2400"/>
              <a:buChar char="•"/>
            </a:pPr>
            <a:r>
              <a:rPr lang="en-US" sz="2000" b="1" dirty="0"/>
              <a:t>Maintenance &amp; Documentation.</a:t>
            </a:r>
          </a:p>
          <a:p>
            <a:pPr marL="342900" lvl="0" indent="-342900" algn="l" rtl="0">
              <a:lnSpc>
                <a:spcPct val="100000"/>
              </a:lnSpc>
              <a:spcBef>
                <a:spcPts val="480"/>
              </a:spcBef>
              <a:spcAft>
                <a:spcPts val="0"/>
              </a:spcAft>
              <a:buClr>
                <a:schemeClr val="dk1"/>
              </a:buClr>
              <a:buSzPts val="2400"/>
              <a:buChar char="•"/>
            </a:pPr>
            <a:r>
              <a:rPr lang="en-US" sz="2000" b="1" dirty="0"/>
              <a:t>Mobile Application.</a:t>
            </a:r>
            <a:endParaRPr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Challenges</a:t>
            </a:r>
            <a:endParaRPr/>
          </a:p>
        </p:txBody>
      </p:sp>
      <p:sp>
        <p:nvSpPr>
          <p:cNvPr id="195" name="Google Shape;195;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660400" indent="-457200">
              <a:spcBef>
                <a:spcPts val="0"/>
              </a:spcBef>
              <a:buSzPts val="3200"/>
            </a:pPr>
            <a:r>
              <a:rPr lang="en-US" dirty="0"/>
              <a:t>Resources  </a:t>
            </a:r>
          </a:p>
          <a:p>
            <a:pPr marL="660400" indent="-457200">
              <a:spcBef>
                <a:spcPts val="0"/>
              </a:spcBef>
              <a:buSzPts val="3200"/>
            </a:pPr>
            <a:r>
              <a:rPr lang="en-US" dirty="0"/>
              <a:t>Class Imbalance</a:t>
            </a:r>
          </a:p>
          <a:p>
            <a:pPr marL="660400" indent="-457200">
              <a:spcBef>
                <a:spcPts val="0"/>
              </a:spcBef>
              <a:buSzPts val="3200"/>
            </a:pPr>
            <a:r>
              <a:rPr lang="en-US" dirty="0"/>
              <a:t>Model Overfitting</a:t>
            </a:r>
          </a:p>
          <a:p>
            <a:pPr marL="660400" indent="-457200">
              <a:spcBef>
                <a:spcPts val="0"/>
              </a:spcBef>
              <a:buSzPts val="3200"/>
            </a:pPr>
            <a:r>
              <a:rPr lang="en-US" dirty="0"/>
              <a:t>Model Integration</a:t>
            </a:r>
          </a:p>
          <a:p>
            <a:pPr marL="660400" indent="-457200">
              <a:spcBef>
                <a:spcPts val="0"/>
              </a:spcBef>
              <a:buSzPts val="3200"/>
            </a:pPr>
            <a:r>
              <a:rPr lang="en-US" dirty="0"/>
              <a:t>Train Model On Different CNN Architecture </a:t>
            </a:r>
            <a:br>
              <a:rPr lang="en-US" dirty="0"/>
            </a:br>
            <a:endParaRPr lang="en-US" dirty="0"/>
          </a:p>
          <a:p>
            <a:pPr marL="203200" indent="0">
              <a:spcBef>
                <a:spcPts val="0"/>
              </a:spcBef>
              <a:buSzPts val="3200"/>
              <a:buNone/>
            </a:pPr>
            <a:r>
              <a:rPr lang="en-US" dirty="0"/>
              <a:t> </a:t>
            </a:r>
          </a:p>
          <a:p>
            <a:pPr marL="342900" lvl="0" indent="-139700" algn="l" rtl="0">
              <a:lnSpc>
                <a:spcPct val="100000"/>
              </a:lnSpc>
              <a:spcBef>
                <a:spcPts val="0"/>
              </a:spcBef>
              <a:spcAft>
                <a:spcPts val="0"/>
              </a:spcAft>
              <a:buClr>
                <a:schemeClr val="dk1"/>
              </a:buClr>
              <a:buSzPts val="320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t>PROTOTYPE &amp; REPORT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Prototype</a:t>
            </a:r>
            <a:endParaRPr/>
          </a:p>
        </p:txBody>
      </p:sp>
      <p:pic>
        <p:nvPicPr>
          <p:cNvPr id="3" name="Picture 2">
            <a:extLst>
              <a:ext uri="{FF2B5EF4-FFF2-40B4-BE49-F238E27FC236}">
                <a16:creationId xmlns:a16="http://schemas.microsoft.com/office/drawing/2014/main" id="{AFDAB027-76E0-A581-DCB7-38F757DE1913}"/>
              </a:ext>
            </a:extLst>
          </p:cNvPr>
          <p:cNvPicPr>
            <a:picLocks noChangeAspect="1"/>
          </p:cNvPicPr>
          <p:nvPr/>
        </p:nvPicPr>
        <p:blipFill>
          <a:blip r:embed="rId3"/>
          <a:stretch>
            <a:fillRect/>
          </a:stretch>
        </p:blipFill>
        <p:spPr>
          <a:xfrm>
            <a:off x="0" y="1195387"/>
            <a:ext cx="9144000" cy="44672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4ADAB-6E71-BB06-6409-C515674CA3DA}"/>
              </a:ext>
            </a:extLst>
          </p:cNvPr>
          <p:cNvSpPr>
            <a:spLocks noGrp="1"/>
          </p:cNvSpPr>
          <p:nvPr>
            <p:ph type="title"/>
          </p:nvPr>
        </p:nvSpPr>
        <p:spPr/>
        <p:txBody>
          <a:bodyPr/>
          <a:lstStyle/>
          <a:p>
            <a:r>
              <a:rPr lang="en-US" dirty="0"/>
              <a:t>Prototype</a:t>
            </a:r>
            <a:endParaRPr lang="en-PK" dirty="0"/>
          </a:p>
        </p:txBody>
      </p:sp>
      <p:pic>
        <p:nvPicPr>
          <p:cNvPr id="5" name="Picture 4">
            <a:extLst>
              <a:ext uri="{FF2B5EF4-FFF2-40B4-BE49-F238E27FC236}">
                <a16:creationId xmlns:a16="http://schemas.microsoft.com/office/drawing/2014/main" id="{ACF1B7CA-8F46-2C87-E3BC-B521B4A54FC6}"/>
              </a:ext>
            </a:extLst>
          </p:cNvPr>
          <p:cNvPicPr>
            <a:picLocks noChangeAspect="1"/>
          </p:cNvPicPr>
          <p:nvPr/>
        </p:nvPicPr>
        <p:blipFill>
          <a:blip r:embed="rId2"/>
          <a:stretch>
            <a:fillRect/>
          </a:stretch>
        </p:blipFill>
        <p:spPr>
          <a:xfrm>
            <a:off x="0" y="1189653"/>
            <a:ext cx="9144000" cy="4478694"/>
          </a:xfrm>
          <a:prstGeom prst="rect">
            <a:avLst/>
          </a:prstGeom>
        </p:spPr>
      </p:pic>
    </p:spTree>
    <p:extLst>
      <p:ext uri="{BB962C8B-B14F-4D97-AF65-F5344CB8AC3E}">
        <p14:creationId xmlns:p14="http://schemas.microsoft.com/office/powerpoint/2010/main" val="2744873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EDC69-3541-4561-B32E-EB7B62C9AEE4}"/>
              </a:ext>
            </a:extLst>
          </p:cNvPr>
          <p:cNvSpPr>
            <a:spLocks noGrp="1"/>
          </p:cNvSpPr>
          <p:nvPr>
            <p:ph type="title"/>
          </p:nvPr>
        </p:nvSpPr>
        <p:spPr/>
        <p:txBody>
          <a:bodyPr/>
          <a:lstStyle/>
          <a:p>
            <a:r>
              <a:rPr lang="en-US" dirty="0"/>
              <a:t>Prototype</a:t>
            </a:r>
            <a:endParaRPr lang="en-PK" dirty="0"/>
          </a:p>
        </p:txBody>
      </p:sp>
      <p:pic>
        <p:nvPicPr>
          <p:cNvPr id="5" name="Picture 4">
            <a:extLst>
              <a:ext uri="{FF2B5EF4-FFF2-40B4-BE49-F238E27FC236}">
                <a16:creationId xmlns:a16="http://schemas.microsoft.com/office/drawing/2014/main" id="{C45EB014-E05E-A8DA-A822-6B24570C19AC}"/>
              </a:ext>
            </a:extLst>
          </p:cNvPr>
          <p:cNvPicPr>
            <a:picLocks noChangeAspect="1"/>
          </p:cNvPicPr>
          <p:nvPr/>
        </p:nvPicPr>
        <p:blipFill>
          <a:blip r:embed="rId2"/>
          <a:stretch>
            <a:fillRect/>
          </a:stretch>
        </p:blipFill>
        <p:spPr>
          <a:xfrm>
            <a:off x="0" y="1188338"/>
            <a:ext cx="9144000" cy="4481323"/>
          </a:xfrm>
          <a:prstGeom prst="rect">
            <a:avLst/>
          </a:prstGeom>
        </p:spPr>
      </p:pic>
    </p:spTree>
    <p:extLst>
      <p:ext uri="{BB962C8B-B14F-4D97-AF65-F5344CB8AC3E}">
        <p14:creationId xmlns:p14="http://schemas.microsoft.com/office/powerpoint/2010/main" val="2960386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D38CB-4ACD-22DA-6C8B-BC14A76A23FF}"/>
              </a:ext>
            </a:extLst>
          </p:cNvPr>
          <p:cNvSpPr>
            <a:spLocks noGrp="1"/>
          </p:cNvSpPr>
          <p:nvPr>
            <p:ph type="title"/>
          </p:nvPr>
        </p:nvSpPr>
        <p:spPr/>
        <p:txBody>
          <a:bodyPr/>
          <a:lstStyle/>
          <a:p>
            <a:r>
              <a:rPr lang="en-US" dirty="0"/>
              <a:t>Prototype</a:t>
            </a:r>
            <a:endParaRPr lang="en-PK" dirty="0"/>
          </a:p>
        </p:txBody>
      </p:sp>
      <p:pic>
        <p:nvPicPr>
          <p:cNvPr id="5" name="Picture 4">
            <a:extLst>
              <a:ext uri="{FF2B5EF4-FFF2-40B4-BE49-F238E27FC236}">
                <a16:creationId xmlns:a16="http://schemas.microsoft.com/office/drawing/2014/main" id="{D0B55819-C3F6-B21E-763A-EAFEBA8C28C0}"/>
              </a:ext>
            </a:extLst>
          </p:cNvPr>
          <p:cNvPicPr>
            <a:picLocks noChangeAspect="1"/>
          </p:cNvPicPr>
          <p:nvPr/>
        </p:nvPicPr>
        <p:blipFill>
          <a:blip r:embed="rId2"/>
          <a:stretch>
            <a:fillRect/>
          </a:stretch>
        </p:blipFill>
        <p:spPr>
          <a:xfrm>
            <a:off x="0" y="1171876"/>
            <a:ext cx="9144000" cy="4514248"/>
          </a:xfrm>
          <a:prstGeom prst="rect">
            <a:avLst/>
          </a:prstGeom>
        </p:spPr>
      </p:pic>
    </p:spTree>
    <p:extLst>
      <p:ext uri="{BB962C8B-B14F-4D97-AF65-F5344CB8AC3E}">
        <p14:creationId xmlns:p14="http://schemas.microsoft.com/office/powerpoint/2010/main" val="1369491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7484-CF07-2021-8FCD-938CB72FE35C}"/>
              </a:ext>
            </a:extLst>
          </p:cNvPr>
          <p:cNvSpPr>
            <a:spLocks noGrp="1"/>
          </p:cNvSpPr>
          <p:nvPr>
            <p:ph type="title"/>
          </p:nvPr>
        </p:nvSpPr>
        <p:spPr/>
        <p:txBody>
          <a:bodyPr/>
          <a:lstStyle/>
          <a:p>
            <a:r>
              <a:rPr lang="en-US" dirty="0"/>
              <a:t>Prototype</a:t>
            </a:r>
            <a:endParaRPr lang="en-PK" dirty="0"/>
          </a:p>
        </p:txBody>
      </p:sp>
      <p:pic>
        <p:nvPicPr>
          <p:cNvPr id="5" name="Picture 4">
            <a:extLst>
              <a:ext uri="{FF2B5EF4-FFF2-40B4-BE49-F238E27FC236}">
                <a16:creationId xmlns:a16="http://schemas.microsoft.com/office/drawing/2014/main" id="{B47E0D8F-17CC-7B30-FD95-51B6DA5D7E96}"/>
              </a:ext>
            </a:extLst>
          </p:cNvPr>
          <p:cNvPicPr>
            <a:picLocks noChangeAspect="1"/>
          </p:cNvPicPr>
          <p:nvPr/>
        </p:nvPicPr>
        <p:blipFill>
          <a:blip r:embed="rId2"/>
          <a:stretch>
            <a:fillRect/>
          </a:stretch>
        </p:blipFill>
        <p:spPr>
          <a:xfrm>
            <a:off x="0" y="1221663"/>
            <a:ext cx="9144000" cy="4414674"/>
          </a:xfrm>
          <a:prstGeom prst="rect">
            <a:avLst/>
          </a:prstGeom>
        </p:spPr>
      </p:pic>
    </p:spTree>
    <p:extLst>
      <p:ext uri="{BB962C8B-B14F-4D97-AF65-F5344CB8AC3E}">
        <p14:creationId xmlns:p14="http://schemas.microsoft.com/office/powerpoint/2010/main" val="3894017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7B862-314C-A66F-C767-562FBD19C61A}"/>
              </a:ext>
            </a:extLst>
          </p:cNvPr>
          <p:cNvSpPr>
            <a:spLocks noGrp="1"/>
          </p:cNvSpPr>
          <p:nvPr>
            <p:ph type="title"/>
          </p:nvPr>
        </p:nvSpPr>
        <p:spPr/>
        <p:txBody>
          <a:bodyPr/>
          <a:lstStyle/>
          <a:p>
            <a:r>
              <a:rPr lang="en-US" dirty="0"/>
              <a:t>Prototype</a:t>
            </a:r>
            <a:endParaRPr lang="en-PK" dirty="0"/>
          </a:p>
        </p:txBody>
      </p:sp>
      <p:pic>
        <p:nvPicPr>
          <p:cNvPr id="5" name="Picture 4">
            <a:extLst>
              <a:ext uri="{FF2B5EF4-FFF2-40B4-BE49-F238E27FC236}">
                <a16:creationId xmlns:a16="http://schemas.microsoft.com/office/drawing/2014/main" id="{370541FC-C997-6D87-9F81-F0E55BBA96F4}"/>
              </a:ext>
            </a:extLst>
          </p:cNvPr>
          <p:cNvPicPr>
            <a:picLocks noChangeAspect="1"/>
          </p:cNvPicPr>
          <p:nvPr/>
        </p:nvPicPr>
        <p:blipFill>
          <a:blip r:embed="rId2"/>
          <a:stretch>
            <a:fillRect/>
          </a:stretch>
        </p:blipFill>
        <p:spPr>
          <a:xfrm>
            <a:off x="0" y="1194384"/>
            <a:ext cx="9144000" cy="4469232"/>
          </a:xfrm>
          <a:prstGeom prst="rect">
            <a:avLst/>
          </a:prstGeom>
        </p:spPr>
      </p:pic>
    </p:spTree>
    <p:extLst>
      <p:ext uri="{BB962C8B-B14F-4D97-AF65-F5344CB8AC3E}">
        <p14:creationId xmlns:p14="http://schemas.microsoft.com/office/powerpoint/2010/main" val="1853273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Report</a:t>
            </a:r>
            <a:endParaRPr/>
          </a:p>
        </p:txBody>
      </p:sp>
      <p:sp>
        <p:nvSpPr>
          <p:cNvPr id="213" name="Google Shape;213;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0"/>
              </a:spcBef>
              <a:spcAft>
                <a:spcPts val="0"/>
              </a:spcAft>
              <a:buClr>
                <a:schemeClr val="dk1"/>
              </a:buClr>
              <a:buSzPts val="3200"/>
              <a:buChar char="•"/>
            </a:pPr>
            <a:r>
              <a:rPr lang="en-US"/>
              <a:t>Chapter 1: Introduction</a:t>
            </a:r>
            <a:endParaRPr/>
          </a:p>
          <a:p>
            <a:pPr marL="342900" lvl="0" indent="-342900" algn="l" rtl="0">
              <a:lnSpc>
                <a:spcPct val="100000"/>
              </a:lnSpc>
              <a:spcBef>
                <a:spcPts val="640"/>
              </a:spcBef>
              <a:spcAft>
                <a:spcPts val="0"/>
              </a:spcAft>
              <a:buClr>
                <a:schemeClr val="dk1"/>
              </a:buClr>
              <a:buSzPts val="3200"/>
              <a:buChar char="•"/>
            </a:pPr>
            <a:r>
              <a:rPr lang="en-US"/>
              <a:t>Chapter 2: Literature Review / Market Survey</a:t>
            </a:r>
            <a:endParaRPr/>
          </a:p>
          <a:p>
            <a:pPr marL="342900" lvl="0" indent="-342900" algn="l" rtl="0">
              <a:lnSpc>
                <a:spcPct val="100000"/>
              </a:lnSpc>
              <a:spcBef>
                <a:spcPts val="640"/>
              </a:spcBef>
              <a:spcAft>
                <a:spcPts val="0"/>
              </a:spcAft>
              <a:buClr>
                <a:schemeClr val="dk1"/>
              </a:buClr>
              <a:buSzPts val="3200"/>
              <a:buChar char="•"/>
            </a:pPr>
            <a:r>
              <a:rPr lang="en-US"/>
              <a:t>Chapter 3: Requirements and Design</a:t>
            </a:r>
            <a:endParaRPr/>
          </a:p>
          <a:p>
            <a:pPr marL="342900" lvl="0" indent="-342900" algn="l" rtl="0">
              <a:lnSpc>
                <a:spcPct val="100000"/>
              </a:lnSpc>
              <a:spcBef>
                <a:spcPts val="640"/>
              </a:spcBef>
              <a:spcAft>
                <a:spcPts val="0"/>
              </a:spcAft>
              <a:buClr>
                <a:schemeClr val="dk1"/>
              </a:buClr>
              <a:buSzPts val="3200"/>
              <a:buChar char="•"/>
            </a:pPr>
            <a:r>
              <a:rPr lang="en-US"/>
              <a:t>Chapter 4: Implementation and Test Cases</a:t>
            </a:r>
            <a:endParaRPr/>
          </a:p>
          <a:p>
            <a:pPr marL="342900" lvl="0" indent="-342900" algn="l" rtl="0">
              <a:lnSpc>
                <a:spcPct val="100000"/>
              </a:lnSpc>
              <a:spcBef>
                <a:spcPts val="640"/>
              </a:spcBef>
              <a:spcAft>
                <a:spcPts val="0"/>
              </a:spcAft>
              <a:buClr>
                <a:schemeClr val="dk1"/>
              </a:buClr>
              <a:buSzPts val="3200"/>
              <a:buChar char="•"/>
            </a:pPr>
            <a:r>
              <a:rPr lang="en-US"/>
              <a:t>Chapter 5: Experiment Results and Analysis</a:t>
            </a:r>
            <a:endParaRPr/>
          </a:p>
          <a:p>
            <a:pPr marL="342900" lvl="0" indent="-342900" algn="l" rtl="0">
              <a:lnSpc>
                <a:spcPct val="100000"/>
              </a:lnSpc>
              <a:spcBef>
                <a:spcPts val="640"/>
              </a:spcBef>
              <a:spcAft>
                <a:spcPts val="0"/>
              </a:spcAft>
              <a:buClr>
                <a:schemeClr val="dk1"/>
              </a:buClr>
              <a:buSzPts val="3200"/>
              <a:buChar char="•"/>
            </a:pPr>
            <a:r>
              <a:rPr lang="en-US"/>
              <a:t>Chapter 6: Conclusion &amp; Future Direction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645</TotalTime>
  <Words>1102</Words>
  <Application>Microsoft Office PowerPoint</Application>
  <PresentationFormat>On-screen Show (4:3)</PresentationFormat>
  <Paragraphs>206</Paragraphs>
  <Slides>32</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Final Year Project</vt:lpstr>
      <vt:lpstr>Project Team</vt:lpstr>
      <vt:lpstr>Table of Content</vt:lpstr>
      <vt:lpstr>INTRODUCTION AND BACKGROUND </vt:lpstr>
      <vt:lpstr>Introduction and Background[1/2] </vt:lpstr>
      <vt:lpstr>Introduction and Background[2/2] </vt:lpstr>
      <vt:lpstr>Literature Review and Summary Table</vt:lpstr>
      <vt:lpstr>Problem Statement</vt:lpstr>
      <vt:lpstr>Methodology</vt:lpstr>
      <vt:lpstr>Market Survey </vt:lpstr>
      <vt:lpstr>PROGRESS REPORT SUMMARY</vt:lpstr>
      <vt:lpstr>Requirements(1/3)</vt:lpstr>
      <vt:lpstr>Design</vt:lpstr>
      <vt:lpstr>Design</vt:lpstr>
      <vt:lpstr>Implementation[1/3]</vt:lpstr>
      <vt:lpstr>Implementation[2/3]</vt:lpstr>
      <vt:lpstr>Implementation[3/3]</vt:lpstr>
      <vt:lpstr>Implementation[3/3]</vt:lpstr>
      <vt:lpstr>ENDEAVOUR</vt:lpstr>
      <vt:lpstr>Endeavour(1/2)</vt:lpstr>
      <vt:lpstr>Endeavour(2/2)</vt:lpstr>
      <vt:lpstr>NEXT STEPS</vt:lpstr>
      <vt:lpstr>Work Breakdown Structure </vt:lpstr>
      <vt:lpstr>Challenges</vt:lpstr>
      <vt:lpstr>PROTOTYPE &amp; REPORT</vt:lpstr>
      <vt:lpstr>Prototype</vt:lpstr>
      <vt:lpstr>Prototype</vt:lpstr>
      <vt:lpstr>Prototype</vt:lpstr>
      <vt:lpstr>Prototype</vt:lpstr>
      <vt:lpstr>Prototype</vt:lpstr>
      <vt:lpstr>Prototype</vt:lpstr>
      <vt:lpstr>Report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dc:title>
  <dc:creator>Khan</dc:creator>
  <cp:lastModifiedBy>Muhammad Usman</cp:lastModifiedBy>
  <cp:revision>21</cp:revision>
  <dcterms:created xsi:type="dcterms:W3CDTF">2013-01-22T07:04:44Z</dcterms:created>
  <dcterms:modified xsi:type="dcterms:W3CDTF">2025-06-23T17:25:47Z</dcterms:modified>
</cp:coreProperties>
</file>