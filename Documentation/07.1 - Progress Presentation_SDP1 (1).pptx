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78" r:id="rId7"/>
    <p:sldId id="261" r:id="rId8"/>
    <p:sldId id="262" r:id="rId9"/>
    <p:sldId id="298" r:id="rId10"/>
    <p:sldId id="299" r:id="rId11"/>
    <p:sldId id="300" r:id="rId12"/>
    <p:sldId id="301" r:id="rId13"/>
    <p:sldId id="302" r:id="rId14"/>
    <p:sldId id="303" r:id="rId15"/>
    <p:sldId id="305" r:id="rId16"/>
    <p:sldId id="263" r:id="rId17"/>
    <p:sldId id="279" r:id="rId18"/>
    <p:sldId id="264" r:id="rId19"/>
    <p:sldId id="265" r:id="rId20"/>
    <p:sldId id="306" r:id="rId21"/>
    <p:sldId id="266" r:id="rId22"/>
    <p:sldId id="286" r:id="rId23"/>
    <p:sldId id="268" r:id="rId24"/>
    <p:sldId id="288" r:id="rId25"/>
    <p:sldId id="289" r:id="rId26"/>
    <p:sldId id="291" r:id="rId27"/>
    <p:sldId id="292" r:id="rId28"/>
    <p:sldId id="293" r:id="rId29"/>
    <p:sldId id="294" r:id="rId30"/>
    <p:sldId id="295" r:id="rId31"/>
    <p:sldId id="296" r:id="rId32"/>
    <p:sldId id="297" r:id="rId33"/>
    <p:sldId id="270" r:id="rId34"/>
    <p:sldId id="271" r:id="rId35"/>
    <p:sldId id="280" r:id="rId36"/>
    <p:sldId id="272" r:id="rId37"/>
    <p:sldId id="273" r:id="rId38"/>
    <p:sldId id="290" r:id="rId39"/>
    <p:sldId id="274" r:id="rId40"/>
    <p:sldId id="275" r:id="rId41"/>
    <p:sldId id="276" r:id="rId42"/>
    <p:sldId id="281" r:id="rId43"/>
    <p:sldId id="282" r:id="rId44"/>
    <p:sldId id="283" r:id="rId45"/>
    <p:sldId id="284" r:id="rId46"/>
    <p:sldId id="285" r:id="rId47"/>
    <p:sldId id="277" r:id="rId48"/>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D4Kl0eymbPsSACaHDcTfhYrGF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6" autoAdjust="0"/>
    <p:restoredTop sz="94660"/>
  </p:normalViewPr>
  <p:slideViewPr>
    <p:cSldViewPr snapToGrid="0">
      <p:cViewPr>
        <p:scale>
          <a:sx n="96" d="100"/>
          <a:sy n="96" d="100"/>
        </p:scale>
        <p:origin x="-1224" y="23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4684778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xmlns="" id="{77EE3A02-FB0C-BD0D-F949-8A182D2DB84E}"/>
            </a:ext>
          </a:extLst>
        </p:cNvPr>
        <p:cNvGrpSpPr/>
        <p:nvPr/>
      </p:nvGrpSpPr>
      <p:grpSpPr>
        <a:xfrm>
          <a:off x="0" y="0"/>
          <a:ext cx="0" cy="0"/>
          <a:chOff x="0" y="0"/>
          <a:chExt cx="0" cy="0"/>
        </a:xfrm>
      </p:grpSpPr>
      <p:sp>
        <p:nvSpPr>
          <p:cNvPr id="106" name="Google Shape;106;p5:notes">
            <a:extLst>
              <a:ext uri="{FF2B5EF4-FFF2-40B4-BE49-F238E27FC236}">
                <a16:creationId xmlns:a16="http://schemas.microsoft.com/office/drawing/2014/main" xmlns="" id="{8CE76ED0-532A-FBB4-738B-255FF4AFF53F}"/>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a:extLst>
              <a:ext uri="{FF2B5EF4-FFF2-40B4-BE49-F238E27FC236}">
                <a16:creationId xmlns:a16="http://schemas.microsoft.com/office/drawing/2014/main" xmlns="" id="{69118A0C-03A4-81F8-6CCC-56E113DCC476}"/>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339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03715cfd4a_0_2: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203715cfd4a_0_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03715cfd4a_0_7: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03715cfd4a_0_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xmlns="" id="{9F377082-B41F-B2A4-7994-D78F52D710F5}"/>
            </a:ext>
          </a:extLst>
        </p:cNvPr>
        <p:cNvGrpSpPr/>
        <p:nvPr/>
      </p:nvGrpSpPr>
      <p:grpSpPr>
        <a:xfrm>
          <a:off x="0" y="0"/>
          <a:ext cx="0" cy="0"/>
          <a:chOff x="0" y="0"/>
          <a:chExt cx="0" cy="0"/>
        </a:xfrm>
      </p:grpSpPr>
      <p:sp>
        <p:nvSpPr>
          <p:cNvPr id="154" name="Google Shape;154;p12:notes">
            <a:extLst>
              <a:ext uri="{FF2B5EF4-FFF2-40B4-BE49-F238E27FC236}">
                <a16:creationId xmlns:a16="http://schemas.microsoft.com/office/drawing/2014/main" xmlns="" id="{F9203186-69E3-B828-AF59-D0CB68CCD9A7}"/>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a:extLst>
              <a:ext uri="{FF2B5EF4-FFF2-40B4-BE49-F238E27FC236}">
                <a16:creationId xmlns:a16="http://schemas.microsoft.com/office/drawing/2014/main" xmlns="" id="{989AD84D-F271-9455-3BA7-6F8F85D7F8A1}"/>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6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xmlns="" id="{296F5295-AD7E-02A9-A7B7-9DCE0E313C88}"/>
            </a:ext>
          </a:extLst>
        </p:cNvPr>
        <p:cNvGrpSpPr/>
        <p:nvPr/>
      </p:nvGrpSpPr>
      <p:grpSpPr>
        <a:xfrm>
          <a:off x="0" y="0"/>
          <a:ext cx="0" cy="0"/>
          <a:chOff x="0" y="0"/>
          <a:chExt cx="0" cy="0"/>
        </a:xfrm>
      </p:grpSpPr>
      <p:sp>
        <p:nvSpPr>
          <p:cNvPr id="154" name="Google Shape;154;p12:notes">
            <a:extLst>
              <a:ext uri="{FF2B5EF4-FFF2-40B4-BE49-F238E27FC236}">
                <a16:creationId xmlns:a16="http://schemas.microsoft.com/office/drawing/2014/main" xmlns="" id="{572AE651-B49A-E4DE-D1A1-6390BE614A3C}"/>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a:extLst>
              <a:ext uri="{FF2B5EF4-FFF2-40B4-BE49-F238E27FC236}">
                <a16:creationId xmlns:a16="http://schemas.microsoft.com/office/drawing/2014/main" xmlns="" id="{56527B83-82F8-1686-CB56-6C3B7F26A3C6}"/>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0160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xmlns="" id="{7DADC36A-72CD-3849-4472-AE715069F96D}"/>
            </a:ext>
          </a:extLst>
        </p:cNvPr>
        <p:cNvGrpSpPr/>
        <p:nvPr/>
      </p:nvGrpSpPr>
      <p:grpSpPr>
        <a:xfrm>
          <a:off x="0" y="0"/>
          <a:ext cx="0" cy="0"/>
          <a:chOff x="0" y="0"/>
          <a:chExt cx="0" cy="0"/>
        </a:xfrm>
      </p:grpSpPr>
      <p:sp>
        <p:nvSpPr>
          <p:cNvPr id="172" name="Google Shape;172;p15:notes">
            <a:extLst>
              <a:ext uri="{FF2B5EF4-FFF2-40B4-BE49-F238E27FC236}">
                <a16:creationId xmlns:a16="http://schemas.microsoft.com/office/drawing/2014/main" xmlns="" id="{E0A86A68-BBA3-1DB6-0210-F696123B7316}"/>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15:notes">
            <a:extLst>
              <a:ext uri="{FF2B5EF4-FFF2-40B4-BE49-F238E27FC236}">
                <a16:creationId xmlns:a16="http://schemas.microsoft.com/office/drawing/2014/main" xmlns="" id="{7F64C36C-7B4E-3D44-09A1-C37DBCE7E6A0}"/>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5021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5" name="Google Shape;185;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21:notes"/>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2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 name="Google Shape;2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2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2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3" name="Google Shape;33;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2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2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2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 name="Google Shape;4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 name="Google Shape;56;p3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3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31"/>
          <p:cNvSpPr>
            <a:spLocks noGrp="1"/>
          </p:cNvSpPr>
          <p:nvPr>
            <p:ph type="pic" idx="2"/>
          </p:nvPr>
        </p:nvSpPr>
        <p:spPr>
          <a:xfrm>
            <a:off x="1792288" y="612775"/>
            <a:ext cx="5486400" cy="4114800"/>
          </a:xfrm>
          <a:prstGeom prst="rect">
            <a:avLst/>
          </a:prstGeom>
          <a:noFill/>
          <a:ln>
            <a:noFill/>
          </a:ln>
        </p:spPr>
      </p:sp>
      <p:sp>
        <p:nvSpPr>
          <p:cNvPr id="64" name="Google Shape;64;p3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3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Final Year Project</a:t>
            </a:r>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lnSpcReduction="10000"/>
          </a:bodyPr>
          <a:lstStyle/>
          <a:p>
            <a:pPr marL="63500" lvl="0" indent="0">
              <a:spcBef>
                <a:spcPts val="0"/>
              </a:spcBef>
            </a:pPr>
            <a:r>
              <a:rPr lang="en-US" b="1" dirty="0" err="1">
                <a:solidFill>
                  <a:schemeClr val="tx1"/>
                </a:solidFill>
                <a:effectLst>
                  <a:outerShdw blurRad="38100" dist="19050" dir="2700000" algn="tl" rotWithShape="0">
                    <a:schemeClr val="dk1">
                      <a:alpha val="40000"/>
                    </a:schemeClr>
                  </a:outerShdw>
                </a:effectLst>
              </a:rPr>
              <a:t>SpotCancerAI</a:t>
            </a:r>
            <a:endParaRPr lang="en-US" b="1" dirty="0">
              <a:solidFill>
                <a:schemeClr val="tx1"/>
              </a:solidFill>
              <a:effectLst>
                <a:outerShdw blurRad="38100" dist="19050" dir="2700000" algn="tl" rotWithShape="0">
                  <a:schemeClr val="dk1">
                    <a:alpha val="40000"/>
                  </a:schemeClr>
                </a:outerShdw>
              </a:effectLst>
            </a:endParaRPr>
          </a:p>
          <a:p>
            <a:pPr marL="63500" lvl="0" indent="0">
              <a:spcBef>
                <a:spcPts val="0"/>
              </a:spcBef>
            </a:pPr>
            <a:r>
              <a:rPr lang="en-US" b="1" dirty="0">
                <a:solidFill>
                  <a:schemeClr val="tx1"/>
                </a:solidFill>
                <a:effectLst>
                  <a:outerShdw blurRad="38100" dist="19050" dir="2700000" algn="tl" rotWithShape="0">
                    <a:schemeClr val="dk1">
                      <a:alpha val="40000"/>
                    </a:schemeClr>
                  </a:outerShdw>
                </a:effectLst>
              </a:rPr>
              <a:t>Smart Skin Cancer Detection System</a:t>
            </a:r>
          </a:p>
          <a:p>
            <a:pPr marL="63500" lvl="0" indent="0" algn="ctr" rtl="0">
              <a:lnSpc>
                <a:spcPct val="100000"/>
              </a:lnSpc>
              <a:spcBef>
                <a:spcPts val="0"/>
              </a:spcBef>
              <a:spcAft>
                <a:spcPts val="0"/>
              </a:spcAft>
              <a:buClr>
                <a:srgbClr val="888888"/>
              </a:buClr>
              <a:buSzPts val="3200"/>
              <a:buFont typeface="Arial"/>
              <a:buNone/>
            </a:pPr>
            <a:endParaRPr dirty="0"/>
          </a:p>
          <a:p>
            <a:pPr marL="63500" lvl="0" indent="0">
              <a:spcBef>
                <a:spcPts val="280"/>
              </a:spcBef>
              <a:buSzPts val="1400"/>
            </a:pPr>
            <a:r>
              <a:rPr lang="en-US" sz="1400" dirty="0">
                <a:solidFill>
                  <a:schemeClr val="tx1"/>
                </a:solidFill>
                <a:effectLst>
                  <a:outerShdw blurRad="38100" dist="19050" dir="2700000" algn="tl" rotWithShape="0">
                    <a:schemeClr val="dk1">
                      <a:alpha val="40000"/>
                    </a:schemeClr>
                  </a:outerShdw>
                </a:effectLst>
              </a:rPr>
              <a:t>Supervised By: </a:t>
            </a:r>
            <a:r>
              <a:rPr lang="en-US" sz="1400" dirty="0" err="1">
                <a:solidFill>
                  <a:schemeClr val="tx1"/>
                </a:solidFill>
                <a:effectLst>
                  <a:outerShdw blurRad="38100" dist="19050" dir="2700000" algn="tl" rotWithShape="0">
                    <a:schemeClr val="dk1">
                      <a:alpha val="40000"/>
                    </a:schemeClr>
                  </a:outerShdw>
                </a:effectLst>
              </a:rPr>
              <a:t>Mr</a:t>
            </a:r>
            <a:r>
              <a:rPr lang="en-US" sz="1400" dirty="0">
                <a:solidFill>
                  <a:schemeClr val="tx1"/>
                </a:solidFill>
                <a:effectLst>
                  <a:outerShdw blurRad="38100" dist="19050" dir="2700000" algn="tl" rotWithShape="0">
                    <a:schemeClr val="dk1">
                      <a:alpha val="40000"/>
                    </a:schemeClr>
                  </a:outerShdw>
                </a:effectLst>
              </a:rPr>
              <a:t> </a:t>
            </a:r>
            <a:r>
              <a:rPr lang="en-US" sz="1400" dirty="0" smtClean="0">
                <a:solidFill>
                  <a:schemeClr val="tx1"/>
                </a:solidFill>
                <a:effectLst>
                  <a:outerShdw blurRad="38100" dist="19050" dir="2700000" algn="tl" rotWithShape="0">
                    <a:schemeClr val="dk1">
                      <a:alpha val="40000"/>
                    </a:schemeClr>
                  </a:outerShdw>
                </a:effectLst>
              </a:rPr>
              <a:t>Muhammad </a:t>
            </a:r>
            <a:r>
              <a:rPr lang="en-US" sz="1400" dirty="0" err="1" smtClean="0">
                <a:solidFill>
                  <a:schemeClr val="tx1"/>
                </a:solidFill>
                <a:effectLst>
                  <a:outerShdw blurRad="38100" dist="19050" dir="2700000" algn="tl" rotWithShape="0">
                    <a:schemeClr val="dk1">
                      <a:alpha val="40000"/>
                    </a:schemeClr>
                  </a:outerShdw>
                </a:effectLst>
              </a:rPr>
              <a:t>Usman</a:t>
            </a:r>
            <a:r>
              <a:rPr lang="en-US" sz="1400" dirty="0" smtClean="0">
                <a:solidFill>
                  <a:schemeClr val="tx1"/>
                </a:solidFill>
                <a:effectLst>
                  <a:outerShdw blurRad="38100" dist="19050" dir="2700000" algn="tl" rotWithShape="0">
                    <a:schemeClr val="dk1">
                      <a:alpha val="40000"/>
                    </a:schemeClr>
                  </a:outerShdw>
                </a:effectLst>
              </a:rPr>
              <a:t> </a:t>
            </a:r>
            <a:r>
              <a:rPr lang="en-US" sz="1400" smtClean="0">
                <a:solidFill>
                  <a:schemeClr val="tx1"/>
                </a:solidFill>
                <a:effectLst>
                  <a:outerShdw blurRad="38100" dist="19050" dir="2700000" algn="tl" rotWithShape="0">
                    <a:schemeClr val="dk1">
                      <a:alpha val="40000"/>
                    </a:schemeClr>
                  </a:outerShdw>
                </a:effectLst>
              </a:rPr>
              <a:t>Karim</a:t>
            </a:r>
            <a:endParaRPr lang="en-US" sz="1400" dirty="0">
              <a:solidFill>
                <a:schemeClr val="tx1"/>
              </a:solidFill>
              <a:effectLst>
                <a:outerShdw blurRad="38100" dist="19050" dir="2700000" algn="tl" rotWithShape="0">
                  <a:schemeClr val="dk1">
                    <a:alpha val="40000"/>
                  </a:schemeClr>
                </a:outerShdw>
              </a:effectLst>
            </a:endParaRPr>
          </a:p>
        </p:txBody>
      </p:sp>
      <p:pic>
        <p:nvPicPr>
          <p:cNvPr id="86" name="Google Shape;86;p1" descr="Riphah.jpg"/>
          <p:cNvPicPr preferRelativeResize="0"/>
          <p:nvPr/>
        </p:nvPicPr>
        <p:blipFill rotWithShape="1">
          <a:blip r:embed="rId4">
            <a:alphaModFix/>
          </a:blip>
          <a:srcRect l="3033" t="4065" r="6926" b="4925"/>
          <a:stretch/>
        </p:blipFill>
        <p:spPr>
          <a:xfrm>
            <a:off x="4076700" y="1295400"/>
            <a:ext cx="990600" cy="12954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Project Team</a:t>
            </a:r>
            <a:endParaRPr/>
          </a:p>
        </p:txBody>
      </p:sp>
      <p:sp>
        <p:nvSpPr>
          <p:cNvPr id="92" name="Google Shape;92;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Muhammad Usman (24761)</a:t>
            </a:r>
            <a:endParaRPr dirty="0"/>
          </a:p>
          <a:p>
            <a:pPr marL="342900" lvl="0">
              <a:spcBef>
                <a:spcPts val="640"/>
              </a:spcBef>
              <a:buSzPts val="3200"/>
            </a:pPr>
            <a:r>
              <a:rPr lang="en-US" dirty="0"/>
              <a:t>Hassan Dastagir (40124)</a:t>
            </a:r>
          </a:p>
          <a:p>
            <a:pPr marL="342900" lvl="0" indent="-342900" algn="l" rtl="0">
              <a:lnSpc>
                <a:spcPct val="100000"/>
              </a:lnSpc>
              <a:spcBef>
                <a:spcPts val="640"/>
              </a:spcBef>
              <a:spcAft>
                <a:spcPts val="0"/>
              </a:spcAft>
              <a:buClr>
                <a:schemeClr val="dk1"/>
              </a:buClr>
              <a:buSzPts val="3200"/>
              <a:buChar char="•"/>
            </a:pPr>
            <a:r>
              <a:rPr lang="en-US" dirty="0"/>
              <a:t>Ali Sher Khan (39917)</a:t>
            </a:r>
            <a:endParaRPr dirty="0"/>
          </a:p>
          <a:p>
            <a:pPr marL="342900" lvl="0" indent="-139700" algn="l" rtl="0">
              <a:lnSpc>
                <a:spcPct val="100000"/>
              </a:lnSpc>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Table of Content</a:t>
            </a:r>
            <a:endParaRPr dirty="0"/>
          </a:p>
        </p:txBody>
      </p:sp>
      <p:sp>
        <p:nvSpPr>
          <p:cNvPr id="98" name="Google Shape;98;p3"/>
          <p:cNvSpPr txBox="1">
            <a:spLocks noGrp="1"/>
          </p:cNvSpPr>
          <p:nvPr>
            <p:ph type="body" idx="1"/>
          </p:nvPr>
        </p:nvSpPr>
        <p:spPr>
          <a:xfrm>
            <a:off x="345440" y="1166018"/>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Char char="•"/>
            </a:pPr>
            <a:r>
              <a:rPr lang="en-US" sz="2400" dirty="0"/>
              <a:t>Introduction and Background</a:t>
            </a:r>
            <a:endParaRPr sz="2800" dirty="0"/>
          </a:p>
          <a:p>
            <a:pPr marL="342900" lvl="0" indent="-342900" algn="l" rtl="0">
              <a:lnSpc>
                <a:spcPct val="100000"/>
              </a:lnSpc>
              <a:spcBef>
                <a:spcPts val="560"/>
              </a:spcBef>
              <a:spcAft>
                <a:spcPts val="0"/>
              </a:spcAft>
              <a:buClr>
                <a:schemeClr val="dk1"/>
              </a:buClr>
              <a:buSzPts val="2800"/>
              <a:buChar char="•"/>
            </a:pPr>
            <a:r>
              <a:rPr lang="en-US" sz="2400" dirty="0"/>
              <a:t>Literature Review and Summary Table</a:t>
            </a:r>
            <a:endParaRPr sz="2400" dirty="0"/>
          </a:p>
          <a:p>
            <a:pPr marL="342900" lvl="0" indent="-342900" algn="l" rtl="0">
              <a:lnSpc>
                <a:spcPct val="100000"/>
              </a:lnSpc>
              <a:spcBef>
                <a:spcPts val="560"/>
              </a:spcBef>
              <a:spcAft>
                <a:spcPts val="0"/>
              </a:spcAft>
              <a:buSzPts val="2800"/>
              <a:buChar char="•"/>
            </a:pPr>
            <a:r>
              <a:rPr lang="en-US" sz="2400" dirty="0"/>
              <a:t>Problem Statement</a:t>
            </a:r>
            <a:endParaRPr sz="2400" dirty="0"/>
          </a:p>
          <a:p>
            <a:pPr marL="342900" lvl="0" indent="-342900" algn="l" rtl="0">
              <a:lnSpc>
                <a:spcPct val="100000"/>
              </a:lnSpc>
              <a:spcBef>
                <a:spcPts val="560"/>
              </a:spcBef>
              <a:spcAft>
                <a:spcPts val="0"/>
              </a:spcAft>
              <a:buSzPts val="2800"/>
              <a:buChar char="•"/>
            </a:pPr>
            <a:r>
              <a:rPr lang="en-US" sz="2400" dirty="0"/>
              <a:t>Methodology</a:t>
            </a:r>
          </a:p>
          <a:p>
            <a:pPr marL="342900" lvl="0" indent="-342900" algn="l" rtl="0">
              <a:lnSpc>
                <a:spcPct val="100000"/>
              </a:lnSpc>
              <a:spcBef>
                <a:spcPts val="560"/>
              </a:spcBef>
              <a:spcAft>
                <a:spcPts val="0"/>
              </a:spcAft>
              <a:buSzPts val="2800"/>
              <a:buChar char="•"/>
            </a:pPr>
            <a:r>
              <a:rPr lang="en-US" sz="2400" dirty="0"/>
              <a:t>Market Survey</a:t>
            </a:r>
            <a:endParaRPr sz="2400" dirty="0"/>
          </a:p>
          <a:p>
            <a:pPr marL="342900" lvl="0" indent="-342900" algn="l" rtl="0">
              <a:lnSpc>
                <a:spcPct val="100000"/>
              </a:lnSpc>
              <a:spcBef>
                <a:spcPts val="560"/>
              </a:spcBef>
              <a:spcAft>
                <a:spcPts val="0"/>
              </a:spcAft>
              <a:buClr>
                <a:schemeClr val="dk1"/>
              </a:buClr>
              <a:buSzPts val="2800"/>
              <a:buChar char="•"/>
            </a:pPr>
            <a:r>
              <a:rPr lang="en-US" sz="2400" dirty="0"/>
              <a:t>Progress Report Summary</a:t>
            </a:r>
            <a:endParaRPr sz="2800" dirty="0"/>
          </a:p>
          <a:p>
            <a:pPr marL="742950" lvl="1" indent="-285750" algn="l" rtl="0">
              <a:lnSpc>
                <a:spcPct val="100000"/>
              </a:lnSpc>
              <a:spcBef>
                <a:spcPts val="480"/>
              </a:spcBef>
              <a:spcAft>
                <a:spcPts val="0"/>
              </a:spcAft>
              <a:buClr>
                <a:schemeClr val="dk1"/>
              </a:buClr>
              <a:buSzPts val="2400"/>
              <a:buChar char="–"/>
            </a:pPr>
            <a:r>
              <a:rPr lang="en-US" sz="2000" dirty="0"/>
              <a:t>Requirements</a:t>
            </a:r>
            <a:endParaRPr sz="2400" dirty="0"/>
          </a:p>
          <a:p>
            <a:pPr marL="742950" lvl="1" indent="-285750" algn="l" rtl="0">
              <a:lnSpc>
                <a:spcPct val="100000"/>
              </a:lnSpc>
              <a:spcBef>
                <a:spcPts val="480"/>
              </a:spcBef>
              <a:spcAft>
                <a:spcPts val="0"/>
              </a:spcAft>
              <a:buClr>
                <a:schemeClr val="dk1"/>
              </a:buClr>
              <a:buSzPts val="2400"/>
              <a:buChar char="–"/>
            </a:pPr>
            <a:r>
              <a:rPr lang="en-US" sz="2000" dirty="0"/>
              <a:t>Software System (Design + Implementation + Testing)</a:t>
            </a:r>
            <a:endParaRPr sz="2400" dirty="0"/>
          </a:p>
          <a:p>
            <a:pPr marL="742950" lvl="1" indent="-285750" algn="l" rtl="0">
              <a:lnSpc>
                <a:spcPct val="100000"/>
              </a:lnSpc>
              <a:spcBef>
                <a:spcPts val="480"/>
              </a:spcBef>
              <a:spcAft>
                <a:spcPts val="0"/>
              </a:spcAft>
              <a:buClr>
                <a:schemeClr val="dk1"/>
              </a:buClr>
              <a:buSzPts val="2400"/>
              <a:buChar char="–"/>
            </a:pPr>
            <a:r>
              <a:rPr lang="en-US" sz="2000" dirty="0"/>
              <a:t>Endeavour (Team)</a:t>
            </a:r>
            <a:endParaRPr sz="2400" dirty="0"/>
          </a:p>
          <a:p>
            <a:pPr marL="342900" lvl="0" indent="-342900" algn="l" rtl="0">
              <a:lnSpc>
                <a:spcPct val="100000"/>
              </a:lnSpc>
              <a:spcBef>
                <a:spcPts val="560"/>
              </a:spcBef>
              <a:spcAft>
                <a:spcPts val="0"/>
              </a:spcAft>
              <a:buClr>
                <a:schemeClr val="dk1"/>
              </a:buClr>
              <a:buSzPts val="2800"/>
              <a:buChar char="•"/>
            </a:pPr>
            <a:r>
              <a:rPr lang="en-US" sz="2400" dirty="0"/>
              <a:t>Next Steps</a:t>
            </a:r>
            <a:endParaRPr sz="2800" dirty="0"/>
          </a:p>
          <a:p>
            <a:pPr marL="342900" lvl="0" indent="-342900" algn="l" rtl="0">
              <a:lnSpc>
                <a:spcPct val="100000"/>
              </a:lnSpc>
              <a:spcBef>
                <a:spcPts val="560"/>
              </a:spcBef>
              <a:spcAft>
                <a:spcPts val="0"/>
              </a:spcAft>
              <a:buClr>
                <a:schemeClr val="dk1"/>
              </a:buClr>
              <a:buSzPts val="2800"/>
              <a:buChar char="•"/>
            </a:pPr>
            <a:r>
              <a:rPr lang="en-US" sz="2400" dirty="0"/>
              <a:t>Prototype / Report</a:t>
            </a:r>
            <a:endParaRPr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dirty="0"/>
              <a:t>INTRODUCTION AND BACKGROUND </a:t>
            </a: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Introduction and Background[1/2] </a:t>
            </a:r>
            <a:endParaRPr dirty="0"/>
          </a:p>
        </p:txBody>
      </p:sp>
      <p:sp>
        <p:nvSpPr>
          <p:cNvPr id="110" name="Google Shape;110;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indent="-139700" algn="just">
              <a:spcBef>
                <a:spcPts val="0"/>
              </a:spcBef>
              <a:buSzPts val="3200"/>
              <a:buNone/>
            </a:pPr>
            <a:r>
              <a:rPr lang="en-US" sz="2400" dirty="0"/>
              <a:t>  This project develops an AI-based model using deep learning to automatically detect and classify skin lesions from </a:t>
            </a:r>
            <a:r>
              <a:rPr lang="en-US" sz="2400" dirty="0" err="1"/>
              <a:t>dermoscopic</a:t>
            </a:r>
            <a:r>
              <a:rPr lang="en-US" sz="2400" dirty="0"/>
              <a:t> images. The AI-based model aims to accurately identify skin cancer types, such as melanoma, basal cell carcinoma and squamous cell carcinoma. The goal is to improve diagnostic accuracy and efficiency, supporting early skin cancer detection and assisting healthcare professionals in medical decision-making.</a:t>
            </a:r>
            <a:endParaRPr lang="en-US" sz="2400" b="1" dirty="0">
              <a:latin typeface="Calibri" panose="020F0502020204030204" charset="0"/>
            </a:endParaRPr>
          </a:p>
          <a:p>
            <a:pPr marL="342900" lvl="0" indent="-139700" algn="l" rtl="0">
              <a:lnSpc>
                <a:spcPct val="100000"/>
              </a:lnSpc>
              <a:spcBef>
                <a:spcPts val="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xmlns="" id="{318930A1-704F-4857-5D97-CD521773CCF0}"/>
            </a:ext>
          </a:extLst>
        </p:cNvPr>
        <p:cNvGrpSpPr/>
        <p:nvPr/>
      </p:nvGrpSpPr>
      <p:grpSpPr>
        <a:xfrm>
          <a:off x="0" y="0"/>
          <a:ext cx="0" cy="0"/>
          <a:chOff x="0" y="0"/>
          <a:chExt cx="0" cy="0"/>
        </a:xfrm>
      </p:grpSpPr>
      <p:sp>
        <p:nvSpPr>
          <p:cNvPr id="109" name="Google Shape;109;p5">
            <a:extLst>
              <a:ext uri="{FF2B5EF4-FFF2-40B4-BE49-F238E27FC236}">
                <a16:creationId xmlns:a16="http://schemas.microsoft.com/office/drawing/2014/main" xmlns="" id="{0FD537E5-8290-CC48-26AB-A8FB4EFCA065}"/>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Introduction and Background[2/2] </a:t>
            </a:r>
            <a:endParaRPr dirty="0"/>
          </a:p>
        </p:txBody>
      </p:sp>
      <p:sp>
        <p:nvSpPr>
          <p:cNvPr id="110" name="Google Shape;110;p5">
            <a:extLst>
              <a:ext uri="{FF2B5EF4-FFF2-40B4-BE49-F238E27FC236}">
                <a16:creationId xmlns:a16="http://schemas.microsoft.com/office/drawing/2014/main" xmlns="" id="{F2CF0A09-3509-76F9-93F9-DA34C016C57C}"/>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274320" lvl="0" indent="3175" algn="just">
              <a:spcBef>
                <a:spcPts val="0"/>
              </a:spcBef>
              <a:buSzPts val="3200"/>
              <a:buNone/>
            </a:pPr>
            <a:r>
              <a:rPr lang="en-US" sz="2400" dirty="0"/>
              <a:t>Skin cancer is a major global health concern, with early detection being crucial for effective treatment. Traditional diagnostic methods such as visual examination by dermatologists, </a:t>
            </a:r>
            <a:r>
              <a:rPr lang="en-US" sz="2400" dirty="0" err="1"/>
              <a:t>dermoscopy</a:t>
            </a:r>
            <a:r>
              <a:rPr lang="en-US" sz="2400" dirty="0"/>
              <a:t> and skin biopsies, are often time-consuming, subjective, and require expert analysis. These limitations highlight the need for artificial intelligence (AI) to provide faster, more accurate, and automated skin cancer detection, improving early diagnosis and treatment outcomes.</a:t>
            </a:r>
            <a:endParaRPr lang="en-US" sz="2400" dirty="0">
              <a:latin typeface="Calibri" panose="020F0502020204030204" charset="0"/>
              <a:cs typeface="Calibri" panose="020F0502020204030204" charset="0"/>
            </a:endParaRPr>
          </a:p>
          <a:p>
            <a:pPr marL="342900" lvl="0" indent="-139700" algn="l" rtl="0">
              <a:lnSpc>
                <a:spcPct val="100000"/>
              </a:lnSpc>
              <a:spcBef>
                <a:spcPts val="0"/>
              </a:spcBef>
              <a:spcAft>
                <a:spcPts val="0"/>
              </a:spcAft>
              <a:buClr>
                <a:schemeClr val="dk1"/>
              </a:buClr>
              <a:buSzPts val="3200"/>
              <a:buNone/>
            </a:pPr>
            <a:endParaRPr dirty="0"/>
          </a:p>
        </p:txBody>
      </p:sp>
    </p:spTree>
    <p:extLst>
      <p:ext uri="{BB962C8B-B14F-4D97-AF65-F5344CB8AC3E}">
        <p14:creationId xmlns:p14="http://schemas.microsoft.com/office/powerpoint/2010/main" val="27426231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406400" y="3545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4000" dirty="0"/>
              <a:t>Literature Review and Summary Table</a:t>
            </a:r>
            <a:endParaRPr sz="4000" dirty="0"/>
          </a:p>
        </p:txBody>
      </p:sp>
      <p:graphicFrame>
        <p:nvGraphicFramePr>
          <p:cNvPr id="4" name="Table 3">
            <a:extLst>
              <a:ext uri="{FF2B5EF4-FFF2-40B4-BE49-F238E27FC236}">
                <a16:creationId xmlns:a16="http://schemas.microsoft.com/office/drawing/2014/main" xmlns="" id="{30ABCDC8-F2F9-D138-7556-B89EDF950673}"/>
              </a:ext>
            </a:extLst>
          </p:cNvPr>
          <p:cNvGraphicFramePr>
            <a:graphicFrameLocks noGrp="1"/>
          </p:cNvGraphicFramePr>
          <p:nvPr>
            <p:extLst>
              <p:ext uri="{D42A27DB-BD31-4B8C-83A1-F6EECF244321}">
                <p14:modId xmlns:p14="http://schemas.microsoft.com/office/powerpoint/2010/main" val="3778787722"/>
              </p:ext>
            </p:extLst>
          </p:nvPr>
        </p:nvGraphicFramePr>
        <p:xfrm>
          <a:off x="431800" y="1227337"/>
          <a:ext cx="8178800" cy="3868830"/>
        </p:xfrm>
        <a:graphic>
          <a:graphicData uri="http://schemas.openxmlformats.org/drawingml/2006/table">
            <a:tbl>
              <a:tblPr firstRow="1" bandRow="1">
                <a:tableStyleId>{5C22544A-7EE6-4342-B048-85BDC9FD1C3A}</a:tableStyleId>
              </a:tblPr>
              <a:tblGrid>
                <a:gridCol w="1229360">
                  <a:extLst>
                    <a:ext uri="{9D8B030D-6E8A-4147-A177-3AD203B41FA5}">
                      <a16:colId xmlns:a16="http://schemas.microsoft.com/office/drawing/2014/main" xmlns="" val="1285567017"/>
                    </a:ext>
                  </a:extLst>
                </a:gridCol>
                <a:gridCol w="3149600">
                  <a:extLst>
                    <a:ext uri="{9D8B030D-6E8A-4147-A177-3AD203B41FA5}">
                      <a16:colId xmlns:a16="http://schemas.microsoft.com/office/drawing/2014/main" xmlns="" val="1000561147"/>
                    </a:ext>
                  </a:extLst>
                </a:gridCol>
                <a:gridCol w="2336800">
                  <a:extLst>
                    <a:ext uri="{9D8B030D-6E8A-4147-A177-3AD203B41FA5}">
                      <a16:colId xmlns:a16="http://schemas.microsoft.com/office/drawing/2014/main" xmlns="" val="2703491774"/>
                    </a:ext>
                  </a:extLst>
                </a:gridCol>
                <a:gridCol w="1463040">
                  <a:extLst>
                    <a:ext uri="{9D8B030D-6E8A-4147-A177-3AD203B41FA5}">
                      <a16:colId xmlns:a16="http://schemas.microsoft.com/office/drawing/2014/main" xmlns="" val="2605411947"/>
                    </a:ext>
                  </a:extLst>
                </a:gridCol>
              </a:tblGrid>
              <a:tr h="563772">
                <a:tc>
                  <a:txBody>
                    <a:bodyPr/>
                    <a:lstStyle/>
                    <a:p>
                      <a:pPr algn="ctr">
                        <a:buNone/>
                      </a:pPr>
                      <a:r>
                        <a:rPr lang="en-US" sz="1400" dirty="0"/>
                        <a:t>References</a:t>
                      </a:r>
                    </a:p>
                  </a:txBody>
                  <a:tcPr anchor="ctr"/>
                </a:tc>
                <a:tc>
                  <a:txBody>
                    <a:bodyPr/>
                    <a:lstStyle/>
                    <a:p>
                      <a:pPr algn="ctr">
                        <a:buNone/>
                      </a:pPr>
                      <a:r>
                        <a:rPr lang="en-US" sz="1400" dirty="0"/>
                        <a:t>Deep</a:t>
                      </a:r>
                      <a:r>
                        <a:rPr lang="en-US" sz="1400" baseline="0" dirty="0"/>
                        <a:t> Learning techniques</a:t>
                      </a:r>
                      <a:endParaRPr lang="en-US" sz="1400" dirty="0"/>
                    </a:p>
                  </a:txBody>
                  <a:tcPr anchor="ctr"/>
                </a:tc>
                <a:tc>
                  <a:txBody>
                    <a:bodyPr/>
                    <a:lstStyle/>
                    <a:p>
                      <a:pPr algn="ctr">
                        <a:buNone/>
                      </a:pPr>
                      <a:r>
                        <a:rPr lang="en-US" sz="1400" dirty="0"/>
                        <a:t>Dataset</a:t>
                      </a:r>
                    </a:p>
                  </a:txBody>
                  <a:tcPr anchor="ctr"/>
                </a:tc>
                <a:tc>
                  <a:txBody>
                    <a:bodyPr/>
                    <a:lstStyle/>
                    <a:p>
                      <a:pPr algn="ctr">
                        <a:buNone/>
                      </a:pPr>
                      <a:r>
                        <a:rPr lang="en-US" sz="1400" dirty="0"/>
                        <a:t>Accuracy</a:t>
                      </a:r>
                    </a:p>
                  </a:txBody>
                  <a:tcPr anchor="ctr"/>
                </a:tc>
                <a:extLst>
                  <a:ext uri="{0D108BD9-81ED-4DB2-BD59-A6C34878D82A}">
                    <a16:rowId xmlns:a16="http://schemas.microsoft.com/office/drawing/2014/main" xmlns="" val="2126337625"/>
                  </a:ext>
                </a:extLst>
              </a:tr>
              <a:tr h="384058">
                <a:tc>
                  <a:txBody>
                    <a:bodyPr/>
                    <a:lstStyle/>
                    <a:p>
                      <a:pPr algn="ctr">
                        <a:buNone/>
                      </a:pPr>
                      <a:r>
                        <a:rPr lang="en-US" sz="1200" b="1" dirty="0"/>
                        <a:t>[1]</a:t>
                      </a:r>
                    </a:p>
                  </a:txBody>
                  <a:tcPr anchor="ctr"/>
                </a:tc>
                <a:tc>
                  <a:txBody>
                    <a:bodyPr/>
                    <a:lstStyle/>
                    <a:p>
                      <a:pPr algn="ctr">
                        <a:buNone/>
                      </a:pPr>
                      <a:r>
                        <a:rPr lang="en-US" sz="1200" dirty="0"/>
                        <a:t>Applied </a:t>
                      </a:r>
                      <a:r>
                        <a:rPr lang="en-US" sz="1200" dirty="0" err="1"/>
                        <a:t>MobileNet</a:t>
                      </a:r>
                      <a:r>
                        <a:rPr lang="en-US" sz="1200" dirty="0"/>
                        <a:t> architecture</a:t>
                      </a:r>
                    </a:p>
                  </a:txBody>
                  <a:tcPr anchor="ctr"/>
                </a:tc>
                <a:tc>
                  <a:txBody>
                    <a:bodyPr/>
                    <a:lstStyle/>
                    <a:p>
                      <a:pPr algn="ctr">
                        <a:buNone/>
                      </a:pPr>
                      <a:r>
                        <a:rPr lang="en-US" sz="1200" dirty="0"/>
                        <a:t>HAM10000</a:t>
                      </a:r>
                    </a:p>
                  </a:txBody>
                  <a:tcPr anchor="ctr"/>
                </a:tc>
                <a:tc>
                  <a:txBody>
                    <a:bodyPr/>
                    <a:lstStyle/>
                    <a:p>
                      <a:pPr algn="ctr">
                        <a:buNone/>
                      </a:pPr>
                      <a:r>
                        <a:rPr lang="en-US" sz="1200" dirty="0"/>
                        <a:t>85%</a:t>
                      </a:r>
                    </a:p>
                  </a:txBody>
                  <a:tcPr anchor="ctr"/>
                </a:tc>
                <a:extLst>
                  <a:ext uri="{0D108BD9-81ED-4DB2-BD59-A6C34878D82A}">
                    <a16:rowId xmlns:a16="http://schemas.microsoft.com/office/drawing/2014/main" xmlns="" val="2081663699"/>
                  </a:ext>
                </a:extLst>
              </a:tr>
              <a:tr h="325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b="1" dirty="0"/>
                        <a:t>[2]</a:t>
                      </a:r>
                    </a:p>
                  </a:txBody>
                  <a:tcPr anchor="ctr"/>
                </a:tc>
                <a:tc>
                  <a:txBody>
                    <a:bodyPr/>
                    <a:lstStyle/>
                    <a:p>
                      <a:pPr algn="ctr">
                        <a:buNone/>
                      </a:pPr>
                      <a:r>
                        <a:rPr lang="en-US" sz="1200" dirty="0"/>
                        <a:t>Utilized VGG16 and </a:t>
                      </a:r>
                      <a:r>
                        <a:rPr lang="en-US" sz="1200" dirty="0" err="1"/>
                        <a:t>Streamlit</a:t>
                      </a:r>
                      <a:endParaRPr lang="en-US" sz="1200" dirty="0"/>
                    </a:p>
                  </a:txBody>
                  <a:tcPr anchor="ctr"/>
                </a:tc>
                <a:tc>
                  <a:txBody>
                    <a:bodyPr/>
                    <a:lstStyle/>
                    <a:p>
                      <a:pPr algn="ctr">
                        <a:buNone/>
                      </a:pPr>
                      <a:r>
                        <a:rPr lang="en-US" sz="1200" dirty="0"/>
                        <a:t>Private collected dataset</a:t>
                      </a:r>
                    </a:p>
                  </a:txBody>
                  <a:tcPr anchor="ctr"/>
                </a:tc>
                <a:tc>
                  <a:txBody>
                    <a:bodyPr/>
                    <a:lstStyle/>
                    <a:p>
                      <a:pPr algn="ctr">
                        <a:buNone/>
                      </a:pPr>
                      <a:r>
                        <a:rPr lang="en-US" sz="1200" dirty="0"/>
                        <a:t>86%</a:t>
                      </a:r>
                    </a:p>
                  </a:txBody>
                  <a:tcPr anchor="ctr"/>
                </a:tc>
                <a:extLst>
                  <a:ext uri="{0D108BD9-81ED-4DB2-BD59-A6C34878D82A}">
                    <a16:rowId xmlns:a16="http://schemas.microsoft.com/office/drawing/2014/main" xmlns="" val="380701328"/>
                  </a:ext>
                </a:extLst>
              </a:tr>
              <a:tr h="467360">
                <a:tc>
                  <a:txBody>
                    <a:bodyPr/>
                    <a:lstStyle/>
                    <a:p>
                      <a:pPr algn="ctr">
                        <a:buNone/>
                      </a:pPr>
                      <a:r>
                        <a:rPr lang="en-US" sz="1200" b="1" dirty="0">
                          <a:solidFill>
                            <a:schemeClr val="tx1"/>
                          </a:solidFill>
                        </a:rPr>
                        <a:t>[3]</a:t>
                      </a:r>
                    </a:p>
                  </a:txBody>
                  <a:tcPr anchor="ctr"/>
                </a:tc>
                <a:tc>
                  <a:txBody>
                    <a:bodyPr/>
                    <a:lstStyle/>
                    <a:p>
                      <a:pPr algn="ctr">
                        <a:buNone/>
                      </a:pPr>
                      <a:r>
                        <a:rPr lang="en-US" sz="1200" b="0" dirty="0">
                          <a:solidFill>
                            <a:schemeClr val="tx1"/>
                          </a:solidFill>
                        </a:rPr>
                        <a:t> k nearest neighbors model</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Population-based Australian cohort study</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91%</a:t>
                      </a:r>
                    </a:p>
                  </a:txBody>
                  <a:tcPr anchor="ctr"/>
                </a:tc>
                <a:extLst>
                  <a:ext uri="{0D108BD9-81ED-4DB2-BD59-A6C34878D82A}">
                    <a16:rowId xmlns:a16="http://schemas.microsoft.com/office/drawing/2014/main" xmlns="" val="1689988428"/>
                  </a:ext>
                </a:extLst>
              </a:tr>
              <a:tr h="299720">
                <a:tc>
                  <a:txBody>
                    <a:bodyPr/>
                    <a:lstStyle/>
                    <a:p>
                      <a:pPr algn="ctr">
                        <a:buNone/>
                      </a:pPr>
                      <a:r>
                        <a:rPr lang="en-US" sz="1200" b="1" dirty="0">
                          <a:solidFill>
                            <a:schemeClr val="tx1"/>
                          </a:solidFill>
                        </a:rPr>
                        <a:t>[4]</a:t>
                      </a:r>
                    </a:p>
                  </a:txBody>
                  <a:tcPr anchor="ctr"/>
                </a:tc>
                <a:tc>
                  <a:txBody>
                    <a:bodyPr/>
                    <a:lstStyle/>
                    <a:p>
                      <a:pPr algn="ctr">
                        <a:buNone/>
                      </a:pPr>
                      <a:r>
                        <a:rPr lang="en-US" sz="1200" dirty="0"/>
                        <a:t> federated learning system</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ISIC2019</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90%</a:t>
                      </a:r>
                      <a:endParaRPr lang="en-US" sz="1200" b="0" dirty="0">
                        <a:solidFill>
                          <a:schemeClr val="tx1"/>
                        </a:solidFill>
                      </a:endParaRPr>
                    </a:p>
                  </a:txBody>
                  <a:tcPr anchor="ctr"/>
                </a:tc>
                <a:extLst>
                  <a:ext uri="{0D108BD9-81ED-4DB2-BD59-A6C34878D82A}">
                    <a16:rowId xmlns:a16="http://schemas.microsoft.com/office/drawing/2014/main" xmlns="" val="1006077148"/>
                  </a:ext>
                </a:extLst>
              </a:tr>
              <a:tr h="370840">
                <a:tc>
                  <a:txBody>
                    <a:bodyPr/>
                    <a:lstStyle/>
                    <a:p>
                      <a:pPr algn="ctr">
                        <a:buNone/>
                      </a:pPr>
                      <a:r>
                        <a:rPr lang="en-US" sz="1200" b="1" dirty="0">
                          <a:solidFill>
                            <a:schemeClr val="tx1"/>
                          </a:solidFill>
                        </a:rPr>
                        <a:t>[5]</a:t>
                      </a:r>
                    </a:p>
                  </a:txBody>
                  <a:tcPr anchor="ctr"/>
                </a:tc>
                <a:tc>
                  <a:txBody>
                    <a:bodyPr/>
                    <a:lstStyle/>
                    <a:p>
                      <a:pPr algn="ctr">
                        <a:buNone/>
                      </a:pPr>
                      <a:r>
                        <a:rPr lang="en-US" sz="1200" dirty="0"/>
                        <a:t>Developed a deep learning system for differential diagnosis of 26 common skin conditions</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err="1"/>
                        <a:t>Teledermatology</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66%</a:t>
                      </a:r>
                      <a:endParaRPr lang="en-US" sz="1200" b="0" dirty="0">
                        <a:solidFill>
                          <a:schemeClr val="tx1"/>
                        </a:solidFill>
                      </a:endParaRPr>
                    </a:p>
                  </a:txBody>
                  <a:tcPr anchor="ctr"/>
                </a:tc>
                <a:extLst>
                  <a:ext uri="{0D108BD9-81ED-4DB2-BD59-A6C34878D82A}">
                    <a16:rowId xmlns:a16="http://schemas.microsoft.com/office/drawing/2014/main" xmlns="" val="4114768777"/>
                  </a:ext>
                </a:extLst>
              </a:tr>
              <a:tr h="152400">
                <a:tc>
                  <a:txBody>
                    <a:bodyPr/>
                    <a:lstStyle/>
                    <a:p>
                      <a:pPr algn="ctr">
                        <a:buNone/>
                      </a:pPr>
                      <a:r>
                        <a:rPr lang="en-US" sz="1200" b="1" dirty="0"/>
                        <a:t>[6]</a:t>
                      </a:r>
                    </a:p>
                  </a:txBody>
                  <a:tcPr anchor="ctr"/>
                </a:tc>
                <a:tc>
                  <a:txBody>
                    <a:bodyPr/>
                    <a:lstStyle/>
                    <a:p>
                      <a:pPr algn="ctr">
                        <a:buNone/>
                      </a:pPr>
                      <a:r>
                        <a:rPr lang="en-US" sz="1200" dirty="0"/>
                        <a:t>Implemented CNNs with Flask</a:t>
                      </a:r>
                    </a:p>
                  </a:txBody>
                  <a:tcPr anchor="ctr"/>
                </a:tc>
                <a:tc>
                  <a:txBody>
                    <a:bodyPr/>
                    <a:lstStyle/>
                    <a:p>
                      <a:pPr algn="ctr">
                        <a:buNone/>
                      </a:pPr>
                      <a:r>
                        <a:rPr lang="en-US" sz="1200" dirty="0"/>
                        <a:t>ISIC</a:t>
                      </a:r>
                    </a:p>
                  </a:txBody>
                  <a:tcPr anchor="ctr"/>
                </a:tc>
                <a:tc>
                  <a:txBody>
                    <a:bodyPr/>
                    <a:lstStyle/>
                    <a:p>
                      <a:pPr algn="ctr">
                        <a:buNone/>
                      </a:pPr>
                      <a:r>
                        <a:rPr lang="en-US" sz="1200" dirty="0"/>
                        <a:t>90%</a:t>
                      </a:r>
                    </a:p>
                  </a:txBody>
                  <a:tcPr anchor="ctr"/>
                </a:tc>
                <a:extLst>
                  <a:ext uri="{0D108BD9-81ED-4DB2-BD59-A6C34878D82A}">
                    <a16:rowId xmlns:a16="http://schemas.microsoft.com/office/drawing/2014/main" xmlns="" val="2751636014"/>
                  </a:ext>
                </a:extLst>
              </a:tr>
              <a:tr h="0">
                <a:tc>
                  <a:txBody>
                    <a:bodyPr/>
                    <a:lstStyle/>
                    <a:p>
                      <a:pPr algn="ctr">
                        <a:buNone/>
                      </a:pPr>
                      <a:r>
                        <a:rPr lang="en-US" sz="1200" b="0" dirty="0">
                          <a:solidFill>
                            <a:schemeClr val="tx1"/>
                          </a:solidFill>
                        </a:rPr>
                        <a:t>[</a:t>
                      </a:r>
                      <a:r>
                        <a:rPr lang="en-US" sz="1200" b="1" dirty="0">
                          <a:solidFill>
                            <a:schemeClr val="tx1"/>
                          </a:solidFill>
                        </a:rPr>
                        <a:t>7]</a:t>
                      </a:r>
                    </a:p>
                  </a:txBody>
                  <a:tcPr anchor="ctr"/>
                </a:tc>
                <a:tc>
                  <a:txBody>
                    <a:bodyPr/>
                    <a:lstStyle/>
                    <a:p>
                      <a:pPr algn="ctr">
                        <a:buNone/>
                      </a:pPr>
                      <a:r>
                        <a:rPr lang="en-US" sz="1200" b="0" dirty="0">
                          <a:solidFill>
                            <a:schemeClr val="tx1"/>
                          </a:solidFill>
                        </a:rPr>
                        <a:t> CNN models implemented with </a:t>
                      </a:r>
                      <a:r>
                        <a:rPr lang="en-US" sz="1200" b="0" dirty="0" err="1">
                          <a:solidFill>
                            <a:schemeClr val="tx1"/>
                          </a:solidFill>
                        </a:rPr>
                        <a:t>TensorFlow</a:t>
                      </a:r>
                      <a:r>
                        <a:rPr lang="en-US" sz="1200" b="0" dirty="0">
                          <a:solidFill>
                            <a:schemeClr val="tx1"/>
                          </a:solidFill>
                        </a:rPr>
                        <a:t> Lite</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Seven classes on a combined dataset</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74.27%</a:t>
                      </a:r>
                    </a:p>
                  </a:txBody>
                  <a:tcPr anchor="ctr"/>
                </a:tc>
                <a:extLst>
                  <a:ext uri="{0D108BD9-81ED-4DB2-BD59-A6C34878D82A}">
                    <a16:rowId xmlns:a16="http://schemas.microsoft.com/office/drawing/2014/main" xmlns="" val="52342782"/>
                  </a:ext>
                </a:extLst>
              </a:tr>
              <a:tr h="0">
                <a:tc>
                  <a:txBody>
                    <a:bodyPr/>
                    <a:lstStyle/>
                    <a:p>
                      <a:pPr algn="ctr">
                        <a:buNone/>
                      </a:pPr>
                      <a:r>
                        <a:rPr lang="en-US" sz="1200" b="1" dirty="0">
                          <a:solidFill>
                            <a:schemeClr val="tx1"/>
                          </a:solidFill>
                        </a:rPr>
                        <a:t>[8]</a:t>
                      </a:r>
                    </a:p>
                  </a:txBody>
                  <a:tcPr anchor="ctr"/>
                </a:tc>
                <a:tc>
                  <a:txBody>
                    <a:bodyPr/>
                    <a:lstStyle/>
                    <a:p>
                      <a:pPr algn="ctr">
                        <a:buNone/>
                      </a:pPr>
                      <a:r>
                        <a:rPr lang="en-US" sz="1200" dirty="0"/>
                        <a:t>EfficientNetB1 and EfficientNetB5 architectures</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HAM10000</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93%</a:t>
                      </a:r>
                    </a:p>
                  </a:txBody>
                  <a:tcPr anchor="ctr"/>
                </a:tc>
                <a:extLst>
                  <a:ext uri="{0D108BD9-81ED-4DB2-BD59-A6C34878D82A}">
                    <a16:rowId xmlns:a16="http://schemas.microsoft.com/office/drawing/2014/main" xmlns="" val="985110703"/>
                  </a:ext>
                </a:extLst>
              </a:tr>
            </a:tbl>
          </a:graphicData>
        </a:graphic>
      </p:graphicFrame>
      <p:sp>
        <p:nvSpPr>
          <p:cNvPr id="3" name="TextBox 2">
            <a:extLst>
              <a:ext uri="{FF2B5EF4-FFF2-40B4-BE49-F238E27FC236}">
                <a16:creationId xmlns:a16="http://schemas.microsoft.com/office/drawing/2014/main" xmlns="" id="{D6867F27-BA2B-E5D7-C689-122E439A57B8}"/>
              </a:ext>
            </a:extLst>
          </p:cNvPr>
          <p:cNvSpPr txBox="1"/>
          <p:nvPr/>
        </p:nvSpPr>
        <p:spPr>
          <a:xfrm>
            <a:off x="508493" y="5096167"/>
            <a:ext cx="8229600" cy="738664"/>
          </a:xfrm>
          <a:prstGeom prst="rect">
            <a:avLst/>
          </a:prstGeom>
          <a:noFill/>
        </p:spPr>
        <p:txBody>
          <a:bodyPr wrap="square">
            <a:spAutoFit/>
          </a:bodyPr>
          <a:lstStyle/>
          <a:p>
            <a:r>
              <a:rPr lang="en-US" dirty="0"/>
              <a:t>We reviewed </a:t>
            </a:r>
            <a:r>
              <a:rPr lang="en-US" b="1" dirty="0"/>
              <a:t>15 research papers</a:t>
            </a:r>
            <a:r>
              <a:rPr lang="en-US" dirty="0"/>
              <a:t> on </a:t>
            </a:r>
            <a:r>
              <a:rPr lang="en-US" b="1" dirty="0"/>
              <a:t>Skin Cancer Detection</a:t>
            </a:r>
            <a:r>
              <a:rPr lang="en-US" dirty="0"/>
              <a:t>, including </a:t>
            </a:r>
            <a:r>
              <a:rPr lang="en-US" b="1" dirty="0"/>
              <a:t>8 recent papers (2022–2024)</a:t>
            </a:r>
            <a:r>
              <a:rPr lang="en-US" dirty="0"/>
              <a:t>. These focused on deep learning techniques, diagnostic accuracy, and clinical applications, helping me understand current trends and challenges in the field.</a:t>
            </a:r>
            <a:endParaRPr lang="x-none"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203715cfd4a_0_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Problem Statement</a:t>
            </a:r>
            <a:endParaRPr dirty="0"/>
          </a:p>
        </p:txBody>
      </p:sp>
      <p:sp>
        <p:nvSpPr>
          <p:cNvPr id="122" name="Google Shape;122;g203715cfd4a_0_2"/>
          <p:cNvSpPr txBox="1">
            <a:spLocks noGrp="1"/>
          </p:cNvSpPr>
          <p:nvPr>
            <p:ph type="body" idx="1"/>
          </p:nvPr>
        </p:nvSpPr>
        <p:spPr>
          <a:xfrm>
            <a:off x="457200" y="1346200"/>
            <a:ext cx="8229600" cy="4526100"/>
          </a:xfrm>
          <a:prstGeom prst="rect">
            <a:avLst/>
          </a:prstGeom>
          <a:noFill/>
          <a:ln>
            <a:noFill/>
          </a:ln>
        </p:spPr>
        <p:txBody>
          <a:bodyPr spcFirstLastPara="1" wrap="square" lIns="91425" tIns="45700" rIns="91425" bIns="45700" anchor="t" anchorCtr="0">
            <a:noAutofit/>
          </a:bodyPr>
          <a:lstStyle/>
          <a:p>
            <a:pPr marL="342900" indent="-139700" algn="just">
              <a:spcBef>
                <a:spcPts val="0"/>
              </a:spcBef>
              <a:buSzPts val="3200"/>
              <a:buNone/>
            </a:pPr>
            <a:r>
              <a:rPr lang="en-US" sz="2400" dirty="0"/>
              <a:t>  Skin cancer is one of the most common and deadly cancers worldwide. Early and accurate detection greatly improves survival rates. However, traditional diagnosis is slow, subjective, and depends on specialists. Limited access to dermatologists causes delays, especially in remote areas. Current AI tools lack accuracy and may not work well for diverse skin tones, highlighting the need for a reliable, accessible AI-based detection system.</a:t>
            </a:r>
            <a:endParaRPr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lvl="0"/>
            <a:r>
              <a:rPr lang="en-US" dirty="0"/>
              <a:t>Data Acquisition</a:t>
            </a:r>
            <a:endParaRPr dirty="0"/>
          </a:p>
        </p:txBody>
      </p:sp>
    </p:spTree>
    <p:extLst>
      <p:ext uri="{BB962C8B-B14F-4D97-AF65-F5344CB8AC3E}">
        <p14:creationId xmlns:p14="http://schemas.microsoft.com/office/powerpoint/2010/main" val="32920257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smtClean="0"/>
              <a:t>Acquisition [1/5]</a:t>
            </a:r>
            <a:endParaRPr lang="en-US" dirty="0"/>
          </a:p>
        </p:txBody>
      </p:sp>
      <p:sp>
        <p:nvSpPr>
          <p:cNvPr id="3" name="Text Placeholder 2"/>
          <p:cNvSpPr>
            <a:spLocks noGrp="1"/>
          </p:cNvSpPr>
          <p:nvPr>
            <p:ph type="body" idx="1"/>
          </p:nvPr>
        </p:nvSpPr>
        <p:spPr/>
        <p:txBody>
          <a:bodyPr/>
          <a:lstStyle/>
          <a:p>
            <a:pPr marL="114300" lvl="0" indent="0">
              <a:buNone/>
            </a:pPr>
            <a:r>
              <a:rPr lang="en-US" b="1" dirty="0" smtClean="0"/>
              <a:t>Dataset</a:t>
            </a:r>
            <a:endParaRPr lang="en-US" dirty="0" smtClean="0"/>
          </a:p>
          <a:p>
            <a:r>
              <a:rPr lang="en-US" sz="2400" dirty="0" smtClean="0"/>
              <a:t>We </a:t>
            </a:r>
            <a:r>
              <a:rPr lang="en-US" sz="2400" dirty="0"/>
              <a:t>used HAM10000 dataset in our CNN-based pipeline of skin disease classification. </a:t>
            </a:r>
            <a:endParaRPr lang="en-US" sz="2400" dirty="0" smtClean="0"/>
          </a:p>
          <a:p>
            <a:r>
              <a:rPr lang="en-US" sz="2400" dirty="0" smtClean="0"/>
              <a:t>It </a:t>
            </a:r>
            <a:r>
              <a:rPr lang="en-US" sz="2400" dirty="0"/>
              <a:t>has 10,015 </a:t>
            </a:r>
            <a:r>
              <a:rPr lang="en-US" sz="2400" dirty="0" err="1"/>
              <a:t>dermatoscopic</a:t>
            </a:r>
            <a:r>
              <a:rPr lang="en-US" sz="2400" dirty="0"/>
              <a:t> images of seven diseases, thus allowing not only effective preprocessing but also precise multi-class classification. </a:t>
            </a:r>
          </a:p>
        </p:txBody>
      </p:sp>
    </p:spTree>
    <p:extLst>
      <p:ext uri="{BB962C8B-B14F-4D97-AF65-F5344CB8AC3E}">
        <p14:creationId xmlns:p14="http://schemas.microsoft.com/office/powerpoint/2010/main" val="17890563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a:t>
            </a:r>
            <a:r>
              <a:rPr lang="en-US" dirty="0" smtClean="0"/>
              <a:t>cquisition [2/5]</a:t>
            </a:r>
            <a:endParaRPr lang="en-US" dirty="0"/>
          </a:p>
        </p:txBody>
      </p:sp>
      <p:sp>
        <p:nvSpPr>
          <p:cNvPr id="3" name="Text Placeholder 2"/>
          <p:cNvSpPr>
            <a:spLocks noGrp="1"/>
          </p:cNvSpPr>
          <p:nvPr>
            <p:ph type="body" idx="1"/>
          </p:nvPr>
        </p:nvSpPr>
        <p:spPr/>
        <p:txBody>
          <a:bodyPr/>
          <a:lstStyle/>
          <a:p>
            <a:pPr marL="0" lvl="0" indent="0">
              <a:buNone/>
            </a:pPr>
            <a:r>
              <a:rPr lang="en-US" b="1" dirty="0" smtClean="0"/>
              <a:t>Classes </a:t>
            </a:r>
            <a:r>
              <a:rPr lang="en-US" b="1" dirty="0"/>
              <a:t>in </a:t>
            </a:r>
            <a:r>
              <a:rPr lang="en-US" b="1" dirty="0" smtClean="0"/>
              <a:t>HAM10000</a:t>
            </a:r>
          </a:p>
          <a:p>
            <a:pPr marL="0" lvl="0" indent="0">
              <a:buNone/>
            </a:pPr>
            <a:r>
              <a:rPr lang="en-US" sz="2400" dirty="0" smtClean="0"/>
              <a:t>The Seven Classes in dataset are:</a:t>
            </a:r>
          </a:p>
          <a:p>
            <a:pPr indent="-457200"/>
            <a:r>
              <a:rPr lang="en-US" sz="2400" dirty="0"/>
              <a:t>M</a:t>
            </a:r>
            <a:r>
              <a:rPr lang="en-US" sz="2400" dirty="0" smtClean="0"/>
              <a:t>elanocytic </a:t>
            </a:r>
            <a:r>
              <a:rPr lang="en-US" sz="2400" dirty="0"/>
              <a:t>nevi (6,705</a:t>
            </a:r>
            <a:r>
              <a:rPr lang="en-US" sz="2400" dirty="0" smtClean="0"/>
              <a:t>)</a:t>
            </a:r>
          </a:p>
          <a:p>
            <a:pPr indent="-457200"/>
            <a:r>
              <a:rPr lang="en-US" sz="2400" dirty="0" smtClean="0"/>
              <a:t>Melanoma </a:t>
            </a:r>
            <a:r>
              <a:rPr lang="en-US" sz="2400" dirty="0"/>
              <a:t>(1,113</a:t>
            </a:r>
            <a:r>
              <a:rPr lang="en-US" sz="2400" dirty="0" smtClean="0"/>
              <a:t>)</a:t>
            </a:r>
          </a:p>
          <a:p>
            <a:pPr indent="-457200"/>
            <a:r>
              <a:rPr lang="en-US" sz="2400" dirty="0" smtClean="0"/>
              <a:t>Benign </a:t>
            </a:r>
            <a:r>
              <a:rPr lang="en-US" sz="2400" dirty="0"/>
              <a:t>keratosis (1,099</a:t>
            </a:r>
            <a:r>
              <a:rPr lang="en-US" sz="2400" dirty="0" smtClean="0"/>
              <a:t>)</a:t>
            </a:r>
          </a:p>
          <a:p>
            <a:pPr indent="-457200"/>
            <a:r>
              <a:rPr lang="en-US" sz="2400" dirty="0" smtClean="0"/>
              <a:t>Basal </a:t>
            </a:r>
            <a:r>
              <a:rPr lang="en-US" sz="2400" dirty="0"/>
              <a:t>cell carcinoma (514</a:t>
            </a:r>
            <a:r>
              <a:rPr lang="en-US" sz="2400" dirty="0" smtClean="0"/>
              <a:t>)</a:t>
            </a:r>
          </a:p>
          <a:p>
            <a:pPr indent="-457200"/>
            <a:r>
              <a:rPr lang="en-US" sz="2400" dirty="0" err="1" smtClean="0"/>
              <a:t>Bctinic</a:t>
            </a:r>
            <a:r>
              <a:rPr lang="en-US" sz="2400" dirty="0" smtClean="0"/>
              <a:t> </a:t>
            </a:r>
            <a:r>
              <a:rPr lang="en-US" sz="2400" dirty="0" err="1"/>
              <a:t>keratoses</a:t>
            </a:r>
            <a:r>
              <a:rPr lang="en-US" sz="2400" dirty="0"/>
              <a:t> (327</a:t>
            </a:r>
            <a:r>
              <a:rPr lang="en-US" sz="2400" dirty="0" smtClean="0"/>
              <a:t>)</a:t>
            </a:r>
          </a:p>
          <a:p>
            <a:pPr indent="-457200"/>
            <a:r>
              <a:rPr lang="en-US" sz="2400" dirty="0" smtClean="0"/>
              <a:t>Vascular </a:t>
            </a:r>
            <a:r>
              <a:rPr lang="en-US" sz="2400" dirty="0"/>
              <a:t>lesions (142</a:t>
            </a:r>
            <a:r>
              <a:rPr lang="en-US" sz="2400" dirty="0" smtClean="0"/>
              <a:t>)</a:t>
            </a:r>
          </a:p>
          <a:p>
            <a:pPr indent="-457200"/>
            <a:r>
              <a:rPr lang="en-US" sz="2400" dirty="0" err="1" smtClean="0"/>
              <a:t>Dermatofibroma</a:t>
            </a:r>
            <a:r>
              <a:rPr lang="en-US" sz="2400" dirty="0" smtClean="0"/>
              <a:t> </a:t>
            </a:r>
            <a:r>
              <a:rPr lang="en-US" sz="2400" dirty="0"/>
              <a:t>(115)</a:t>
            </a:r>
            <a:endParaRPr lang="en-US" sz="2400" b="1" dirty="0"/>
          </a:p>
        </p:txBody>
      </p:sp>
    </p:spTree>
    <p:extLst>
      <p:ext uri="{BB962C8B-B14F-4D97-AF65-F5344CB8AC3E}">
        <p14:creationId xmlns:p14="http://schemas.microsoft.com/office/powerpoint/2010/main" val="40165444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smtClean="0"/>
              <a:t>Acquisition [3/5]</a:t>
            </a:r>
            <a:endParaRPr lang="en-US" dirty="0"/>
          </a:p>
        </p:txBody>
      </p:sp>
      <p:sp>
        <p:nvSpPr>
          <p:cNvPr id="3" name="Text Placeholder 2"/>
          <p:cNvSpPr>
            <a:spLocks noGrp="1"/>
          </p:cNvSpPr>
          <p:nvPr>
            <p:ph type="body" idx="1"/>
          </p:nvPr>
        </p:nvSpPr>
        <p:spPr/>
        <p:txBody>
          <a:bodyPr/>
          <a:lstStyle/>
          <a:p>
            <a:endParaRPr lang="en-US" dirty="0"/>
          </a:p>
        </p:txBody>
      </p:sp>
      <p:pic>
        <p:nvPicPr>
          <p:cNvPr id="4" name="Picture 3" descr="https://figure.bohrium.com/pprfig/26283/977524343988813901/977524343988813901_fig2_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0261" y="2115048"/>
            <a:ext cx="6337190" cy="2981738"/>
          </a:xfrm>
          <a:prstGeom prst="rect">
            <a:avLst/>
          </a:prstGeom>
          <a:noFill/>
          <a:ln>
            <a:noFill/>
          </a:ln>
        </p:spPr>
      </p:pic>
    </p:spTree>
    <p:extLst>
      <p:ext uri="{BB962C8B-B14F-4D97-AF65-F5344CB8AC3E}">
        <p14:creationId xmlns:p14="http://schemas.microsoft.com/office/powerpoint/2010/main" val="40666092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Acquisition </a:t>
            </a:r>
            <a:r>
              <a:rPr lang="en-US" dirty="0" smtClean="0"/>
              <a:t>[4/5]</a:t>
            </a:r>
            <a:endParaRPr lang="en-US" dirty="0"/>
          </a:p>
        </p:txBody>
      </p:sp>
      <p:sp>
        <p:nvSpPr>
          <p:cNvPr id="3" name="Text Placeholder 2"/>
          <p:cNvSpPr>
            <a:spLocks noGrp="1"/>
          </p:cNvSpPr>
          <p:nvPr>
            <p:ph type="body" idx="1"/>
          </p:nvPr>
        </p:nvSpPr>
        <p:spPr/>
        <p:txBody>
          <a:bodyPr/>
          <a:lstStyle/>
          <a:p>
            <a:r>
              <a:rPr lang="en-US" b="1" dirty="0" smtClean="0"/>
              <a:t>Dataset Splitting</a:t>
            </a:r>
          </a:p>
          <a:p>
            <a:pPr marL="114300" indent="0">
              <a:buNone/>
            </a:pPr>
            <a:r>
              <a:rPr lang="en-US" sz="2400" b="1" dirty="0" smtClean="0"/>
              <a:t>Before Balancing</a:t>
            </a:r>
            <a:endParaRPr lang="en-US" sz="2400" b="1" dirty="0"/>
          </a:p>
        </p:txBody>
      </p:sp>
      <p:graphicFrame>
        <p:nvGraphicFramePr>
          <p:cNvPr id="4" name="Table 3"/>
          <p:cNvGraphicFramePr>
            <a:graphicFrameLocks noGrp="1"/>
          </p:cNvGraphicFramePr>
          <p:nvPr>
            <p:extLst>
              <p:ext uri="{D42A27DB-BD31-4B8C-83A1-F6EECF244321}">
                <p14:modId xmlns:p14="http://schemas.microsoft.com/office/powerpoint/2010/main" val="2513371161"/>
              </p:ext>
            </p:extLst>
          </p:nvPr>
        </p:nvGraphicFramePr>
        <p:xfrm>
          <a:off x="1860549" y="2798859"/>
          <a:ext cx="5764751" cy="1799342"/>
        </p:xfrm>
        <a:graphic>
          <a:graphicData uri="http://schemas.openxmlformats.org/drawingml/2006/table">
            <a:tbl>
              <a:tblPr firstRow="1" firstCol="1" lastRow="1" lastCol="1" bandRow="1" bandCol="1">
                <a:tableStyleId>{5C22544A-7EE6-4342-B048-85BDC9FD1C3A}</a:tableStyleId>
              </a:tblPr>
              <a:tblGrid>
                <a:gridCol w="1839024"/>
                <a:gridCol w="1654110"/>
                <a:gridCol w="2271617"/>
              </a:tblGrid>
              <a:tr h="348374">
                <a:tc>
                  <a:txBody>
                    <a:bodyPr/>
                    <a:lstStyle/>
                    <a:p>
                      <a:pPr marL="70485" marR="2540" algn="ctr">
                        <a:spcBef>
                          <a:spcPts val="470"/>
                        </a:spcBef>
                        <a:spcAft>
                          <a:spcPts val="0"/>
                        </a:spcAft>
                      </a:pPr>
                      <a:r>
                        <a:rPr lang="en-US" sz="1150" dirty="0">
                          <a:effectLst/>
                        </a:rPr>
                        <a:t>Split</a:t>
                      </a:r>
                      <a:r>
                        <a:rPr lang="en-US" sz="1150" spc="-35" dirty="0">
                          <a:effectLst/>
                        </a:rPr>
                        <a:t> </a:t>
                      </a:r>
                      <a:r>
                        <a:rPr lang="en-US" sz="1150" spc="-20" dirty="0">
                          <a:effectLst/>
                        </a:rPr>
                        <a:t>Type</a:t>
                      </a:r>
                      <a:endParaRPr lang="en-US" sz="1100" dirty="0">
                        <a:effectLst/>
                        <a:latin typeface="Calibri"/>
                        <a:ea typeface="Calibri"/>
                        <a:cs typeface="Times New Roman"/>
                      </a:endParaRPr>
                    </a:p>
                  </a:txBody>
                  <a:tcPr marL="0" marR="0" marT="0" marB="0"/>
                </a:tc>
                <a:tc>
                  <a:txBody>
                    <a:bodyPr/>
                    <a:lstStyle/>
                    <a:p>
                      <a:pPr marL="71120" marR="635" algn="ctr">
                        <a:spcBef>
                          <a:spcPts val="470"/>
                        </a:spcBef>
                        <a:spcAft>
                          <a:spcPts val="0"/>
                        </a:spcAft>
                      </a:pPr>
                      <a:r>
                        <a:rPr lang="en-US" sz="1150" dirty="0">
                          <a:effectLst/>
                        </a:rPr>
                        <a:t>Number</a:t>
                      </a:r>
                      <a:r>
                        <a:rPr lang="en-US" sz="1150" spc="-30" dirty="0">
                          <a:effectLst/>
                        </a:rPr>
                        <a:t> </a:t>
                      </a:r>
                      <a:r>
                        <a:rPr lang="en-US" sz="1150" dirty="0">
                          <a:effectLst/>
                        </a:rPr>
                        <a:t>of</a:t>
                      </a:r>
                      <a:r>
                        <a:rPr lang="en-US" sz="1150" spc="-10" dirty="0">
                          <a:effectLst/>
                        </a:rPr>
                        <a:t> Images</a:t>
                      </a:r>
                      <a:endParaRPr lang="en-US" sz="1100" dirty="0">
                        <a:effectLst/>
                        <a:latin typeface="Calibri"/>
                        <a:ea typeface="Calibri"/>
                        <a:cs typeface="Times New Roman"/>
                      </a:endParaRPr>
                    </a:p>
                  </a:txBody>
                  <a:tcPr marL="0" marR="0" marT="0" marB="0"/>
                </a:tc>
                <a:tc>
                  <a:txBody>
                    <a:bodyPr/>
                    <a:lstStyle/>
                    <a:p>
                      <a:pPr marL="80010" marR="0" algn="ctr">
                        <a:spcBef>
                          <a:spcPts val="470"/>
                        </a:spcBef>
                        <a:spcAft>
                          <a:spcPts val="0"/>
                        </a:spcAft>
                      </a:pPr>
                      <a:r>
                        <a:rPr lang="en-US" sz="1150" spc="-10" dirty="0">
                          <a:effectLst/>
                        </a:rPr>
                        <a:t>Percentage</a:t>
                      </a:r>
                      <a:endParaRPr lang="en-US" sz="1100" dirty="0">
                        <a:effectLst/>
                        <a:latin typeface="Calibri"/>
                        <a:ea typeface="Calibri"/>
                        <a:cs typeface="Times New Roman"/>
                      </a:endParaRPr>
                    </a:p>
                  </a:txBody>
                  <a:tcPr marL="0" marR="0" marT="0" marB="0"/>
                </a:tc>
              </a:tr>
              <a:tr h="367531">
                <a:tc>
                  <a:txBody>
                    <a:bodyPr/>
                    <a:lstStyle/>
                    <a:p>
                      <a:pPr marL="70485" marR="2540" algn="ctr">
                        <a:spcBef>
                          <a:spcPts val="485"/>
                        </a:spcBef>
                        <a:spcAft>
                          <a:spcPts val="0"/>
                        </a:spcAft>
                      </a:pPr>
                      <a:r>
                        <a:rPr lang="en-US" sz="1150" spc="-10" dirty="0">
                          <a:effectLst/>
                        </a:rPr>
                        <a:t>Train</a:t>
                      </a:r>
                      <a:endParaRPr lang="en-US" sz="1100" dirty="0">
                        <a:effectLst/>
                        <a:latin typeface="Calibri"/>
                        <a:ea typeface="Calibri"/>
                        <a:cs typeface="Times New Roman"/>
                      </a:endParaRPr>
                    </a:p>
                  </a:txBody>
                  <a:tcPr marL="0" marR="0" marT="0" marB="0"/>
                </a:tc>
                <a:tc>
                  <a:txBody>
                    <a:bodyPr/>
                    <a:lstStyle/>
                    <a:p>
                      <a:pPr marL="71120" marR="2540" algn="ctr">
                        <a:spcBef>
                          <a:spcPts val="485"/>
                        </a:spcBef>
                        <a:spcAft>
                          <a:spcPts val="0"/>
                        </a:spcAft>
                      </a:pPr>
                      <a:r>
                        <a:rPr lang="en-US" sz="1150" spc="-10" dirty="0">
                          <a:solidFill>
                            <a:schemeClr val="bg1"/>
                          </a:solidFill>
                          <a:effectLst/>
                        </a:rPr>
                        <a:t>7,010</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80010" marR="5715" algn="ctr">
                        <a:spcBef>
                          <a:spcPts val="485"/>
                        </a:spcBef>
                        <a:spcAft>
                          <a:spcPts val="0"/>
                        </a:spcAft>
                      </a:pPr>
                      <a:r>
                        <a:rPr lang="en-US" sz="1150" spc="-10">
                          <a:effectLst/>
                        </a:rPr>
                        <a:t>70.00%</a:t>
                      </a:r>
                      <a:endParaRPr lang="en-US" sz="1100">
                        <a:effectLst/>
                        <a:latin typeface="Calibri"/>
                        <a:ea typeface="Calibri"/>
                        <a:cs typeface="Times New Roman"/>
                      </a:endParaRPr>
                    </a:p>
                  </a:txBody>
                  <a:tcPr marL="0" marR="0" marT="0" marB="0"/>
                </a:tc>
              </a:tr>
              <a:tr h="367531">
                <a:tc>
                  <a:txBody>
                    <a:bodyPr/>
                    <a:lstStyle/>
                    <a:p>
                      <a:pPr marL="70485" marR="1270" algn="ctr">
                        <a:spcBef>
                          <a:spcPts val="470"/>
                        </a:spcBef>
                        <a:spcAft>
                          <a:spcPts val="0"/>
                        </a:spcAft>
                      </a:pPr>
                      <a:r>
                        <a:rPr lang="en-US" sz="1150" spc="-10" dirty="0">
                          <a:effectLst/>
                        </a:rPr>
                        <a:t>Validation</a:t>
                      </a:r>
                      <a:endParaRPr lang="en-US" sz="1100" dirty="0">
                        <a:effectLst/>
                        <a:latin typeface="Calibri"/>
                        <a:ea typeface="Calibri"/>
                        <a:cs typeface="Times New Roman"/>
                      </a:endParaRPr>
                    </a:p>
                  </a:txBody>
                  <a:tcPr marL="0" marR="0" marT="0" marB="0"/>
                </a:tc>
                <a:tc>
                  <a:txBody>
                    <a:bodyPr/>
                    <a:lstStyle/>
                    <a:p>
                      <a:pPr marL="71120" marR="2540" algn="ctr">
                        <a:spcBef>
                          <a:spcPts val="475"/>
                        </a:spcBef>
                        <a:spcAft>
                          <a:spcPts val="0"/>
                        </a:spcAft>
                      </a:pPr>
                      <a:r>
                        <a:rPr lang="en-US" sz="1150" spc="-10" dirty="0">
                          <a:solidFill>
                            <a:schemeClr val="bg1"/>
                          </a:solidFill>
                          <a:effectLst/>
                        </a:rPr>
                        <a:t>1,001</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80010" marR="5715" algn="ctr">
                        <a:spcBef>
                          <a:spcPts val="475"/>
                        </a:spcBef>
                        <a:spcAft>
                          <a:spcPts val="0"/>
                        </a:spcAft>
                      </a:pPr>
                      <a:r>
                        <a:rPr lang="en-US" sz="1150" spc="-10">
                          <a:effectLst/>
                        </a:rPr>
                        <a:t>10.00%</a:t>
                      </a:r>
                      <a:endParaRPr lang="en-US" sz="1100">
                        <a:effectLst/>
                        <a:latin typeface="Calibri"/>
                        <a:ea typeface="Calibri"/>
                        <a:cs typeface="Times New Roman"/>
                      </a:endParaRPr>
                    </a:p>
                  </a:txBody>
                  <a:tcPr marL="0" marR="0" marT="0" marB="0"/>
                </a:tc>
              </a:tr>
              <a:tr h="365403">
                <a:tc>
                  <a:txBody>
                    <a:bodyPr/>
                    <a:lstStyle/>
                    <a:p>
                      <a:pPr marL="70485" marR="1270" algn="ctr">
                        <a:spcBef>
                          <a:spcPts val="470"/>
                        </a:spcBef>
                        <a:spcAft>
                          <a:spcPts val="0"/>
                        </a:spcAft>
                      </a:pPr>
                      <a:r>
                        <a:rPr lang="en-US" sz="1150" spc="-20">
                          <a:effectLst/>
                        </a:rPr>
                        <a:t>Test</a:t>
                      </a:r>
                      <a:endParaRPr lang="en-US" sz="1100">
                        <a:effectLst/>
                        <a:latin typeface="Calibri"/>
                        <a:ea typeface="Calibri"/>
                        <a:cs typeface="Times New Roman"/>
                      </a:endParaRPr>
                    </a:p>
                  </a:txBody>
                  <a:tcPr marL="0" marR="0" marT="0" marB="0"/>
                </a:tc>
                <a:tc>
                  <a:txBody>
                    <a:bodyPr/>
                    <a:lstStyle/>
                    <a:p>
                      <a:pPr marL="71120" marR="2540" algn="ctr">
                        <a:spcBef>
                          <a:spcPts val="475"/>
                        </a:spcBef>
                        <a:spcAft>
                          <a:spcPts val="0"/>
                        </a:spcAft>
                      </a:pPr>
                      <a:r>
                        <a:rPr lang="en-US" sz="1150" spc="-10" dirty="0">
                          <a:solidFill>
                            <a:schemeClr val="bg1"/>
                          </a:solidFill>
                          <a:effectLst/>
                        </a:rPr>
                        <a:t>2,004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80010" marR="5715" algn="ctr">
                        <a:spcBef>
                          <a:spcPts val="475"/>
                        </a:spcBef>
                        <a:spcAft>
                          <a:spcPts val="0"/>
                        </a:spcAft>
                      </a:pPr>
                      <a:r>
                        <a:rPr lang="en-US" sz="1150" spc="-10" dirty="0">
                          <a:effectLst/>
                        </a:rPr>
                        <a:t>20.00%</a:t>
                      </a:r>
                      <a:endParaRPr lang="en-US" sz="1100" dirty="0">
                        <a:effectLst/>
                        <a:latin typeface="Calibri"/>
                        <a:ea typeface="Calibri"/>
                        <a:cs typeface="Times New Roman"/>
                      </a:endParaRPr>
                    </a:p>
                  </a:txBody>
                  <a:tcPr marL="0" marR="0" marT="0" marB="0"/>
                </a:tc>
              </a:tr>
              <a:tr h="350503">
                <a:tc>
                  <a:txBody>
                    <a:bodyPr/>
                    <a:lstStyle/>
                    <a:p>
                      <a:pPr marL="70485" marR="0" algn="ctr">
                        <a:spcBef>
                          <a:spcPts val="470"/>
                        </a:spcBef>
                        <a:spcAft>
                          <a:spcPts val="0"/>
                        </a:spcAft>
                      </a:pPr>
                      <a:r>
                        <a:rPr lang="en-US" sz="1150" spc="-10">
                          <a:effectLst/>
                        </a:rPr>
                        <a:t>Total</a:t>
                      </a:r>
                      <a:endParaRPr lang="en-US" sz="1100">
                        <a:effectLst/>
                        <a:latin typeface="Calibri"/>
                        <a:ea typeface="Calibri"/>
                        <a:cs typeface="Times New Roman"/>
                      </a:endParaRPr>
                    </a:p>
                  </a:txBody>
                  <a:tcPr marL="0" marR="0" marT="0" marB="0"/>
                </a:tc>
                <a:tc>
                  <a:txBody>
                    <a:bodyPr/>
                    <a:lstStyle/>
                    <a:p>
                      <a:pPr marL="71120" marR="0" algn="ctr">
                        <a:spcBef>
                          <a:spcPts val="470"/>
                        </a:spcBef>
                        <a:spcAft>
                          <a:spcPts val="0"/>
                        </a:spcAft>
                      </a:pPr>
                      <a:r>
                        <a:rPr lang="en-US" sz="1150" spc="-10">
                          <a:effectLst/>
                        </a:rPr>
                        <a:t>10,015</a:t>
                      </a:r>
                      <a:endParaRPr lang="en-US" sz="1100">
                        <a:effectLst/>
                        <a:latin typeface="Calibri"/>
                        <a:ea typeface="Calibri"/>
                        <a:cs typeface="Times New Roman"/>
                      </a:endParaRPr>
                    </a:p>
                  </a:txBody>
                  <a:tcPr marL="0" marR="0" marT="0" marB="0"/>
                </a:tc>
                <a:tc>
                  <a:txBody>
                    <a:bodyPr/>
                    <a:lstStyle/>
                    <a:p>
                      <a:pPr marL="80010" marR="5080" algn="ctr">
                        <a:spcBef>
                          <a:spcPts val="470"/>
                        </a:spcBef>
                        <a:spcAft>
                          <a:spcPts val="0"/>
                        </a:spcAft>
                      </a:pPr>
                      <a:r>
                        <a:rPr lang="en-US" sz="1150" spc="-10" dirty="0">
                          <a:effectLst/>
                        </a:rPr>
                        <a:t>100.00%</a:t>
                      </a:r>
                      <a:endParaRPr lang="en-US" sz="1100" dirty="0">
                        <a:effectLst/>
                        <a:latin typeface="Calibri"/>
                        <a:ea typeface="Calibri"/>
                        <a:cs typeface="Times New Roman"/>
                      </a:endParaRPr>
                    </a:p>
                  </a:txBody>
                  <a:tcPr marL="0" marR="0" marT="0" marB="0"/>
                </a:tc>
              </a:tr>
            </a:tbl>
          </a:graphicData>
        </a:graphic>
      </p:graphicFrame>
      <p:sp>
        <p:nvSpPr>
          <p:cNvPr id="5" name="Rectangle 1"/>
          <p:cNvSpPr>
            <a:spLocks noChangeArrowheads="1"/>
          </p:cNvSpPr>
          <p:nvPr/>
        </p:nvSpPr>
        <p:spPr bwMode="auto">
          <a:xfrm>
            <a:off x="1860550" y="3057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0609325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Acquisition </a:t>
            </a:r>
            <a:r>
              <a:rPr lang="en-US" dirty="0" smtClean="0"/>
              <a:t>[5/5]</a:t>
            </a:r>
            <a:endParaRPr lang="en-US" dirty="0"/>
          </a:p>
        </p:txBody>
      </p:sp>
      <p:sp>
        <p:nvSpPr>
          <p:cNvPr id="3" name="Text Placeholder 2"/>
          <p:cNvSpPr>
            <a:spLocks noGrp="1"/>
          </p:cNvSpPr>
          <p:nvPr>
            <p:ph type="body" idx="1"/>
          </p:nvPr>
        </p:nvSpPr>
        <p:spPr/>
        <p:txBody>
          <a:bodyPr/>
          <a:lstStyle/>
          <a:p>
            <a:r>
              <a:rPr lang="en-US" b="1" dirty="0"/>
              <a:t>Dataset Splitting</a:t>
            </a:r>
          </a:p>
          <a:p>
            <a:pPr marL="114300" indent="0">
              <a:buNone/>
            </a:pPr>
            <a:r>
              <a:rPr lang="en-US" sz="2400" b="1" dirty="0" smtClean="0"/>
              <a:t>After </a:t>
            </a:r>
            <a:r>
              <a:rPr lang="en-US" sz="2400" b="1" dirty="0"/>
              <a:t>Balancing</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465686793"/>
              </p:ext>
            </p:extLst>
          </p:nvPr>
        </p:nvGraphicFramePr>
        <p:xfrm>
          <a:off x="1862137" y="2790907"/>
          <a:ext cx="5755213" cy="1915237"/>
        </p:xfrm>
        <a:graphic>
          <a:graphicData uri="http://schemas.openxmlformats.org/drawingml/2006/table">
            <a:tbl>
              <a:tblPr firstRow="1" firstCol="1" lastRow="1" lastCol="1" bandRow="1" bandCol="1">
                <a:tableStyleId>{5C22544A-7EE6-4342-B048-85BDC9FD1C3A}</a:tableStyleId>
              </a:tblPr>
              <a:tblGrid>
                <a:gridCol w="935939"/>
                <a:gridCol w="1497637"/>
                <a:gridCol w="990557"/>
                <a:gridCol w="2331080"/>
              </a:tblGrid>
              <a:tr h="367977">
                <a:tc>
                  <a:txBody>
                    <a:bodyPr/>
                    <a:lstStyle/>
                    <a:p>
                      <a:pPr marL="77470" marR="0">
                        <a:spcBef>
                          <a:spcPts val="470"/>
                        </a:spcBef>
                        <a:spcAft>
                          <a:spcPts val="0"/>
                        </a:spcAft>
                      </a:pPr>
                      <a:r>
                        <a:rPr lang="en-US" sz="1150">
                          <a:effectLst/>
                        </a:rPr>
                        <a:t>Split</a:t>
                      </a:r>
                      <a:r>
                        <a:rPr lang="en-US" sz="1150" spc="-35">
                          <a:effectLst/>
                        </a:rPr>
                        <a:t> </a:t>
                      </a:r>
                      <a:r>
                        <a:rPr lang="en-US" sz="1150" spc="-20">
                          <a:effectLst/>
                        </a:rPr>
                        <a:t>Type</a:t>
                      </a:r>
                      <a:endParaRPr lang="en-US" sz="1100">
                        <a:effectLst/>
                        <a:latin typeface="Calibri"/>
                        <a:ea typeface="Calibri"/>
                        <a:cs typeface="Times New Roman"/>
                      </a:endParaRPr>
                    </a:p>
                  </a:txBody>
                  <a:tcPr marL="0" marR="0" marT="0" marB="0"/>
                </a:tc>
                <a:tc>
                  <a:txBody>
                    <a:bodyPr/>
                    <a:lstStyle/>
                    <a:p>
                      <a:pPr marL="78740" marR="0">
                        <a:spcBef>
                          <a:spcPts val="470"/>
                        </a:spcBef>
                        <a:spcAft>
                          <a:spcPts val="0"/>
                        </a:spcAft>
                      </a:pPr>
                      <a:r>
                        <a:rPr lang="en-US" sz="1150">
                          <a:effectLst/>
                        </a:rPr>
                        <a:t>Number</a:t>
                      </a:r>
                      <a:r>
                        <a:rPr lang="en-US" sz="1150" spc="-30">
                          <a:effectLst/>
                        </a:rPr>
                        <a:t> </a:t>
                      </a:r>
                      <a:r>
                        <a:rPr lang="en-US" sz="1150">
                          <a:effectLst/>
                        </a:rPr>
                        <a:t>of</a:t>
                      </a:r>
                      <a:r>
                        <a:rPr lang="en-US" sz="1150" spc="-10">
                          <a:effectLst/>
                        </a:rPr>
                        <a:t> Images</a:t>
                      </a:r>
                      <a:endParaRPr lang="en-US" sz="1100">
                        <a:effectLst/>
                        <a:latin typeface="Calibri"/>
                        <a:ea typeface="Calibri"/>
                        <a:cs typeface="Times New Roman"/>
                      </a:endParaRPr>
                    </a:p>
                  </a:txBody>
                  <a:tcPr marL="0" marR="0" marT="0" marB="0"/>
                </a:tc>
                <a:tc>
                  <a:txBody>
                    <a:bodyPr/>
                    <a:lstStyle/>
                    <a:p>
                      <a:pPr marL="78105" marR="0">
                        <a:spcBef>
                          <a:spcPts val="470"/>
                        </a:spcBef>
                        <a:spcAft>
                          <a:spcPts val="0"/>
                        </a:spcAft>
                      </a:pPr>
                      <a:r>
                        <a:rPr lang="en-US" sz="1150" spc="-10">
                          <a:effectLst/>
                        </a:rPr>
                        <a:t>Percentage</a:t>
                      </a:r>
                      <a:endParaRPr lang="en-US" sz="1100">
                        <a:effectLst/>
                        <a:latin typeface="Calibri"/>
                        <a:ea typeface="Calibri"/>
                        <a:cs typeface="Times New Roman"/>
                      </a:endParaRPr>
                    </a:p>
                  </a:txBody>
                  <a:tcPr marL="0" marR="0" marT="0" marB="0"/>
                </a:tc>
                <a:tc>
                  <a:txBody>
                    <a:bodyPr/>
                    <a:lstStyle/>
                    <a:p>
                      <a:pPr marL="80010" marR="0">
                        <a:spcBef>
                          <a:spcPts val="470"/>
                        </a:spcBef>
                        <a:spcAft>
                          <a:spcPts val="0"/>
                        </a:spcAft>
                      </a:pPr>
                      <a:r>
                        <a:rPr lang="en-US" sz="1150" spc="-10">
                          <a:effectLst/>
                        </a:rPr>
                        <a:t>Notes</a:t>
                      </a:r>
                      <a:endParaRPr lang="en-US" sz="1100">
                        <a:effectLst/>
                        <a:latin typeface="Calibri"/>
                        <a:ea typeface="Calibri"/>
                        <a:cs typeface="Times New Roman"/>
                      </a:endParaRPr>
                    </a:p>
                  </a:txBody>
                  <a:tcPr marL="0" marR="0" marT="0" marB="0"/>
                </a:tc>
              </a:tr>
              <a:tr h="403824">
                <a:tc>
                  <a:txBody>
                    <a:bodyPr/>
                    <a:lstStyle/>
                    <a:p>
                      <a:pPr marL="77470" marR="0">
                        <a:spcBef>
                          <a:spcPts val="470"/>
                        </a:spcBef>
                        <a:spcAft>
                          <a:spcPts val="0"/>
                        </a:spcAft>
                      </a:pPr>
                      <a:r>
                        <a:rPr lang="en-US" sz="1150" spc="-10">
                          <a:effectLst/>
                        </a:rPr>
                        <a:t>Train</a:t>
                      </a:r>
                      <a:endParaRPr lang="en-US" sz="1100">
                        <a:effectLst/>
                        <a:latin typeface="Calibri"/>
                        <a:ea typeface="Calibri"/>
                        <a:cs typeface="Times New Roman"/>
                      </a:endParaRPr>
                    </a:p>
                  </a:txBody>
                  <a:tcPr marL="0" marR="0" marT="0" marB="0"/>
                </a:tc>
                <a:tc>
                  <a:txBody>
                    <a:bodyPr/>
                    <a:lstStyle/>
                    <a:p>
                      <a:pPr marL="78740" marR="0">
                        <a:spcBef>
                          <a:spcPts val="475"/>
                        </a:spcBef>
                        <a:spcAft>
                          <a:spcPts val="0"/>
                        </a:spcAft>
                      </a:pPr>
                      <a:r>
                        <a:rPr lang="en-US" sz="1150" spc="-10" dirty="0">
                          <a:solidFill>
                            <a:schemeClr val="bg1"/>
                          </a:solidFill>
                          <a:effectLst/>
                        </a:rPr>
                        <a:t>32,851</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8105" marR="0">
                        <a:spcBef>
                          <a:spcPts val="475"/>
                        </a:spcBef>
                        <a:spcAft>
                          <a:spcPts val="0"/>
                        </a:spcAft>
                      </a:pPr>
                      <a:r>
                        <a:rPr lang="en-US" sz="1150" spc="-10">
                          <a:solidFill>
                            <a:schemeClr val="bg1"/>
                          </a:solidFill>
                          <a:effectLst/>
                        </a:rPr>
                        <a:t>91.60%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80010" marR="0">
                        <a:spcBef>
                          <a:spcPts val="475"/>
                        </a:spcBef>
                        <a:spcAft>
                          <a:spcPts val="0"/>
                        </a:spcAft>
                      </a:pPr>
                      <a:r>
                        <a:rPr lang="en-US" sz="1150">
                          <a:effectLst/>
                        </a:rPr>
                        <a:t>After</a:t>
                      </a:r>
                      <a:r>
                        <a:rPr lang="en-US" sz="1150" spc="-50">
                          <a:effectLst/>
                        </a:rPr>
                        <a:t> </a:t>
                      </a:r>
                      <a:r>
                        <a:rPr lang="en-US" sz="1150">
                          <a:effectLst/>
                        </a:rPr>
                        <a:t>augmentation</a:t>
                      </a:r>
                      <a:r>
                        <a:rPr lang="en-US" sz="1150" spc="-50">
                          <a:effectLst/>
                        </a:rPr>
                        <a:t> </a:t>
                      </a:r>
                      <a:r>
                        <a:rPr lang="en-US" sz="1150">
                          <a:effectLst/>
                        </a:rPr>
                        <a:t>&amp;</a:t>
                      </a:r>
                      <a:r>
                        <a:rPr lang="en-US" sz="1150" spc="-50">
                          <a:effectLst/>
                        </a:rPr>
                        <a:t> </a:t>
                      </a:r>
                      <a:r>
                        <a:rPr lang="en-US" sz="1150" spc="-10">
                          <a:effectLst/>
                        </a:rPr>
                        <a:t>balancing</a:t>
                      </a:r>
                      <a:endParaRPr lang="en-US" sz="1100">
                        <a:effectLst/>
                        <a:latin typeface="Calibri"/>
                        <a:ea typeface="Calibri"/>
                        <a:cs typeface="Times New Roman"/>
                      </a:endParaRPr>
                    </a:p>
                  </a:txBody>
                  <a:tcPr marL="0" marR="0" marT="0" marB="0"/>
                </a:tc>
              </a:tr>
              <a:tr h="381877">
                <a:tc>
                  <a:txBody>
                    <a:bodyPr/>
                    <a:lstStyle/>
                    <a:p>
                      <a:pPr marL="77470" marR="0">
                        <a:spcBef>
                          <a:spcPts val="485"/>
                        </a:spcBef>
                        <a:spcAft>
                          <a:spcPts val="0"/>
                        </a:spcAft>
                      </a:pPr>
                      <a:r>
                        <a:rPr lang="en-US" sz="1150" spc="-10">
                          <a:effectLst/>
                        </a:rPr>
                        <a:t>Validation</a:t>
                      </a:r>
                      <a:endParaRPr lang="en-US" sz="1100">
                        <a:effectLst/>
                        <a:latin typeface="Calibri"/>
                        <a:ea typeface="Calibri"/>
                        <a:cs typeface="Times New Roman"/>
                      </a:endParaRPr>
                    </a:p>
                  </a:txBody>
                  <a:tcPr marL="0" marR="0" marT="0" marB="0"/>
                </a:tc>
                <a:tc>
                  <a:txBody>
                    <a:bodyPr/>
                    <a:lstStyle/>
                    <a:p>
                      <a:pPr marL="78740" marR="0">
                        <a:spcBef>
                          <a:spcPts val="485"/>
                        </a:spcBef>
                        <a:spcAft>
                          <a:spcPts val="0"/>
                        </a:spcAft>
                      </a:pPr>
                      <a:r>
                        <a:rPr lang="en-US" sz="1150" spc="-10" dirty="0">
                          <a:solidFill>
                            <a:schemeClr val="bg1"/>
                          </a:solidFill>
                          <a:effectLst/>
                        </a:rPr>
                        <a:t>1,001</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8105" marR="0">
                        <a:spcBef>
                          <a:spcPts val="485"/>
                        </a:spcBef>
                        <a:spcAft>
                          <a:spcPts val="0"/>
                        </a:spcAft>
                      </a:pPr>
                      <a:r>
                        <a:rPr lang="en-US" sz="1150" spc="-10" dirty="0">
                          <a:solidFill>
                            <a:schemeClr val="bg1"/>
                          </a:solidFill>
                          <a:effectLst/>
                        </a:rPr>
                        <a:t>2.79%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80010" marR="0">
                        <a:spcBef>
                          <a:spcPts val="485"/>
                        </a:spcBef>
                        <a:spcAft>
                          <a:spcPts val="0"/>
                        </a:spcAft>
                      </a:pPr>
                      <a:r>
                        <a:rPr lang="en-US" sz="1150">
                          <a:effectLst/>
                        </a:rPr>
                        <a:t>Original</a:t>
                      </a:r>
                      <a:r>
                        <a:rPr lang="en-US" sz="1150" spc="-25">
                          <a:effectLst/>
                        </a:rPr>
                        <a:t> </a:t>
                      </a:r>
                      <a:r>
                        <a:rPr lang="en-US" sz="1150">
                          <a:effectLst/>
                        </a:rPr>
                        <a:t>samples</a:t>
                      </a:r>
                      <a:r>
                        <a:rPr lang="en-US" sz="1150" spc="-15">
                          <a:effectLst/>
                        </a:rPr>
                        <a:t> </a:t>
                      </a:r>
                      <a:r>
                        <a:rPr lang="en-US" sz="1150" spc="-20">
                          <a:effectLst/>
                        </a:rPr>
                        <a:t>only</a:t>
                      </a:r>
                      <a:endParaRPr lang="en-US" sz="1100">
                        <a:effectLst/>
                        <a:latin typeface="Calibri"/>
                        <a:ea typeface="Calibri"/>
                        <a:cs typeface="Times New Roman"/>
                      </a:endParaRPr>
                    </a:p>
                  </a:txBody>
                  <a:tcPr marL="0" marR="0" marT="0" marB="0"/>
                </a:tc>
              </a:tr>
              <a:tr h="381145">
                <a:tc>
                  <a:txBody>
                    <a:bodyPr/>
                    <a:lstStyle/>
                    <a:p>
                      <a:pPr marL="67945" marR="0">
                        <a:spcBef>
                          <a:spcPts val="500"/>
                        </a:spcBef>
                        <a:spcAft>
                          <a:spcPts val="0"/>
                        </a:spcAft>
                      </a:pPr>
                      <a:r>
                        <a:rPr lang="en-US" sz="1150" spc="-20">
                          <a:effectLst/>
                        </a:rPr>
                        <a:t>Test</a:t>
                      </a:r>
                      <a:endParaRPr lang="en-US" sz="1100">
                        <a:effectLst/>
                        <a:latin typeface="Calibri"/>
                        <a:ea typeface="Calibri"/>
                        <a:cs typeface="Times New Roman"/>
                      </a:endParaRPr>
                    </a:p>
                  </a:txBody>
                  <a:tcPr marL="0" marR="0" marT="0" marB="0"/>
                </a:tc>
                <a:tc>
                  <a:txBody>
                    <a:bodyPr/>
                    <a:lstStyle/>
                    <a:p>
                      <a:pPr marL="71120" marR="0">
                        <a:spcBef>
                          <a:spcPts val="500"/>
                        </a:spcBef>
                        <a:spcAft>
                          <a:spcPts val="0"/>
                        </a:spcAft>
                      </a:pPr>
                      <a:r>
                        <a:rPr lang="en-US" sz="1150" spc="-10">
                          <a:solidFill>
                            <a:schemeClr val="bg1"/>
                          </a:solidFill>
                          <a:effectLst/>
                        </a:rPr>
                        <a:t>2,004</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500"/>
                        </a:spcBef>
                        <a:spcAft>
                          <a:spcPts val="0"/>
                        </a:spcAft>
                      </a:pPr>
                      <a:r>
                        <a:rPr lang="en-US" sz="1150" spc="-10" dirty="0">
                          <a:solidFill>
                            <a:schemeClr val="bg1"/>
                          </a:solidFill>
                          <a:effectLst/>
                        </a:rPr>
                        <a:t>5.59%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500"/>
                        </a:spcBef>
                        <a:spcAft>
                          <a:spcPts val="0"/>
                        </a:spcAft>
                      </a:pPr>
                      <a:r>
                        <a:rPr lang="en-US" sz="1150">
                          <a:effectLst/>
                        </a:rPr>
                        <a:t>Original</a:t>
                      </a:r>
                      <a:r>
                        <a:rPr lang="en-US" sz="1150" spc="-25">
                          <a:effectLst/>
                        </a:rPr>
                        <a:t> </a:t>
                      </a:r>
                      <a:r>
                        <a:rPr lang="en-US" sz="1150">
                          <a:effectLst/>
                        </a:rPr>
                        <a:t>samples</a:t>
                      </a:r>
                      <a:r>
                        <a:rPr lang="en-US" sz="1150" spc="-15">
                          <a:effectLst/>
                        </a:rPr>
                        <a:t> </a:t>
                      </a:r>
                      <a:r>
                        <a:rPr lang="en-US" sz="1150" spc="-20">
                          <a:effectLst/>
                        </a:rPr>
                        <a:t>only</a:t>
                      </a:r>
                      <a:endParaRPr lang="en-US" sz="1100">
                        <a:effectLst/>
                        <a:latin typeface="Calibri"/>
                        <a:ea typeface="Calibri"/>
                        <a:cs typeface="Times New Roman"/>
                      </a:endParaRPr>
                    </a:p>
                  </a:txBody>
                  <a:tcPr marL="0" marR="0" marT="0" marB="0"/>
                </a:tc>
              </a:tr>
              <a:tr h="380414">
                <a:tc>
                  <a:txBody>
                    <a:bodyPr/>
                    <a:lstStyle/>
                    <a:p>
                      <a:pPr marL="67945" marR="0">
                        <a:spcBef>
                          <a:spcPts val="470"/>
                        </a:spcBef>
                        <a:spcAft>
                          <a:spcPts val="0"/>
                        </a:spcAft>
                      </a:pPr>
                      <a:r>
                        <a:rPr lang="en-US" sz="1150" spc="-10">
                          <a:effectLst/>
                        </a:rPr>
                        <a:t>Total</a:t>
                      </a:r>
                      <a:endParaRPr lang="en-US" sz="1100">
                        <a:effectLst/>
                        <a:latin typeface="Calibri"/>
                        <a:ea typeface="Calibri"/>
                        <a:cs typeface="Times New Roman"/>
                      </a:endParaRPr>
                    </a:p>
                  </a:txBody>
                  <a:tcPr marL="0" marR="0" marT="0" marB="0"/>
                </a:tc>
                <a:tc>
                  <a:txBody>
                    <a:bodyPr/>
                    <a:lstStyle/>
                    <a:p>
                      <a:pPr marL="71120" marR="0">
                        <a:spcBef>
                          <a:spcPts val="470"/>
                        </a:spcBef>
                        <a:spcAft>
                          <a:spcPts val="0"/>
                        </a:spcAft>
                      </a:pPr>
                      <a:r>
                        <a:rPr lang="en-US" sz="1150" spc="-10">
                          <a:effectLst/>
                        </a:rPr>
                        <a:t>35,856</a:t>
                      </a:r>
                      <a:endParaRPr lang="en-US" sz="1100">
                        <a:effectLst/>
                        <a:latin typeface="Calibri"/>
                        <a:ea typeface="Calibri"/>
                        <a:cs typeface="Times New Roman"/>
                      </a:endParaRPr>
                    </a:p>
                  </a:txBody>
                  <a:tcPr marL="0" marR="0" marT="0" marB="0"/>
                </a:tc>
                <a:tc>
                  <a:txBody>
                    <a:bodyPr/>
                    <a:lstStyle/>
                    <a:p>
                      <a:pPr marL="70485" marR="0">
                        <a:spcBef>
                          <a:spcPts val="470"/>
                        </a:spcBef>
                        <a:spcAft>
                          <a:spcPts val="0"/>
                        </a:spcAft>
                      </a:pPr>
                      <a:r>
                        <a:rPr lang="en-US" sz="1150" spc="-20">
                          <a:effectLst/>
                        </a:rPr>
                        <a:t>100%</a:t>
                      </a:r>
                      <a:endParaRPr lang="en-US" sz="1100">
                        <a:effectLst/>
                        <a:latin typeface="Calibri"/>
                        <a:ea typeface="Calibri"/>
                        <a:cs typeface="Times New Roman"/>
                      </a:endParaRPr>
                    </a:p>
                  </a:txBody>
                  <a:tcPr marL="0" marR="0" marT="0" marB="0"/>
                </a:tc>
                <a:tc>
                  <a:txBody>
                    <a:bodyPr/>
                    <a:lstStyle/>
                    <a:p>
                      <a:pPr marL="70485" marR="0">
                        <a:spcBef>
                          <a:spcPts val="475"/>
                        </a:spcBef>
                        <a:spcAft>
                          <a:spcPts val="0"/>
                        </a:spcAft>
                      </a:pPr>
                      <a:r>
                        <a:rPr lang="en-US" sz="1150" dirty="0">
                          <a:effectLst/>
                        </a:rPr>
                        <a:t>After</a:t>
                      </a:r>
                      <a:r>
                        <a:rPr lang="en-US" sz="1150" spc="-55" dirty="0">
                          <a:effectLst/>
                        </a:rPr>
                        <a:t> </a:t>
                      </a:r>
                      <a:r>
                        <a:rPr lang="en-US" sz="1150" dirty="0">
                          <a:effectLst/>
                        </a:rPr>
                        <a:t>balancing</a:t>
                      </a:r>
                      <a:r>
                        <a:rPr lang="en-US" sz="1150" spc="-45" dirty="0">
                          <a:effectLst/>
                        </a:rPr>
                        <a:t> </a:t>
                      </a:r>
                      <a:r>
                        <a:rPr lang="en-US" sz="1150" spc="-10" dirty="0">
                          <a:effectLst/>
                        </a:rPr>
                        <a:t>procedures</a:t>
                      </a:r>
                      <a:endParaRPr lang="en-US" sz="1100" dirty="0">
                        <a:effectLst/>
                        <a:latin typeface="Calibri"/>
                        <a:ea typeface="Calibri"/>
                        <a:cs typeface="Times New Roman"/>
                      </a:endParaRPr>
                    </a:p>
                  </a:txBody>
                  <a:tcPr marL="0" marR="0" marT="0" marB="0"/>
                </a:tc>
              </a:tr>
            </a:tbl>
          </a:graphicData>
        </a:graphic>
      </p:graphicFrame>
    </p:spTree>
    <p:extLst>
      <p:ext uri="{BB962C8B-B14F-4D97-AF65-F5344CB8AC3E}">
        <p14:creationId xmlns:p14="http://schemas.microsoft.com/office/powerpoint/2010/main" val="19112391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lvl="0"/>
            <a:r>
              <a:rPr lang="en-US" dirty="0" smtClean="0"/>
              <a:t>Methodology</a:t>
            </a:r>
            <a:endParaRPr dirty="0"/>
          </a:p>
        </p:txBody>
      </p:sp>
    </p:spTree>
    <p:extLst>
      <p:ext uri="{BB962C8B-B14F-4D97-AF65-F5344CB8AC3E}">
        <p14:creationId xmlns:p14="http://schemas.microsoft.com/office/powerpoint/2010/main" val="36395743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03715cfd4a_0_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Methodology</a:t>
            </a:r>
            <a:endParaRPr/>
          </a:p>
        </p:txBody>
      </p:sp>
      <p:pic>
        <p:nvPicPr>
          <p:cNvPr id="3" name="Picture 2">
            <a:extLst>
              <a:ext uri="{FF2B5EF4-FFF2-40B4-BE49-F238E27FC236}">
                <a16:creationId xmlns:a16="http://schemas.microsoft.com/office/drawing/2014/main" xmlns="" id="{6DCE5AC9-7F1F-8E87-3475-45AB98660EA5}"/>
              </a:ext>
            </a:extLst>
          </p:cNvPr>
          <p:cNvPicPr>
            <a:picLocks noChangeAspect="1"/>
          </p:cNvPicPr>
          <p:nvPr/>
        </p:nvPicPr>
        <p:blipFill>
          <a:blip r:embed="rId3"/>
          <a:stretch>
            <a:fillRect/>
          </a:stretch>
        </p:blipFill>
        <p:spPr>
          <a:xfrm>
            <a:off x="193474" y="1296140"/>
            <a:ext cx="8746339" cy="448322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E49F86-9C06-25A4-4F1B-EF836E1F246B}"/>
              </a:ext>
            </a:extLst>
          </p:cNvPr>
          <p:cNvSpPr>
            <a:spLocks noGrp="1"/>
          </p:cNvSpPr>
          <p:nvPr>
            <p:ph type="title"/>
          </p:nvPr>
        </p:nvSpPr>
        <p:spPr>
          <a:xfrm>
            <a:off x="429208" y="0"/>
            <a:ext cx="8229600" cy="1143000"/>
          </a:xfrm>
        </p:spPr>
        <p:txBody>
          <a:bodyPr/>
          <a:lstStyle/>
          <a:p>
            <a:r>
              <a:rPr lang="en-US" dirty="0"/>
              <a:t>Market Survey</a:t>
            </a:r>
            <a:r>
              <a:rPr lang="en-US" dirty="0">
                <a:highlight>
                  <a:srgbClr val="FF0000"/>
                </a:highlight>
              </a:rPr>
              <a:t>	</a:t>
            </a:r>
          </a:p>
        </p:txBody>
      </p:sp>
      <p:graphicFrame>
        <p:nvGraphicFramePr>
          <p:cNvPr id="5" name="Table 4">
            <a:extLst>
              <a:ext uri="{FF2B5EF4-FFF2-40B4-BE49-F238E27FC236}">
                <a16:creationId xmlns:a16="http://schemas.microsoft.com/office/drawing/2014/main" xmlns="" id="{93D30E9D-76EC-3EF0-DD4F-C1EB754F5E64}"/>
              </a:ext>
            </a:extLst>
          </p:cNvPr>
          <p:cNvGraphicFramePr>
            <a:graphicFrameLocks noGrp="1"/>
          </p:cNvGraphicFramePr>
          <p:nvPr>
            <p:extLst>
              <p:ext uri="{D42A27DB-BD31-4B8C-83A1-F6EECF244321}">
                <p14:modId xmlns:p14="http://schemas.microsoft.com/office/powerpoint/2010/main" val="3500513414"/>
              </p:ext>
            </p:extLst>
          </p:nvPr>
        </p:nvGraphicFramePr>
        <p:xfrm>
          <a:off x="809352" y="891012"/>
          <a:ext cx="7469312" cy="4937760"/>
        </p:xfrm>
        <a:graphic>
          <a:graphicData uri="http://schemas.openxmlformats.org/drawingml/2006/table">
            <a:tbl>
              <a:tblPr firstRow="1" bandRow="1">
                <a:tableStyleId>{5C22544A-7EE6-4342-B048-85BDC9FD1C3A}</a:tableStyleId>
              </a:tblPr>
              <a:tblGrid>
                <a:gridCol w="1867328">
                  <a:extLst>
                    <a:ext uri="{9D8B030D-6E8A-4147-A177-3AD203B41FA5}">
                      <a16:colId xmlns:a16="http://schemas.microsoft.com/office/drawing/2014/main" xmlns="" val="980787807"/>
                    </a:ext>
                  </a:extLst>
                </a:gridCol>
                <a:gridCol w="1867328">
                  <a:extLst>
                    <a:ext uri="{9D8B030D-6E8A-4147-A177-3AD203B41FA5}">
                      <a16:colId xmlns:a16="http://schemas.microsoft.com/office/drawing/2014/main" xmlns="" val="2280806505"/>
                    </a:ext>
                  </a:extLst>
                </a:gridCol>
                <a:gridCol w="1838960">
                  <a:extLst>
                    <a:ext uri="{9D8B030D-6E8A-4147-A177-3AD203B41FA5}">
                      <a16:colId xmlns:a16="http://schemas.microsoft.com/office/drawing/2014/main" xmlns="" val="2629890050"/>
                    </a:ext>
                  </a:extLst>
                </a:gridCol>
                <a:gridCol w="1895696">
                  <a:extLst>
                    <a:ext uri="{9D8B030D-6E8A-4147-A177-3AD203B41FA5}">
                      <a16:colId xmlns:a16="http://schemas.microsoft.com/office/drawing/2014/main" xmlns="" val="4114370384"/>
                    </a:ext>
                  </a:extLst>
                </a:gridCol>
              </a:tblGrid>
              <a:tr h="285068">
                <a:tc>
                  <a:txBody>
                    <a:bodyPr/>
                    <a:lstStyle/>
                    <a:p>
                      <a:r>
                        <a:rPr lang="en-US" dirty="0"/>
                        <a:t>Application</a:t>
                      </a:r>
                    </a:p>
                  </a:txBody>
                  <a:tcPr/>
                </a:tc>
                <a:tc>
                  <a:txBody>
                    <a:bodyPr/>
                    <a:lstStyle/>
                    <a:p>
                      <a:r>
                        <a:rPr lang="en-US" dirty="0"/>
                        <a:t>Technique</a:t>
                      </a:r>
                    </a:p>
                  </a:txBody>
                  <a:tcPr/>
                </a:tc>
                <a:tc>
                  <a:txBody>
                    <a:bodyPr/>
                    <a:lstStyle/>
                    <a:p>
                      <a:r>
                        <a:rPr lang="en-US" dirty="0"/>
                        <a:t>Test Set</a:t>
                      </a:r>
                    </a:p>
                  </a:txBody>
                  <a:tcPr/>
                </a:tc>
                <a:tc>
                  <a:txBody>
                    <a:bodyPr/>
                    <a:lstStyle/>
                    <a:p>
                      <a:r>
                        <a:rPr lang="en-US" dirty="0"/>
                        <a:t>Remarks</a:t>
                      </a:r>
                    </a:p>
                  </a:txBody>
                  <a:tcPr/>
                </a:tc>
                <a:extLst>
                  <a:ext uri="{0D108BD9-81ED-4DB2-BD59-A6C34878D82A}">
                    <a16:rowId xmlns:a16="http://schemas.microsoft.com/office/drawing/2014/main" xmlns="" val="464588140"/>
                  </a:ext>
                </a:extLst>
              </a:tr>
              <a:tr h="1282808">
                <a:tc>
                  <a:txBody>
                    <a:bodyPr/>
                    <a:lstStyle/>
                    <a:p>
                      <a:r>
                        <a:rPr lang="en-US" dirty="0" err="1"/>
                        <a:t>SkinVision</a:t>
                      </a:r>
                      <a:r>
                        <a:rPr lang="en-US" dirty="0"/>
                        <a:t> App</a:t>
                      </a:r>
                    </a:p>
                  </a:txBody>
                  <a:tcPr/>
                </a:tc>
                <a:tc>
                  <a:txBody>
                    <a:bodyPr/>
                    <a:lstStyle/>
                    <a:p>
                      <a:r>
                        <a:rPr lang="en-US" sz="1400" b="0" i="0" u="none" strike="noStrike" cap="none" dirty="0">
                          <a:solidFill>
                            <a:schemeClr val="dk1"/>
                          </a:solidFill>
                          <a:effectLst/>
                          <a:latin typeface="+mn-lt"/>
                          <a:ea typeface="+mn-ea"/>
                          <a:cs typeface="+mn-cs"/>
                          <a:sym typeface="Arial" panose="020B0604020202020204"/>
                        </a:rPr>
                        <a:t>Conditional generative adversarial neural network (segmentation) and SVM (classification)</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~black‑white melanoma photos → sensitivity 73%, specificity 83%,</a:t>
                      </a:r>
                    </a:p>
                  </a:txBody>
                  <a:tcPr/>
                </a:tc>
                <a:tc>
                  <a:txBody>
                    <a:bodyPr/>
                    <a:lstStyle/>
                    <a:p>
                      <a:pPr marL="0" marR="0" indent="0" algn="l">
                        <a:lnSpc>
                          <a:spcPct val="103000"/>
                        </a:lnSpc>
                        <a:spcAft>
                          <a:spcPts val="115"/>
                        </a:spcAft>
                      </a:pPr>
                      <a:r>
                        <a:rPr lang="en-US" sz="1400" kern="100" dirty="0">
                          <a:solidFill>
                            <a:srgbClr val="000000"/>
                          </a:solidFill>
                          <a:effectLst/>
                          <a:latin typeface="Times New Roman" panose="02020603050405020304" pitchFamily="18" charset="0"/>
                          <a:ea typeface="Times New Roman" panose="02020603050405020304" pitchFamily="18" charset="0"/>
                        </a:rPr>
                        <a:t> </a:t>
                      </a:r>
                      <a:r>
                        <a:rPr lang="en-US" dirty="0"/>
                        <a:t>CE‑marked; performance drops in real‑world lesions</a:t>
                      </a:r>
                      <a:endParaRPr lang="en-US" sz="1400" kern="100" dirty="0">
                        <a:solidFill>
                          <a:srgbClr val="000000"/>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xmlns="" val="2209724763"/>
                  </a:ext>
                </a:extLst>
              </a:tr>
              <a:tr h="883712">
                <a:tc>
                  <a:txBody>
                    <a:bodyPr/>
                    <a:lstStyle/>
                    <a:p>
                      <a:r>
                        <a:rPr lang="en-US" dirty="0" err="1"/>
                        <a:t>SpotMole</a:t>
                      </a:r>
                      <a:endParaRPr lang="en-US" dirty="0"/>
                    </a:p>
                  </a:txBody>
                  <a:tcPr/>
                </a:tc>
                <a:tc>
                  <a:txBody>
                    <a:bodyPr/>
                    <a:lstStyle/>
                    <a:p>
                      <a:pPr marL="0" marR="0" indent="0" algn="l">
                        <a:lnSpc>
                          <a:spcPct val="107000"/>
                        </a:lnSpc>
                        <a:spcAft>
                          <a:spcPts val="115"/>
                        </a:spcAft>
                      </a:pPr>
                      <a:r>
                        <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Image processing techniques,</a:t>
                      </a:r>
                    </a:p>
                    <a:p>
                      <a:pPr marL="0" marR="0" indent="0" algn="l">
                        <a:lnSpc>
                          <a:spcPct val="107000"/>
                        </a:lnSpc>
                        <a:spcAft>
                          <a:spcPts val="115"/>
                        </a:spcAft>
                      </a:pPr>
                      <a:r>
                        <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ABCDE rule (Asymmetry Border Color Diameter Evolution)</a:t>
                      </a:r>
                    </a:p>
                  </a:txBody>
                  <a:tcPr marL="0" marR="0" marT="0" marB="0"/>
                </a:tc>
                <a:tc>
                  <a:txBody>
                    <a:bodyPr/>
                    <a:lstStyle/>
                    <a:p>
                      <a:r>
                        <a:rPr lang="en-US" dirty="0"/>
                        <a:t>1 melanoma + 41 suspicious lesions (same Brisbane dataset): sensitivity 43%, specificity 80%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dirty="0"/>
                        <a:t>Low sensitivity (missed &gt;50% melanomas); no recent updates, likely discontinued</a:t>
                      </a:r>
                    </a:p>
                  </a:txBody>
                  <a:tcPr/>
                </a:tc>
                <a:extLst>
                  <a:ext uri="{0D108BD9-81ED-4DB2-BD59-A6C34878D82A}">
                    <a16:rowId xmlns:a16="http://schemas.microsoft.com/office/drawing/2014/main" xmlns="" val="2416992427"/>
                  </a:ext>
                </a:extLst>
              </a:tr>
              <a:tr h="883712">
                <a:tc>
                  <a:txBody>
                    <a:bodyPr/>
                    <a:lstStyle/>
                    <a:p>
                      <a:r>
                        <a:rPr lang="en-US" dirty="0"/>
                        <a:t>Dr Mole</a:t>
                      </a:r>
                    </a:p>
                  </a:txBody>
                  <a:tcPr/>
                </a:tc>
                <a:tc>
                  <a:txBody>
                    <a:bodyPr/>
                    <a:lstStyle/>
                    <a:p>
                      <a:r>
                        <a:rPr lang="en-US" sz="1400" b="0" i="0" u="none" strike="noStrike" cap="none" dirty="0">
                          <a:solidFill>
                            <a:schemeClr val="dk1"/>
                          </a:solidFill>
                          <a:effectLst/>
                          <a:latin typeface="+mn-lt"/>
                          <a:ea typeface="+mn-ea"/>
                          <a:cs typeface="+mn-cs"/>
                          <a:sym typeface="Arial" panose="020B0604020202020204"/>
                        </a:rPr>
                        <a:t>Algorithm based on the ABCDE rule </a:t>
                      </a:r>
                      <a:r>
                        <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(Asymmetry Border Color Diameter Evolution)</a:t>
                      </a:r>
                      <a:endParaRPr lang="en-US" dirty="0"/>
                    </a:p>
                  </a:txBody>
                  <a:tcPr/>
                </a:tc>
                <a:tc>
                  <a:txBody>
                    <a:bodyPr/>
                    <a:lstStyle/>
                    <a:p>
                      <a:r>
                        <a:rPr lang="en-US" dirty="0"/>
                        <a:t>Same test set: 1 melanoma + 41 lesions → sensitivity 21%, specificity 100%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400" kern="100" dirty="0">
                          <a:solidFill>
                            <a:srgbClr val="000000"/>
                          </a:solidFill>
                          <a:effectLst/>
                          <a:latin typeface="Times New Roman" panose="02020603050405020304" pitchFamily="18" charset="0"/>
                          <a:ea typeface="Times New Roman" panose="02020603050405020304" pitchFamily="18" charset="0"/>
                        </a:rPr>
                        <a:t>Only 1 malignant melanoma was Found</a:t>
                      </a:r>
                      <a:endParaRPr lang="en-US" dirty="0"/>
                    </a:p>
                  </a:txBody>
                  <a:tcPr/>
                </a:tc>
                <a:extLst>
                  <a:ext uri="{0D108BD9-81ED-4DB2-BD59-A6C34878D82A}">
                    <a16:rowId xmlns:a16="http://schemas.microsoft.com/office/drawing/2014/main" xmlns="" val="1234523292"/>
                  </a:ext>
                </a:extLst>
              </a:tr>
              <a:tr h="916660">
                <a:tc>
                  <a:txBody>
                    <a:bodyPr/>
                    <a:lstStyle/>
                    <a:p>
                      <a:r>
                        <a:rPr lang="en-US" dirty="0" err="1"/>
                        <a:t>Lubax</a:t>
                      </a:r>
                      <a:endParaRPr lang="en-US" dirty="0"/>
                    </a:p>
                  </a:txBody>
                  <a:tcPr/>
                </a:tc>
                <a:tc>
                  <a:txBody>
                    <a:bodyPr/>
                    <a:lstStyle/>
                    <a:p>
                      <a:r>
                        <a:rPr lang="en-US" sz="1400" b="0" i="0" u="none" strike="noStrike" cap="none" dirty="0">
                          <a:solidFill>
                            <a:schemeClr val="dk1"/>
                          </a:solidFill>
                          <a:effectLst/>
                          <a:latin typeface="+mn-lt"/>
                          <a:ea typeface="+mn-ea"/>
                          <a:cs typeface="+mn-cs"/>
                          <a:sym typeface="Arial" panose="020B0604020202020204"/>
                        </a:rPr>
                        <a:t>Content-based image retrieval, k-nearest neighbor</a:t>
                      </a:r>
                      <a:endParaRPr lang="en-US" dirty="0"/>
                    </a:p>
                  </a:txBody>
                  <a:tcPr/>
                </a:tc>
                <a:tc>
                  <a:txBody>
                    <a:bodyPr/>
                    <a:lstStyle/>
                    <a:p>
                      <a:r>
                        <a:rPr lang="en-US" sz="1400" b="0" i="0" u="none" strike="noStrike" cap="none" dirty="0">
                          <a:solidFill>
                            <a:schemeClr val="dk1"/>
                          </a:solidFill>
                          <a:effectLst/>
                          <a:latin typeface="+mn-lt"/>
                          <a:ea typeface="+mn-ea"/>
                          <a:cs typeface="+mn-cs"/>
                          <a:sym typeface="Arial" panose="020B0604020202020204"/>
                        </a:rPr>
                        <a:t>208 lesions with </a:t>
                      </a:r>
                      <a:r>
                        <a:rPr lang="en-US" sz="1400" b="0" i="0" u="none" strike="noStrike" cap="none" dirty="0" err="1">
                          <a:solidFill>
                            <a:schemeClr val="dk1"/>
                          </a:solidFill>
                          <a:effectLst/>
                          <a:latin typeface="+mn-lt"/>
                          <a:ea typeface="+mn-ea"/>
                          <a:cs typeface="+mn-cs"/>
                          <a:sym typeface="Arial" panose="020B0604020202020204"/>
                        </a:rPr>
                        <a:t>melanoma</a:t>
                      </a:r>
                      <a:r>
                        <a:rPr lang="en-US" sz="1400" b="0" i="0" u="none" strike="noStrike" cap="none" baseline="30000" dirty="0" err="1">
                          <a:solidFill>
                            <a:schemeClr val="dk1"/>
                          </a:solidFill>
                          <a:effectLst/>
                          <a:latin typeface="+mn-lt"/>
                          <a:ea typeface="+mn-ea"/>
                          <a:cs typeface="+mn-cs"/>
                          <a:sym typeface="Arial" panose="020B0604020202020204"/>
                        </a:rPr>
                        <a:t>d</a:t>
                      </a:r>
                      <a:endParaRPr lang="en-US" dirty="0"/>
                    </a:p>
                  </a:txBody>
                  <a:tcPr/>
                </a:tc>
                <a:tc>
                  <a:txBody>
                    <a:bodyPr/>
                    <a:lstStyle/>
                    <a:p>
                      <a:r>
                        <a:rPr lang="en-US" sz="1400" b="0" i="0" u="none" strike="noStrike" cap="none" dirty="0">
                          <a:solidFill>
                            <a:schemeClr val="dk1"/>
                          </a:solidFill>
                          <a:effectLst/>
                          <a:latin typeface="+mn-lt"/>
                          <a:ea typeface="+mn-ea"/>
                          <a:cs typeface="+mn-cs"/>
                          <a:sym typeface="Arial" panose="020B0604020202020204"/>
                        </a:rPr>
                        <a:t>Algorithm tested only on malignant melanoma (large lesions only)</a:t>
                      </a:r>
                      <a:endParaRPr lang="en-US" dirty="0"/>
                    </a:p>
                  </a:txBody>
                  <a:tcPr/>
                </a:tc>
                <a:extLst>
                  <a:ext uri="{0D108BD9-81ED-4DB2-BD59-A6C34878D82A}">
                    <a16:rowId xmlns:a16="http://schemas.microsoft.com/office/drawing/2014/main" xmlns="" val="870537198"/>
                  </a:ext>
                </a:extLst>
              </a:tr>
            </a:tbl>
          </a:graphicData>
        </a:graphic>
      </p:graphicFrame>
    </p:spTree>
    <p:extLst>
      <p:ext uri="{BB962C8B-B14F-4D97-AF65-F5344CB8AC3E}">
        <p14:creationId xmlns:p14="http://schemas.microsoft.com/office/powerpoint/2010/main" val="16861728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dirty="0"/>
              <a:t>PROGRESS REPORT</a:t>
            </a:r>
            <a:br>
              <a:rPr lang="en-US" dirty="0"/>
            </a:br>
            <a:r>
              <a:rPr lang="en-US" dirty="0"/>
              <a:t>SUMMARY</a:t>
            </a:r>
            <a:endParaRP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Requirements</a:t>
            </a:r>
            <a:endParaRPr dirty="0"/>
          </a:p>
        </p:txBody>
      </p:sp>
      <p:sp>
        <p:nvSpPr>
          <p:cNvPr id="140" name="Google Shape;140;p9"/>
          <p:cNvSpPr txBox="1">
            <a:spLocks noGrp="1"/>
          </p:cNvSpPr>
          <p:nvPr>
            <p:ph type="body" idx="1"/>
          </p:nvPr>
        </p:nvSpPr>
        <p:spPr>
          <a:xfrm>
            <a:off x="473826" y="1167938"/>
            <a:ext cx="82296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000" b="1" dirty="0"/>
              <a:t>1.List Of Different Users</a:t>
            </a:r>
            <a:r>
              <a:rPr lang="en-US" sz="2000" b="1" dirty="0" smtClean="0"/>
              <a:t>:</a:t>
            </a:r>
          </a:p>
          <a:p>
            <a:pPr marL="800100" lvl="1">
              <a:spcBef>
                <a:spcPts val="640"/>
              </a:spcBef>
              <a:buSzPts val="3200"/>
              <a:buFont typeface="Arial" pitchFamily="34" charset="0"/>
              <a:buChar char="•"/>
            </a:pPr>
            <a:r>
              <a:rPr lang="en-US" sz="1600" dirty="0"/>
              <a:t>Patient</a:t>
            </a:r>
          </a:p>
          <a:p>
            <a:pPr marL="800100" lvl="1">
              <a:spcBef>
                <a:spcPts val="640"/>
              </a:spcBef>
              <a:buSzPts val="3200"/>
              <a:buFont typeface="Arial" pitchFamily="34" charset="0"/>
              <a:buChar char="•"/>
            </a:pPr>
            <a:r>
              <a:rPr lang="en-US" sz="1600" dirty="0"/>
              <a:t>Dermatologist</a:t>
            </a:r>
          </a:p>
          <a:p>
            <a:pPr marL="800100" lvl="1">
              <a:spcBef>
                <a:spcPts val="640"/>
              </a:spcBef>
              <a:buSzPts val="3200"/>
              <a:buFont typeface="Arial" pitchFamily="34" charset="0"/>
              <a:buChar char="•"/>
            </a:pPr>
            <a:r>
              <a:rPr lang="en-US" sz="1600" dirty="0"/>
              <a:t>Admin</a:t>
            </a:r>
          </a:p>
          <a:p>
            <a:pPr marL="0" lvl="0" indent="0" algn="l" rtl="0">
              <a:lnSpc>
                <a:spcPct val="100000"/>
              </a:lnSpc>
              <a:spcBef>
                <a:spcPts val="640"/>
              </a:spcBef>
              <a:spcAft>
                <a:spcPts val="0"/>
              </a:spcAft>
              <a:buClr>
                <a:schemeClr val="dk1"/>
              </a:buClr>
              <a:buSzPts val="3200"/>
              <a:buNone/>
            </a:pPr>
            <a:endParaRPr lang="en-US" sz="2000" b="1" dirty="0"/>
          </a:p>
          <a:p>
            <a:pPr marL="0" indent="0">
              <a:spcBef>
                <a:spcPts val="640"/>
              </a:spcBef>
              <a:buSzPts val="3200"/>
              <a:buNone/>
            </a:pPr>
            <a:r>
              <a:rPr lang="en-US" sz="2000" b="1" dirty="0" smtClean="0"/>
              <a:t>2.Functional Requirements:</a:t>
            </a:r>
          </a:p>
          <a:p>
            <a:pPr marL="800100" lvl="1">
              <a:spcBef>
                <a:spcPts val="640"/>
              </a:spcBef>
              <a:buSzPts val="3200"/>
              <a:buFont typeface="Arial" pitchFamily="34" charset="0"/>
              <a:buChar char="•"/>
            </a:pPr>
            <a:r>
              <a:rPr lang="en-US" sz="1600" dirty="0" smtClean="0"/>
              <a:t>Authentication &amp; User Access Control</a:t>
            </a:r>
          </a:p>
          <a:p>
            <a:pPr marL="800100" lvl="1">
              <a:spcBef>
                <a:spcPts val="640"/>
              </a:spcBef>
              <a:buSzPts val="3200"/>
              <a:buFont typeface="Arial" pitchFamily="34" charset="0"/>
              <a:buChar char="•"/>
            </a:pPr>
            <a:r>
              <a:rPr lang="en-US" sz="1600" dirty="0" smtClean="0"/>
              <a:t>Image Upload &amp; Management</a:t>
            </a:r>
          </a:p>
          <a:p>
            <a:pPr marL="800100" lvl="1">
              <a:spcBef>
                <a:spcPts val="640"/>
              </a:spcBef>
              <a:buSzPts val="3200"/>
              <a:buFont typeface="Arial" pitchFamily="34" charset="0"/>
              <a:buChar char="•"/>
            </a:pPr>
            <a:r>
              <a:rPr lang="en-US" sz="1600" dirty="0" smtClean="0"/>
              <a:t>AI-Powered Analysis</a:t>
            </a:r>
          </a:p>
          <a:p>
            <a:pPr marL="800100" lvl="1">
              <a:spcBef>
                <a:spcPts val="640"/>
              </a:spcBef>
              <a:buSzPts val="3200"/>
              <a:buFont typeface="Arial" pitchFamily="34" charset="0"/>
              <a:buChar char="•"/>
            </a:pPr>
            <a:r>
              <a:rPr lang="en-US" sz="1600" dirty="0" smtClean="0"/>
              <a:t>Reporting &amp; Documentation</a:t>
            </a:r>
          </a:p>
          <a:p>
            <a:pPr marL="800100" lvl="1">
              <a:spcBef>
                <a:spcPts val="640"/>
              </a:spcBef>
              <a:buSzPts val="3200"/>
              <a:buFont typeface="Arial" pitchFamily="34" charset="0"/>
              <a:buChar char="•"/>
            </a:pPr>
            <a:r>
              <a:rPr lang="en-US" sz="1600" dirty="0" smtClean="0"/>
              <a:t>Consent, Privacy &amp; Data Control</a:t>
            </a:r>
          </a:p>
          <a:p>
            <a:pPr marL="800100" lvl="1">
              <a:spcBef>
                <a:spcPts val="640"/>
              </a:spcBef>
              <a:buSzPts val="3200"/>
              <a:buFont typeface="Arial" pitchFamily="34" charset="0"/>
              <a:buChar char="•"/>
            </a:pPr>
            <a:r>
              <a:rPr lang="en-US" sz="1600" dirty="0" smtClean="0"/>
              <a:t>Administrative &amp; System Management</a:t>
            </a:r>
          </a:p>
          <a:p>
            <a:pPr marL="457200" lvl="1" indent="0">
              <a:spcBef>
                <a:spcPts val="640"/>
              </a:spcBef>
              <a:buSzPts val="3200"/>
              <a:buNone/>
            </a:pPr>
            <a:endParaRPr lang="en-US" sz="1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Requirements</a:t>
            </a:r>
            <a:endParaRPr dirty="0"/>
          </a:p>
        </p:txBody>
      </p:sp>
      <p:sp>
        <p:nvSpPr>
          <p:cNvPr id="140" name="Google Shape;140;p9"/>
          <p:cNvSpPr txBox="1">
            <a:spLocks noGrp="1"/>
          </p:cNvSpPr>
          <p:nvPr>
            <p:ph type="body" idx="1"/>
          </p:nvPr>
        </p:nvSpPr>
        <p:spPr>
          <a:xfrm>
            <a:off x="473826" y="1167938"/>
            <a:ext cx="8229600" cy="4525963"/>
          </a:xfrm>
          <a:prstGeom prst="rect">
            <a:avLst/>
          </a:prstGeom>
          <a:noFill/>
          <a:ln>
            <a:noFill/>
          </a:ln>
        </p:spPr>
        <p:txBody>
          <a:bodyPr spcFirstLastPara="1" wrap="square" lIns="91425" tIns="45700" rIns="91425" bIns="45700" anchor="t" anchorCtr="0">
            <a:noAutofit/>
          </a:bodyPr>
          <a:lstStyle/>
          <a:p>
            <a:pPr marL="0" indent="0">
              <a:spcBef>
                <a:spcPts val="640"/>
              </a:spcBef>
              <a:buSzPts val="3200"/>
              <a:buNone/>
            </a:pPr>
            <a:r>
              <a:rPr lang="en-US" sz="2000" b="1" dirty="0"/>
              <a:t>3.Non_Functional Requirements:</a:t>
            </a:r>
          </a:p>
          <a:p>
            <a:pPr lvl="0"/>
            <a:r>
              <a:rPr lang="en-US" sz="2000" dirty="0"/>
              <a:t>Performance Requirements</a:t>
            </a:r>
          </a:p>
          <a:p>
            <a:pPr lvl="0"/>
            <a:r>
              <a:rPr lang="en-US" sz="2000" dirty="0"/>
              <a:t>Security Requirements</a:t>
            </a:r>
          </a:p>
          <a:p>
            <a:pPr lvl="0"/>
            <a:r>
              <a:rPr lang="en-US" sz="2000" dirty="0"/>
              <a:t>Usability Requirements</a:t>
            </a:r>
          </a:p>
          <a:p>
            <a:pPr lvl="0"/>
            <a:r>
              <a:rPr lang="en-US" sz="2000" dirty="0"/>
              <a:t>Scalability Requirements</a:t>
            </a:r>
            <a:endParaRPr 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Design</a:t>
            </a:r>
            <a:endParaRPr/>
          </a:p>
        </p:txBody>
      </p:sp>
      <p:pic>
        <p:nvPicPr>
          <p:cNvPr id="5" name="Image 16"/>
          <p:cNvPicPr/>
          <p:nvPr/>
        </p:nvPicPr>
        <p:blipFill>
          <a:blip r:embed="rId3" cstate="print"/>
          <a:stretch>
            <a:fillRect/>
          </a:stretch>
        </p:blipFill>
        <p:spPr>
          <a:xfrm>
            <a:off x="2345635" y="1455088"/>
            <a:ext cx="5049078" cy="404721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AF66C2-A3F5-3E1B-1AE5-E16729336FF7}"/>
              </a:ext>
            </a:extLst>
          </p:cNvPr>
          <p:cNvSpPr>
            <a:spLocks noGrp="1"/>
          </p:cNvSpPr>
          <p:nvPr>
            <p:ph type="title"/>
          </p:nvPr>
        </p:nvSpPr>
        <p:spPr/>
        <p:txBody>
          <a:bodyPr/>
          <a:lstStyle/>
          <a:p>
            <a:r>
              <a:rPr lang="en-US" dirty="0"/>
              <a:t>Design</a:t>
            </a:r>
            <a:endParaRPr lang="x-none" dirty="0"/>
          </a:p>
        </p:txBody>
      </p:sp>
      <p:sp>
        <p:nvSpPr>
          <p:cNvPr id="3" name="Text Placeholder 2">
            <a:extLst>
              <a:ext uri="{FF2B5EF4-FFF2-40B4-BE49-F238E27FC236}">
                <a16:creationId xmlns:a16="http://schemas.microsoft.com/office/drawing/2014/main" xmlns="" id="{4A47681B-6E62-328D-A94E-13C67CDCB462}"/>
              </a:ext>
            </a:extLst>
          </p:cNvPr>
          <p:cNvSpPr>
            <a:spLocks noGrp="1"/>
          </p:cNvSpPr>
          <p:nvPr>
            <p:ph type="body" idx="1"/>
          </p:nvPr>
        </p:nvSpPr>
        <p:spPr/>
        <p:txBody>
          <a:bodyPr/>
          <a:lstStyle/>
          <a:p>
            <a:r>
              <a:rPr lang="en-US" dirty="0"/>
              <a:t>ERD DIAGRAM:</a:t>
            </a:r>
          </a:p>
          <a:p>
            <a:endParaRPr lang="x-none" dirty="0"/>
          </a:p>
        </p:txBody>
      </p:sp>
      <p:pic>
        <p:nvPicPr>
          <p:cNvPr id="5" name="Picture 4">
            <a:extLst>
              <a:ext uri="{FF2B5EF4-FFF2-40B4-BE49-F238E27FC236}">
                <a16:creationId xmlns:a16="http://schemas.microsoft.com/office/drawing/2014/main" xmlns="" id="{B198255E-2EE9-E790-0A98-74F6F0AE32C1}"/>
              </a:ext>
            </a:extLst>
          </p:cNvPr>
          <p:cNvPicPr>
            <a:picLocks noChangeAspect="1"/>
          </p:cNvPicPr>
          <p:nvPr/>
        </p:nvPicPr>
        <p:blipFill>
          <a:blip r:embed="rId2"/>
          <a:stretch>
            <a:fillRect/>
          </a:stretch>
        </p:blipFill>
        <p:spPr>
          <a:xfrm>
            <a:off x="1487562" y="2182205"/>
            <a:ext cx="6168876" cy="3703690"/>
          </a:xfrm>
          <a:prstGeom prst="rect">
            <a:avLst/>
          </a:prstGeom>
        </p:spPr>
      </p:pic>
    </p:spTree>
    <p:extLst>
      <p:ext uri="{BB962C8B-B14F-4D97-AF65-F5344CB8AC3E}">
        <p14:creationId xmlns:p14="http://schemas.microsoft.com/office/powerpoint/2010/main" val="31739935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Implementation[1/3]</a:t>
            </a:r>
            <a:endParaRPr dirty="0"/>
          </a:p>
        </p:txBody>
      </p:sp>
      <p:sp>
        <p:nvSpPr>
          <p:cNvPr id="158" name="Google Shape;158;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List Development Tools &amp; Technologies</a:t>
            </a:r>
          </a:p>
          <a:p>
            <a:pPr marL="285750" lvl="0" indent="-285750">
              <a:spcBef>
                <a:spcPts val="640"/>
              </a:spcBef>
              <a:buSzPts val="3200"/>
            </a:pPr>
            <a:r>
              <a:rPr lang="en-US" sz="2000" b="1" dirty="0"/>
              <a:t>Frontend:</a:t>
            </a:r>
            <a:r>
              <a:rPr lang="en-US" sz="2000" dirty="0"/>
              <a:t> </a:t>
            </a:r>
            <a:r>
              <a:rPr lang="en-US" sz="2000" dirty="0" smtClean="0"/>
              <a:t>Flutter</a:t>
            </a:r>
            <a:endParaRPr lang="en-US" sz="2000" dirty="0"/>
          </a:p>
          <a:p>
            <a:pPr marL="285750" lvl="0" indent="-285750">
              <a:spcBef>
                <a:spcPts val="640"/>
              </a:spcBef>
              <a:buSzPts val="3200"/>
            </a:pPr>
            <a:r>
              <a:rPr lang="en-US" sz="2000" b="1" dirty="0"/>
              <a:t>Backend: </a:t>
            </a:r>
            <a:r>
              <a:rPr lang="en-US" sz="2000" dirty="0" smtClean="0"/>
              <a:t>Flutter</a:t>
            </a:r>
            <a:endParaRPr lang="en-US" sz="2000" dirty="0"/>
          </a:p>
          <a:p>
            <a:pPr marL="285750" lvl="0" indent="-285750">
              <a:spcBef>
                <a:spcPts val="640"/>
              </a:spcBef>
              <a:buSzPts val="3200"/>
            </a:pPr>
            <a:r>
              <a:rPr lang="en-US" sz="2000" b="1" dirty="0"/>
              <a:t>Database:</a:t>
            </a:r>
            <a:r>
              <a:rPr lang="en-US" sz="2000" dirty="0"/>
              <a:t> SQL Lite</a:t>
            </a:r>
          </a:p>
          <a:p>
            <a:pPr marL="285750" lvl="0" indent="-285750">
              <a:spcBef>
                <a:spcPts val="640"/>
              </a:spcBef>
              <a:buSzPts val="3200"/>
            </a:pPr>
            <a:r>
              <a:rPr lang="en-US" sz="2000" b="1" dirty="0"/>
              <a:t>Programming Languages:</a:t>
            </a:r>
            <a:r>
              <a:rPr lang="en-US" sz="2000" dirty="0"/>
              <a:t> Python </a:t>
            </a:r>
          </a:p>
          <a:p>
            <a:pPr marL="285750" lvl="0" indent="-285750">
              <a:spcBef>
                <a:spcPts val="640"/>
              </a:spcBef>
              <a:buSzPts val="3200"/>
            </a:pPr>
            <a:r>
              <a:rPr lang="en-US" sz="2000" b="1" dirty="0"/>
              <a:t>Machine Learning:</a:t>
            </a:r>
            <a:r>
              <a:rPr lang="en-US" sz="2000" dirty="0"/>
              <a:t> TensorFlow, OpenCV ,Pandas</a:t>
            </a:r>
          </a:p>
          <a:p>
            <a:pPr marL="285750" lvl="0" indent="-285750">
              <a:spcBef>
                <a:spcPts val="640"/>
              </a:spcBef>
              <a:buSzPts val="3200"/>
            </a:pPr>
            <a:r>
              <a:rPr lang="en-US" sz="2000" b="1" dirty="0"/>
              <a:t>Version Control:</a:t>
            </a:r>
            <a:r>
              <a:rPr lang="en-US" sz="2000" dirty="0"/>
              <a:t> GitHub (for collaboration version control and automation).</a:t>
            </a:r>
          </a:p>
          <a:p>
            <a:pPr marL="342900" lvl="0" indent="-342900" algn="l" rtl="0">
              <a:lnSpc>
                <a:spcPct val="100000"/>
              </a:lnSpc>
              <a:spcBef>
                <a:spcPts val="0"/>
              </a:spcBef>
              <a:spcAft>
                <a:spcPts val="0"/>
              </a:spcAft>
              <a:buClr>
                <a:schemeClr val="dk1"/>
              </a:buClr>
              <a:buSzPts val="3200"/>
              <a:buChar char="•"/>
            </a:pPr>
            <a:endParaRPr lang="en-US" dirty="0"/>
          </a:p>
          <a:p>
            <a:pPr marL="342900" lvl="0" indent="-342900" algn="l" rtl="0">
              <a:lnSpc>
                <a:spcPct val="100000"/>
              </a:lnSpc>
              <a:spcBef>
                <a:spcPts val="0"/>
              </a:spcBef>
              <a:spcAft>
                <a:spcPts val="0"/>
              </a:spcAft>
              <a:buClr>
                <a:schemeClr val="dk1"/>
              </a:buClr>
              <a:buSzPts val="3200"/>
              <a:buChar char="•"/>
            </a:pPr>
            <a:endParaRPr lang="en-US" dirty="0"/>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xmlns="" id="{549862EF-C068-D0CB-8297-1D53736820FD}"/>
            </a:ext>
          </a:extLst>
        </p:cNvPr>
        <p:cNvGrpSpPr/>
        <p:nvPr/>
      </p:nvGrpSpPr>
      <p:grpSpPr>
        <a:xfrm>
          <a:off x="0" y="0"/>
          <a:ext cx="0" cy="0"/>
          <a:chOff x="0" y="0"/>
          <a:chExt cx="0" cy="0"/>
        </a:xfrm>
      </p:grpSpPr>
      <p:sp>
        <p:nvSpPr>
          <p:cNvPr id="157" name="Google Shape;157;p12">
            <a:extLst>
              <a:ext uri="{FF2B5EF4-FFF2-40B4-BE49-F238E27FC236}">
                <a16:creationId xmlns:a16="http://schemas.microsoft.com/office/drawing/2014/main" xmlns="" id="{89A0152A-A282-2C8E-109A-471E21A21964}"/>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Implementation[2/3]</a:t>
            </a:r>
            <a:endParaRPr dirty="0"/>
          </a:p>
        </p:txBody>
      </p:sp>
      <p:sp>
        <p:nvSpPr>
          <p:cNvPr id="158" name="Google Shape;158;p12">
            <a:extLst>
              <a:ext uri="{FF2B5EF4-FFF2-40B4-BE49-F238E27FC236}">
                <a16:creationId xmlns:a16="http://schemas.microsoft.com/office/drawing/2014/main" xmlns="" id="{57217677-35C0-1AC0-37E7-3C4EACE0FD2C}"/>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a:spcBef>
                <a:spcPts val="640"/>
              </a:spcBef>
              <a:buSzPts val="3200"/>
            </a:pPr>
            <a:r>
              <a:rPr lang="en-US" dirty="0"/>
              <a:t>List Libraries / Components / Web Services</a:t>
            </a:r>
          </a:p>
          <a:p>
            <a:pPr marL="114300" indent="0">
              <a:buNone/>
            </a:pPr>
            <a:r>
              <a:rPr lang="en-US" sz="2000" b="1" dirty="0"/>
              <a:t>Frontend</a:t>
            </a:r>
          </a:p>
          <a:p>
            <a:r>
              <a:rPr lang="en-US" sz="2000" b="1" dirty="0"/>
              <a:t> </a:t>
            </a:r>
            <a:r>
              <a:rPr lang="en-US" sz="2000" b="1" dirty="0" smtClean="0"/>
              <a:t>Flutter</a:t>
            </a:r>
            <a:endParaRPr lang="en-US" sz="2000" b="1" dirty="0"/>
          </a:p>
          <a:p>
            <a:pPr marL="114300" indent="0">
              <a:buNone/>
            </a:pPr>
            <a:r>
              <a:rPr lang="en-US" sz="2000" b="1" dirty="0"/>
              <a:t>Backend </a:t>
            </a:r>
          </a:p>
          <a:p>
            <a:r>
              <a:rPr lang="en-US" sz="2000" b="1" dirty="0" smtClean="0"/>
              <a:t>Flutter</a:t>
            </a:r>
            <a:endParaRPr lang="en-US" sz="2000" dirty="0"/>
          </a:p>
          <a:p>
            <a:r>
              <a:rPr lang="en-US" sz="2000" b="1" dirty="0"/>
              <a:t>SQL Lite</a:t>
            </a:r>
            <a:endParaRPr lang="en-US" sz="2000" dirty="0"/>
          </a:p>
          <a:p>
            <a:r>
              <a:rPr lang="en-US" sz="2000" b="1" dirty="0"/>
              <a:t>Python</a:t>
            </a:r>
            <a:endParaRPr lang="en-US" sz="2000" dirty="0"/>
          </a:p>
          <a:p>
            <a:pPr indent="-457200">
              <a:spcBef>
                <a:spcPts val="640"/>
              </a:spcBef>
              <a:buSzPts val="3200"/>
            </a:pPr>
            <a:endParaRPr dirty="0"/>
          </a:p>
        </p:txBody>
      </p:sp>
    </p:spTree>
    <p:extLst>
      <p:ext uri="{BB962C8B-B14F-4D97-AF65-F5344CB8AC3E}">
        <p14:creationId xmlns:p14="http://schemas.microsoft.com/office/powerpoint/2010/main" val="34484923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xmlns="" id="{86C7FBB8-4997-9C9B-BD7C-DA2FA579C0E6}"/>
            </a:ext>
          </a:extLst>
        </p:cNvPr>
        <p:cNvGrpSpPr/>
        <p:nvPr/>
      </p:nvGrpSpPr>
      <p:grpSpPr>
        <a:xfrm>
          <a:off x="0" y="0"/>
          <a:ext cx="0" cy="0"/>
          <a:chOff x="0" y="0"/>
          <a:chExt cx="0" cy="0"/>
        </a:xfrm>
      </p:grpSpPr>
      <p:sp>
        <p:nvSpPr>
          <p:cNvPr id="157" name="Google Shape;157;p12">
            <a:extLst>
              <a:ext uri="{FF2B5EF4-FFF2-40B4-BE49-F238E27FC236}">
                <a16:creationId xmlns:a16="http://schemas.microsoft.com/office/drawing/2014/main" xmlns="" id="{EEB6C00E-2AC6-DC56-E625-944D2E0F782F}"/>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Implementation[3/3]</a:t>
            </a:r>
            <a:endParaRPr dirty="0"/>
          </a:p>
        </p:txBody>
      </p:sp>
      <p:sp>
        <p:nvSpPr>
          <p:cNvPr id="158" name="Google Shape;158;p12">
            <a:extLst>
              <a:ext uri="{FF2B5EF4-FFF2-40B4-BE49-F238E27FC236}">
                <a16:creationId xmlns:a16="http://schemas.microsoft.com/office/drawing/2014/main" xmlns="" id="{AD635374-1BCB-824A-E83B-78E45311BFF3}"/>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Machine Learning Libraries:</a:t>
            </a:r>
            <a:endParaRPr lang="en-US" sz="2000" dirty="0"/>
          </a:p>
          <a:p>
            <a:r>
              <a:rPr lang="en-US" sz="2000" b="1" dirty="0"/>
              <a:t>TensorFlow</a:t>
            </a:r>
            <a:endParaRPr lang="en-US" sz="2000" dirty="0"/>
          </a:p>
          <a:p>
            <a:r>
              <a:rPr lang="en-US" sz="2000" b="1" dirty="0"/>
              <a:t>OpenCV</a:t>
            </a:r>
            <a:endParaRPr lang="en-US" sz="2000" dirty="0"/>
          </a:p>
          <a:p>
            <a:r>
              <a:rPr lang="en-US" sz="2000" b="1" dirty="0"/>
              <a:t>Pandas </a:t>
            </a:r>
          </a:p>
          <a:p>
            <a:r>
              <a:rPr lang="en-US" sz="2000" b="1" dirty="0" err="1"/>
              <a:t>Numpy</a:t>
            </a:r>
            <a:endParaRPr lang="en-US" sz="2000" b="1" dirty="0"/>
          </a:p>
          <a:p>
            <a:r>
              <a:rPr lang="en-US" sz="2000" b="1" dirty="0" err="1"/>
              <a:t>ImageDataGenerator</a:t>
            </a:r>
            <a:endParaRPr lang="en-US" sz="2000" b="1" dirty="0"/>
          </a:p>
          <a:p>
            <a:pPr indent="-457200">
              <a:spcBef>
                <a:spcPts val="640"/>
              </a:spcBef>
              <a:buSzPts val="3200"/>
            </a:pPr>
            <a:endParaRPr dirty="0"/>
          </a:p>
        </p:txBody>
      </p:sp>
    </p:spTree>
    <p:extLst>
      <p:ext uri="{BB962C8B-B14F-4D97-AF65-F5344CB8AC3E}">
        <p14:creationId xmlns:p14="http://schemas.microsoft.com/office/powerpoint/2010/main" val="6504392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Testing[1/7]</a:t>
            </a:r>
            <a:endParaRPr lang="en-US" dirty="0"/>
          </a:p>
        </p:txBody>
      </p:sp>
      <p:sp>
        <p:nvSpPr>
          <p:cNvPr id="3" name="Text Placeholder 2"/>
          <p:cNvSpPr>
            <a:spLocks noGrp="1"/>
          </p:cNvSpPr>
          <p:nvPr>
            <p:ph type="body" idx="1"/>
          </p:nvPr>
        </p:nvSpPr>
        <p:spPr/>
        <p:txBody>
          <a:bodyPr/>
          <a:lstStyle/>
          <a:p>
            <a:r>
              <a:rPr lang="en-US" dirty="0" smtClean="0"/>
              <a:t>Testing Results on Various Models</a:t>
            </a:r>
          </a:p>
          <a:p>
            <a:pPr marL="114300" indent="0">
              <a:buNone/>
            </a:pPr>
            <a:r>
              <a:rPr lang="en-US" sz="2400" b="1" dirty="0" smtClean="0"/>
              <a:t>EfficientNetB5</a:t>
            </a:r>
            <a:r>
              <a:rPr lang="en-US" sz="2400" dirty="0" smtClean="0"/>
              <a:t> </a:t>
            </a:r>
            <a:r>
              <a:rPr lang="en-US" sz="2400" dirty="0"/>
              <a:t>Model Performance (</a:t>
            </a:r>
            <a:r>
              <a:rPr lang="en-US" sz="2400" dirty="0" err="1"/>
              <a:t>OverSample</a:t>
            </a:r>
            <a:r>
              <a:rPr lang="en-US" sz="2400"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17251291"/>
              </p:ext>
            </p:extLst>
          </p:nvPr>
        </p:nvGraphicFramePr>
        <p:xfrm>
          <a:off x="2246865" y="2770493"/>
          <a:ext cx="4320914" cy="2841906"/>
        </p:xfrm>
        <a:graphic>
          <a:graphicData uri="http://schemas.openxmlformats.org/drawingml/2006/table">
            <a:tbl>
              <a:tblPr firstRow="1" firstCol="1" lastRow="1" lastCol="1" bandRow="1" bandCol="1">
                <a:tableStyleId>{5C22544A-7EE6-4342-B048-85BDC9FD1C3A}</a:tableStyleId>
              </a:tblPr>
              <a:tblGrid>
                <a:gridCol w="1079061"/>
                <a:gridCol w="838750"/>
                <a:gridCol w="795152"/>
                <a:gridCol w="785290"/>
                <a:gridCol w="822661"/>
              </a:tblGrid>
              <a:tr h="221704">
                <a:tc>
                  <a:txBody>
                    <a:bodyPr/>
                    <a:lstStyle/>
                    <a:p>
                      <a:pPr marL="73025" marR="0">
                        <a:spcBef>
                          <a:spcPts val="10"/>
                        </a:spcBef>
                        <a:spcAft>
                          <a:spcPts val="0"/>
                        </a:spcAft>
                      </a:pPr>
                      <a:r>
                        <a:rPr lang="en-US" sz="1400" spc="-10" dirty="0">
                          <a:effectLst/>
                        </a:rPr>
                        <a:t>Class</a:t>
                      </a:r>
                      <a:endParaRPr lang="en-US" sz="1100" dirty="0">
                        <a:effectLst/>
                        <a:latin typeface="Calibri"/>
                        <a:ea typeface="Calibri"/>
                        <a:cs typeface="Times New Roman"/>
                      </a:endParaRPr>
                    </a:p>
                  </a:txBody>
                  <a:tcPr marL="0" marR="0" marT="0" marB="0"/>
                </a:tc>
                <a:tc>
                  <a:txBody>
                    <a:bodyPr/>
                    <a:lstStyle/>
                    <a:p>
                      <a:pPr marL="69850" marR="0">
                        <a:spcBef>
                          <a:spcPts val="10"/>
                        </a:spcBef>
                        <a:spcAft>
                          <a:spcPts val="0"/>
                        </a:spcAft>
                      </a:pPr>
                      <a:r>
                        <a:rPr lang="en-US" sz="1400" spc="-10">
                          <a:effectLst/>
                        </a:rPr>
                        <a:t>Precision</a:t>
                      </a:r>
                      <a:endParaRPr lang="en-US" sz="1100">
                        <a:effectLst/>
                        <a:latin typeface="Calibri"/>
                        <a:ea typeface="Calibri"/>
                        <a:cs typeface="Times New Roman"/>
                      </a:endParaRPr>
                    </a:p>
                  </a:txBody>
                  <a:tcPr marL="0" marR="0" marT="0" marB="0"/>
                </a:tc>
                <a:tc>
                  <a:txBody>
                    <a:bodyPr/>
                    <a:lstStyle/>
                    <a:p>
                      <a:pPr marL="72390" marR="0">
                        <a:spcBef>
                          <a:spcPts val="10"/>
                        </a:spcBef>
                        <a:spcAft>
                          <a:spcPts val="0"/>
                        </a:spcAft>
                      </a:pPr>
                      <a:r>
                        <a:rPr lang="en-US" sz="1400" spc="-10" dirty="0">
                          <a:effectLst/>
                        </a:rPr>
                        <a:t>Recall</a:t>
                      </a:r>
                      <a:endParaRPr lang="en-US" sz="1100" dirty="0">
                        <a:effectLst/>
                        <a:latin typeface="Calibri"/>
                        <a:ea typeface="Calibri"/>
                        <a:cs typeface="Times New Roman"/>
                      </a:endParaRPr>
                    </a:p>
                  </a:txBody>
                  <a:tcPr marL="0" marR="0" marT="0" marB="0"/>
                </a:tc>
                <a:tc>
                  <a:txBody>
                    <a:bodyPr/>
                    <a:lstStyle/>
                    <a:p>
                      <a:pPr marL="70485" marR="0">
                        <a:spcBef>
                          <a:spcPts val="10"/>
                        </a:spcBef>
                        <a:spcAft>
                          <a:spcPts val="0"/>
                        </a:spcAft>
                      </a:pPr>
                      <a:r>
                        <a:rPr lang="en-US" sz="1400" spc="-20">
                          <a:effectLst/>
                        </a:rPr>
                        <a:t>F1-</a:t>
                      </a:r>
                      <a:r>
                        <a:rPr lang="en-US" sz="1400" spc="-10">
                          <a:effectLst/>
                        </a:rPr>
                        <a:t>Score</a:t>
                      </a:r>
                      <a:endParaRPr lang="en-US" sz="1100">
                        <a:effectLst/>
                        <a:latin typeface="Calibri"/>
                        <a:ea typeface="Calibri"/>
                        <a:cs typeface="Times New Roman"/>
                      </a:endParaRPr>
                    </a:p>
                  </a:txBody>
                  <a:tcPr marL="0" marR="0" marT="0" marB="0"/>
                </a:tc>
                <a:tc>
                  <a:txBody>
                    <a:bodyPr/>
                    <a:lstStyle/>
                    <a:p>
                      <a:pPr marL="70485" marR="0">
                        <a:spcBef>
                          <a:spcPts val="10"/>
                        </a:spcBef>
                        <a:spcAft>
                          <a:spcPts val="0"/>
                        </a:spcAft>
                      </a:pPr>
                      <a:r>
                        <a:rPr lang="en-US" sz="1400" spc="-10" dirty="0">
                          <a:effectLst/>
                        </a:rPr>
                        <a:t>Support</a:t>
                      </a:r>
                      <a:endParaRPr lang="en-US" sz="1100" dirty="0">
                        <a:effectLst/>
                        <a:latin typeface="Calibri"/>
                        <a:ea typeface="Calibri"/>
                        <a:cs typeface="Times New Roman"/>
                      </a:endParaRPr>
                    </a:p>
                  </a:txBody>
                  <a:tcPr marL="0" marR="0" marT="0" marB="0"/>
                </a:tc>
              </a:tr>
              <a:tr h="220330">
                <a:tc>
                  <a:txBody>
                    <a:bodyPr/>
                    <a:lstStyle/>
                    <a:p>
                      <a:pPr marL="73025" marR="0">
                        <a:spcBef>
                          <a:spcPts val="0"/>
                        </a:spcBef>
                        <a:spcAft>
                          <a:spcPts val="0"/>
                        </a:spcAft>
                      </a:pPr>
                      <a:r>
                        <a:rPr lang="en-US" sz="1400" spc="-10">
                          <a:effectLst/>
                        </a:rPr>
                        <a:t>akiec</a:t>
                      </a:r>
                      <a:endParaRPr lang="en-US" sz="1100">
                        <a:effectLst/>
                        <a:latin typeface="Calibri"/>
                        <a:ea typeface="Calibri"/>
                        <a:cs typeface="Times New Roman"/>
                      </a:endParaRPr>
                    </a:p>
                  </a:txBody>
                  <a:tcPr marL="0" marR="0" marT="0" marB="0"/>
                </a:tc>
                <a:tc>
                  <a:txBody>
                    <a:bodyPr/>
                    <a:lstStyle/>
                    <a:p>
                      <a:pPr marL="69850" marR="0">
                        <a:spcBef>
                          <a:spcPts val="55"/>
                        </a:spcBef>
                        <a:spcAft>
                          <a:spcPts val="0"/>
                        </a:spcAft>
                      </a:pPr>
                      <a:r>
                        <a:rPr lang="en-US" sz="1200" spc="-20" dirty="0">
                          <a:solidFill>
                            <a:schemeClr val="bg1"/>
                          </a:solidFill>
                          <a:effectLst/>
                        </a:rPr>
                        <a:t>0.73</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55"/>
                        </a:spcBef>
                        <a:spcAft>
                          <a:spcPts val="0"/>
                        </a:spcAft>
                      </a:pPr>
                      <a:r>
                        <a:rPr lang="en-US" sz="1200" spc="-20">
                          <a:solidFill>
                            <a:schemeClr val="bg1"/>
                          </a:solidFill>
                          <a:effectLst/>
                        </a:rPr>
                        <a:t>0.69</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55"/>
                        </a:spcBef>
                        <a:spcAft>
                          <a:spcPts val="0"/>
                        </a:spcAft>
                      </a:pPr>
                      <a:r>
                        <a:rPr lang="en-US" sz="1200" spc="-20">
                          <a:solidFill>
                            <a:schemeClr val="bg1"/>
                          </a:solidFill>
                          <a:effectLst/>
                        </a:rPr>
                        <a:t>0.71</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55"/>
                        </a:spcBef>
                        <a:spcAft>
                          <a:spcPts val="0"/>
                        </a:spcAft>
                      </a:pPr>
                      <a:r>
                        <a:rPr lang="en-US" sz="1200" spc="-25">
                          <a:effectLst/>
                        </a:rPr>
                        <a:t>65</a:t>
                      </a:r>
                      <a:endParaRPr lang="en-US" sz="1100">
                        <a:effectLst/>
                        <a:latin typeface="Calibri"/>
                        <a:ea typeface="Calibri"/>
                        <a:cs typeface="Times New Roman"/>
                      </a:endParaRPr>
                    </a:p>
                  </a:txBody>
                  <a:tcPr marL="0" marR="0" marT="0" marB="0"/>
                </a:tc>
              </a:tr>
              <a:tr h="221704">
                <a:tc>
                  <a:txBody>
                    <a:bodyPr/>
                    <a:lstStyle/>
                    <a:p>
                      <a:pPr marL="73025" marR="0">
                        <a:spcBef>
                          <a:spcPts val="0"/>
                        </a:spcBef>
                        <a:spcAft>
                          <a:spcPts val="0"/>
                        </a:spcAft>
                      </a:pPr>
                      <a:r>
                        <a:rPr lang="en-US" sz="1400" spc="-25">
                          <a:effectLst/>
                        </a:rPr>
                        <a:t>bcc</a:t>
                      </a:r>
                      <a:endParaRPr lang="en-US" sz="1100">
                        <a:effectLst/>
                        <a:latin typeface="Calibri"/>
                        <a:ea typeface="Calibri"/>
                        <a:cs typeface="Times New Roman"/>
                      </a:endParaRPr>
                    </a:p>
                  </a:txBody>
                  <a:tcPr marL="0" marR="0" marT="0" marB="0"/>
                </a:tc>
                <a:tc>
                  <a:txBody>
                    <a:bodyPr/>
                    <a:lstStyle/>
                    <a:p>
                      <a:pPr marL="69850" marR="0">
                        <a:spcBef>
                          <a:spcPts val="75"/>
                        </a:spcBef>
                        <a:spcAft>
                          <a:spcPts val="0"/>
                        </a:spcAft>
                      </a:pPr>
                      <a:r>
                        <a:rPr lang="en-US" sz="1200" spc="-20" dirty="0">
                          <a:solidFill>
                            <a:schemeClr val="bg1"/>
                          </a:solidFill>
                          <a:effectLst/>
                        </a:rPr>
                        <a:t>0.90</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75"/>
                        </a:spcBef>
                        <a:spcAft>
                          <a:spcPts val="0"/>
                        </a:spcAft>
                      </a:pPr>
                      <a:r>
                        <a:rPr lang="en-US" sz="1200" spc="-20" dirty="0">
                          <a:solidFill>
                            <a:schemeClr val="bg1"/>
                          </a:solidFill>
                          <a:effectLst/>
                        </a:rPr>
                        <a:t>0.76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a:solidFill>
                            <a:schemeClr val="bg1"/>
                          </a:solidFill>
                          <a:effectLst/>
                        </a:rPr>
                        <a:t>0.82</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5">
                          <a:effectLst/>
                        </a:rPr>
                        <a:t>103</a:t>
                      </a:r>
                      <a:endParaRPr lang="en-US" sz="1100">
                        <a:effectLst/>
                        <a:latin typeface="Calibri"/>
                        <a:ea typeface="Calibri"/>
                        <a:cs typeface="Times New Roman"/>
                      </a:endParaRPr>
                    </a:p>
                  </a:txBody>
                  <a:tcPr marL="0" marR="0" marT="0" marB="0"/>
                </a:tc>
              </a:tr>
              <a:tr h="220788">
                <a:tc>
                  <a:txBody>
                    <a:bodyPr/>
                    <a:lstStyle/>
                    <a:p>
                      <a:pPr marL="73025" marR="0">
                        <a:spcBef>
                          <a:spcPts val="0"/>
                        </a:spcBef>
                        <a:spcAft>
                          <a:spcPts val="0"/>
                        </a:spcAft>
                      </a:pPr>
                      <a:r>
                        <a:rPr lang="en-US" sz="1400" spc="-25">
                          <a:effectLst/>
                        </a:rPr>
                        <a:t>bkl</a:t>
                      </a:r>
                      <a:endParaRPr lang="en-US" sz="1100">
                        <a:effectLst/>
                        <a:latin typeface="Calibri"/>
                        <a:ea typeface="Calibri"/>
                        <a:cs typeface="Times New Roman"/>
                      </a:endParaRPr>
                    </a:p>
                  </a:txBody>
                  <a:tcPr marL="0" marR="0" marT="0" marB="0"/>
                </a:tc>
                <a:tc>
                  <a:txBody>
                    <a:bodyPr/>
                    <a:lstStyle/>
                    <a:p>
                      <a:pPr marL="69850" marR="0">
                        <a:spcBef>
                          <a:spcPts val="75"/>
                        </a:spcBef>
                        <a:spcAft>
                          <a:spcPts val="0"/>
                        </a:spcAft>
                      </a:pPr>
                      <a:r>
                        <a:rPr lang="en-US" sz="1200" spc="-20" dirty="0">
                          <a:solidFill>
                            <a:schemeClr val="bg1"/>
                          </a:solidFill>
                          <a:effectLst/>
                        </a:rPr>
                        <a:t>0.68</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75"/>
                        </a:spcBef>
                        <a:spcAft>
                          <a:spcPts val="0"/>
                        </a:spcAft>
                      </a:pPr>
                      <a:r>
                        <a:rPr lang="en-US" sz="1200" spc="-20" dirty="0">
                          <a:solidFill>
                            <a:schemeClr val="bg1"/>
                          </a:solidFill>
                          <a:effectLst/>
                        </a:rPr>
                        <a:t>0.73</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a:solidFill>
                            <a:schemeClr val="bg1"/>
                          </a:solidFill>
                          <a:effectLst/>
                        </a:rPr>
                        <a:t>0.70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5">
                          <a:effectLst/>
                        </a:rPr>
                        <a:t>220</a:t>
                      </a:r>
                      <a:endParaRPr lang="en-US" sz="1100">
                        <a:effectLst/>
                        <a:latin typeface="Calibri"/>
                        <a:ea typeface="Calibri"/>
                        <a:cs typeface="Times New Roman"/>
                      </a:endParaRPr>
                    </a:p>
                  </a:txBody>
                  <a:tcPr marL="0" marR="0" marT="0" marB="0"/>
                </a:tc>
              </a:tr>
              <a:tr h="220330">
                <a:tc>
                  <a:txBody>
                    <a:bodyPr/>
                    <a:lstStyle/>
                    <a:p>
                      <a:pPr marL="73025" marR="0">
                        <a:spcBef>
                          <a:spcPts val="0"/>
                        </a:spcBef>
                        <a:spcAft>
                          <a:spcPts val="0"/>
                        </a:spcAft>
                      </a:pPr>
                      <a:r>
                        <a:rPr lang="en-US" sz="1400" spc="-25">
                          <a:effectLst/>
                        </a:rPr>
                        <a:t>df</a:t>
                      </a:r>
                      <a:endParaRPr lang="en-US" sz="1100">
                        <a:effectLst/>
                        <a:latin typeface="Calibri"/>
                        <a:ea typeface="Calibri"/>
                        <a:cs typeface="Times New Roman"/>
                      </a:endParaRPr>
                    </a:p>
                  </a:txBody>
                  <a:tcPr marL="0" marR="0" marT="0" marB="0"/>
                </a:tc>
                <a:tc>
                  <a:txBody>
                    <a:bodyPr/>
                    <a:lstStyle/>
                    <a:p>
                      <a:pPr marL="69850" marR="0">
                        <a:spcBef>
                          <a:spcPts val="75"/>
                        </a:spcBef>
                        <a:spcAft>
                          <a:spcPts val="0"/>
                        </a:spcAft>
                      </a:pPr>
                      <a:r>
                        <a:rPr lang="en-US" sz="1200" spc="-20" dirty="0">
                          <a:solidFill>
                            <a:schemeClr val="bg1"/>
                          </a:solidFill>
                          <a:effectLst/>
                        </a:rPr>
                        <a:t>0.83</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75"/>
                        </a:spcBef>
                        <a:spcAft>
                          <a:spcPts val="0"/>
                        </a:spcAft>
                      </a:pPr>
                      <a:r>
                        <a:rPr lang="en-US" sz="1200" spc="-20" dirty="0">
                          <a:solidFill>
                            <a:schemeClr val="bg1"/>
                          </a:solidFill>
                          <a:effectLst/>
                        </a:rPr>
                        <a:t>0.68</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a:solidFill>
                            <a:schemeClr val="bg1"/>
                          </a:solidFill>
                          <a:effectLst/>
                        </a:rPr>
                        <a:t>0.75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5">
                          <a:effectLst/>
                        </a:rPr>
                        <a:t>22</a:t>
                      </a:r>
                      <a:endParaRPr lang="en-US" sz="1100">
                        <a:effectLst/>
                        <a:latin typeface="Calibri"/>
                        <a:ea typeface="Calibri"/>
                        <a:cs typeface="Times New Roman"/>
                      </a:endParaRPr>
                    </a:p>
                  </a:txBody>
                  <a:tcPr marL="0" marR="0" marT="0" marB="0"/>
                </a:tc>
              </a:tr>
              <a:tr h="221704">
                <a:tc>
                  <a:txBody>
                    <a:bodyPr/>
                    <a:lstStyle/>
                    <a:p>
                      <a:pPr marL="73025" marR="0">
                        <a:spcBef>
                          <a:spcPts val="10"/>
                        </a:spcBef>
                        <a:spcAft>
                          <a:spcPts val="0"/>
                        </a:spcAft>
                      </a:pPr>
                      <a:r>
                        <a:rPr lang="en-US" sz="1400" spc="-25">
                          <a:effectLst/>
                        </a:rPr>
                        <a:t>mel</a:t>
                      </a:r>
                      <a:endParaRPr lang="en-US" sz="1100">
                        <a:effectLst/>
                        <a:latin typeface="Calibri"/>
                        <a:ea typeface="Calibri"/>
                        <a:cs typeface="Times New Roman"/>
                      </a:endParaRPr>
                    </a:p>
                  </a:txBody>
                  <a:tcPr marL="0" marR="0" marT="0" marB="0"/>
                </a:tc>
                <a:tc>
                  <a:txBody>
                    <a:bodyPr/>
                    <a:lstStyle/>
                    <a:p>
                      <a:pPr marL="69850" marR="0">
                        <a:spcBef>
                          <a:spcPts val="90"/>
                        </a:spcBef>
                        <a:spcAft>
                          <a:spcPts val="0"/>
                        </a:spcAft>
                      </a:pPr>
                      <a:r>
                        <a:rPr lang="en-US" sz="1200" spc="-20">
                          <a:solidFill>
                            <a:schemeClr val="bg1"/>
                          </a:solidFill>
                          <a:effectLst/>
                        </a:rPr>
                        <a:t>0.55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90"/>
                        </a:spcBef>
                        <a:spcAft>
                          <a:spcPts val="0"/>
                        </a:spcAft>
                      </a:pPr>
                      <a:r>
                        <a:rPr lang="en-US" sz="1200" spc="-20" dirty="0">
                          <a:solidFill>
                            <a:schemeClr val="bg1"/>
                          </a:solidFill>
                          <a:effectLst/>
                        </a:rPr>
                        <a:t>0.64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90"/>
                        </a:spcBef>
                        <a:spcAft>
                          <a:spcPts val="0"/>
                        </a:spcAft>
                      </a:pPr>
                      <a:r>
                        <a:rPr lang="en-US" sz="1200" spc="-20" dirty="0">
                          <a:solidFill>
                            <a:schemeClr val="bg1"/>
                          </a:solidFill>
                          <a:effectLst/>
                        </a:rPr>
                        <a:t>0.59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90"/>
                        </a:spcBef>
                        <a:spcAft>
                          <a:spcPts val="0"/>
                        </a:spcAft>
                      </a:pPr>
                      <a:r>
                        <a:rPr lang="en-US" sz="1200" spc="-25">
                          <a:effectLst/>
                        </a:rPr>
                        <a:t>223</a:t>
                      </a:r>
                      <a:endParaRPr lang="en-US" sz="1100">
                        <a:effectLst/>
                        <a:latin typeface="Calibri"/>
                        <a:ea typeface="Calibri"/>
                        <a:cs typeface="Times New Roman"/>
                      </a:endParaRPr>
                    </a:p>
                  </a:txBody>
                  <a:tcPr marL="0" marR="0" marT="0" marB="0"/>
                </a:tc>
              </a:tr>
              <a:tr h="220788">
                <a:tc>
                  <a:txBody>
                    <a:bodyPr/>
                    <a:lstStyle/>
                    <a:p>
                      <a:pPr marL="73025" marR="0">
                        <a:spcBef>
                          <a:spcPts val="0"/>
                        </a:spcBef>
                        <a:spcAft>
                          <a:spcPts val="0"/>
                        </a:spcAft>
                      </a:pPr>
                      <a:r>
                        <a:rPr lang="en-US" sz="1400" spc="-25">
                          <a:effectLst/>
                        </a:rPr>
                        <a:t>nv</a:t>
                      </a:r>
                      <a:endParaRPr lang="en-US" sz="1100">
                        <a:effectLst/>
                        <a:latin typeface="Calibri"/>
                        <a:ea typeface="Calibri"/>
                        <a:cs typeface="Times New Roman"/>
                      </a:endParaRPr>
                    </a:p>
                  </a:txBody>
                  <a:tcPr marL="0" marR="0" marT="0" marB="0"/>
                </a:tc>
                <a:tc>
                  <a:txBody>
                    <a:bodyPr/>
                    <a:lstStyle/>
                    <a:p>
                      <a:pPr marL="69850" marR="0">
                        <a:spcBef>
                          <a:spcPts val="75"/>
                        </a:spcBef>
                        <a:spcAft>
                          <a:spcPts val="0"/>
                        </a:spcAft>
                      </a:pPr>
                      <a:r>
                        <a:rPr lang="en-US" sz="1200" spc="-20">
                          <a:solidFill>
                            <a:schemeClr val="bg1"/>
                          </a:solidFill>
                          <a:effectLst/>
                        </a:rPr>
                        <a:t>0.93</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75"/>
                        </a:spcBef>
                        <a:spcAft>
                          <a:spcPts val="0"/>
                        </a:spcAft>
                      </a:pPr>
                      <a:r>
                        <a:rPr lang="en-US" sz="1200" spc="-20" dirty="0">
                          <a:solidFill>
                            <a:schemeClr val="bg1"/>
                          </a:solidFill>
                          <a:effectLst/>
                        </a:rPr>
                        <a:t>0.91</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dirty="0">
                          <a:solidFill>
                            <a:schemeClr val="bg1"/>
                          </a:solidFill>
                          <a:effectLst/>
                        </a:rPr>
                        <a:t>0.92</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a:effectLst/>
                        </a:rPr>
                        <a:t>1342</a:t>
                      </a:r>
                      <a:endParaRPr lang="en-US" sz="1100">
                        <a:effectLst/>
                        <a:latin typeface="Calibri"/>
                        <a:ea typeface="Calibri"/>
                        <a:cs typeface="Times New Roman"/>
                      </a:endParaRPr>
                    </a:p>
                  </a:txBody>
                  <a:tcPr marL="0" marR="0" marT="0" marB="0"/>
                </a:tc>
              </a:tr>
              <a:tr h="221704">
                <a:tc>
                  <a:txBody>
                    <a:bodyPr/>
                    <a:lstStyle/>
                    <a:p>
                      <a:pPr marL="73025" marR="0">
                        <a:spcBef>
                          <a:spcPts val="0"/>
                        </a:spcBef>
                        <a:spcAft>
                          <a:spcPts val="0"/>
                        </a:spcAft>
                      </a:pPr>
                      <a:r>
                        <a:rPr lang="en-US" sz="1400" spc="-20">
                          <a:effectLst/>
                        </a:rPr>
                        <a:t>vasc</a:t>
                      </a:r>
                      <a:endParaRPr lang="en-US" sz="1100">
                        <a:effectLst/>
                        <a:latin typeface="Calibri"/>
                        <a:ea typeface="Calibri"/>
                        <a:cs typeface="Times New Roman"/>
                      </a:endParaRPr>
                    </a:p>
                  </a:txBody>
                  <a:tcPr marL="0" marR="0" marT="0" marB="0"/>
                </a:tc>
                <a:tc>
                  <a:txBody>
                    <a:bodyPr/>
                    <a:lstStyle/>
                    <a:p>
                      <a:pPr marL="69850" marR="0">
                        <a:spcBef>
                          <a:spcPts val="55"/>
                        </a:spcBef>
                        <a:spcAft>
                          <a:spcPts val="0"/>
                        </a:spcAft>
                      </a:pPr>
                      <a:r>
                        <a:rPr lang="en-US" sz="1200" spc="-20">
                          <a:solidFill>
                            <a:schemeClr val="bg1"/>
                          </a:solidFill>
                          <a:effectLst/>
                        </a:rPr>
                        <a:t>0.89</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55"/>
                        </a:spcBef>
                        <a:spcAft>
                          <a:spcPts val="0"/>
                        </a:spcAft>
                      </a:pPr>
                      <a:r>
                        <a:rPr lang="en-US" sz="1200" spc="-20">
                          <a:solidFill>
                            <a:schemeClr val="bg1"/>
                          </a:solidFill>
                          <a:effectLst/>
                        </a:rPr>
                        <a:t>0.83</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55"/>
                        </a:spcBef>
                        <a:spcAft>
                          <a:spcPts val="0"/>
                        </a:spcAft>
                      </a:pPr>
                      <a:r>
                        <a:rPr lang="en-US" sz="1200" spc="-20" dirty="0">
                          <a:solidFill>
                            <a:schemeClr val="bg1"/>
                          </a:solidFill>
                          <a:effectLst/>
                        </a:rPr>
                        <a:t>0.86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55"/>
                        </a:spcBef>
                        <a:spcAft>
                          <a:spcPts val="0"/>
                        </a:spcAft>
                      </a:pPr>
                      <a:r>
                        <a:rPr lang="en-US" sz="1200" spc="-25">
                          <a:effectLst/>
                        </a:rPr>
                        <a:t>29</a:t>
                      </a:r>
                      <a:endParaRPr lang="en-US" sz="1100">
                        <a:effectLst/>
                        <a:latin typeface="Calibri"/>
                        <a:ea typeface="Calibri"/>
                        <a:cs typeface="Times New Roman"/>
                      </a:endParaRPr>
                    </a:p>
                  </a:txBody>
                  <a:tcPr marL="0" marR="0" marT="0" marB="0"/>
                </a:tc>
              </a:tr>
              <a:tr h="220788">
                <a:tc>
                  <a:txBody>
                    <a:bodyPr/>
                    <a:lstStyle/>
                    <a:p>
                      <a:pPr marL="73025" marR="0">
                        <a:spcBef>
                          <a:spcPts val="0"/>
                        </a:spcBef>
                        <a:spcAft>
                          <a:spcPts val="0"/>
                        </a:spcAft>
                      </a:pPr>
                      <a:r>
                        <a:rPr lang="en-US" sz="1400" spc="-10">
                          <a:effectLst/>
                        </a:rPr>
                        <a:t>Accuracy</a:t>
                      </a:r>
                      <a:endParaRPr lang="en-US" sz="1100">
                        <a:effectLst/>
                        <a:latin typeface="Calibri"/>
                        <a:ea typeface="Calibri"/>
                        <a:cs typeface="Times New Roman"/>
                      </a:endParaRPr>
                    </a:p>
                  </a:txBody>
                  <a:tcPr marL="0" marR="0" marT="0" marB="0"/>
                </a:tc>
                <a:tc>
                  <a:txBody>
                    <a:bodyPr/>
                    <a:lstStyle/>
                    <a:p>
                      <a:pPr marL="69850" marR="0">
                        <a:spcBef>
                          <a:spcPts val="75"/>
                        </a:spcBef>
                        <a:spcAft>
                          <a:spcPts val="0"/>
                        </a:spcAft>
                      </a:pPr>
                      <a:r>
                        <a:rPr lang="en-US" sz="1200" spc="-50">
                          <a:solidFill>
                            <a:schemeClr val="bg1"/>
                          </a:solidFill>
                          <a:effectLst/>
                        </a:rPr>
                        <a:t>-</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75"/>
                        </a:spcBef>
                        <a:spcAft>
                          <a:spcPts val="0"/>
                        </a:spcAft>
                      </a:pPr>
                      <a:r>
                        <a:rPr lang="en-US" sz="1200" spc="-50">
                          <a:solidFill>
                            <a:schemeClr val="bg1"/>
                          </a:solidFill>
                          <a:effectLst/>
                        </a:rPr>
                        <a:t>-</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dirty="0">
                          <a:solidFill>
                            <a:schemeClr val="bg1"/>
                          </a:solidFill>
                          <a:effectLst/>
                        </a:rPr>
                        <a:t>0.84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a:effectLst/>
                        </a:rPr>
                        <a:t>2004</a:t>
                      </a:r>
                      <a:endParaRPr lang="en-US" sz="1100">
                        <a:effectLst/>
                        <a:latin typeface="Calibri"/>
                        <a:ea typeface="Calibri"/>
                        <a:cs typeface="Times New Roman"/>
                      </a:endParaRPr>
                    </a:p>
                  </a:txBody>
                  <a:tcPr marL="0" marR="0" marT="0" marB="0"/>
                </a:tc>
              </a:tr>
              <a:tr h="220330">
                <a:tc>
                  <a:txBody>
                    <a:bodyPr/>
                    <a:lstStyle/>
                    <a:p>
                      <a:pPr marL="73025" marR="0">
                        <a:spcBef>
                          <a:spcPts val="0"/>
                        </a:spcBef>
                        <a:spcAft>
                          <a:spcPts val="0"/>
                        </a:spcAft>
                      </a:pPr>
                      <a:r>
                        <a:rPr lang="en-US" sz="1400" spc="-10" dirty="0" err="1" smtClean="0">
                          <a:effectLst/>
                        </a:rPr>
                        <a:t>Macro_Avg</a:t>
                      </a:r>
                      <a:endParaRPr lang="en-US" sz="1100" dirty="0">
                        <a:effectLst/>
                        <a:latin typeface="Calibri"/>
                        <a:ea typeface="Calibri"/>
                        <a:cs typeface="Times New Roman"/>
                      </a:endParaRPr>
                    </a:p>
                  </a:txBody>
                  <a:tcPr marL="0" marR="0" marT="0" marB="0"/>
                </a:tc>
                <a:tc>
                  <a:txBody>
                    <a:bodyPr/>
                    <a:lstStyle/>
                    <a:p>
                      <a:pPr marL="69850" marR="0">
                        <a:spcBef>
                          <a:spcPts val="75"/>
                        </a:spcBef>
                        <a:spcAft>
                          <a:spcPts val="0"/>
                        </a:spcAft>
                      </a:pPr>
                      <a:r>
                        <a:rPr lang="en-US" sz="1200" spc="-20">
                          <a:solidFill>
                            <a:schemeClr val="bg1"/>
                          </a:solidFill>
                          <a:effectLst/>
                        </a:rPr>
                        <a:t>0.79</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75"/>
                        </a:spcBef>
                        <a:spcAft>
                          <a:spcPts val="0"/>
                        </a:spcAft>
                      </a:pPr>
                      <a:r>
                        <a:rPr lang="en-US" sz="1200" spc="-20">
                          <a:solidFill>
                            <a:schemeClr val="bg1"/>
                          </a:solidFill>
                          <a:effectLst/>
                        </a:rPr>
                        <a:t>0.75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dirty="0">
                          <a:solidFill>
                            <a:schemeClr val="bg1"/>
                          </a:solidFill>
                          <a:effectLst/>
                        </a:rPr>
                        <a:t>0.76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0485" marR="0">
                        <a:spcBef>
                          <a:spcPts val="75"/>
                        </a:spcBef>
                        <a:spcAft>
                          <a:spcPts val="0"/>
                        </a:spcAft>
                      </a:pPr>
                      <a:r>
                        <a:rPr lang="en-US" sz="1200" spc="-20">
                          <a:effectLst/>
                        </a:rPr>
                        <a:t>2004</a:t>
                      </a:r>
                      <a:endParaRPr lang="en-US" sz="1100">
                        <a:effectLst/>
                        <a:latin typeface="Calibri"/>
                        <a:ea typeface="Calibri"/>
                        <a:cs typeface="Times New Roman"/>
                      </a:endParaRPr>
                    </a:p>
                  </a:txBody>
                  <a:tcPr marL="0" marR="0" marT="0" marB="0"/>
                </a:tc>
              </a:tr>
              <a:tr h="221704">
                <a:tc>
                  <a:txBody>
                    <a:bodyPr/>
                    <a:lstStyle/>
                    <a:p>
                      <a:pPr marL="73025" marR="0">
                        <a:spcBef>
                          <a:spcPts val="10"/>
                        </a:spcBef>
                        <a:spcAft>
                          <a:spcPts val="0"/>
                        </a:spcAft>
                      </a:pPr>
                      <a:r>
                        <a:rPr lang="en-US" sz="1400" spc="-10">
                          <a:effectLst/>
                        </a:rPr>
                        <a:t>Weighted_Avg</a:t>
                      </a:r>
                      <a:endParaRPr lang="en-US" sz="1100">
                        <a:effectLst/>
                        <a:latin typeface="Calibri"/>
                        <a:ea typeface="Calibri"/>
                        <a:cs typeface="Times New Roman"/>
                      </a:endParaRPr>
                    </a:p>
                  </a:txBody>
                  <a:tcPr marL="0" marR="0" marT="0" marB="0"/>
                </a:tc>
                <a:tc>
                  <a:txBody>
                    <a:bodyPr/>
                    <a:lstStyle/>
                    <a:p>
                      <a:pPr marL="69850" marR="0">
                        <a:spcBef>
                          <a:spcPts val="90"/>
                        </a:spcBef>
                        <a:spcAft>
                          <a:spcPts val="0"/>
                        </a:spcAft>
                      </a:pPr>
                      <a:r>
                        <a:rPr lang="en-US" sz="1200" spc="-20">
                          <a:effectLst/>
                        </a:rPr>
                        <a:t>0.85</a:t>
                      </a:r>
                      <a:endParaRPr lang="en-US" sz="1100">
                        <a:effectLst/>
                        <a:latin typeface="Calibri"/>
                        <a:ea typeface="Calibri"/>
                        <a:cs typeface="Times New Roman"/>
                      </a:endParaRPr>
                    </a:p>
                  </a:txBody>
                  <a:tcPr marL="0" marR="0" marT="0" marB="0"/>
                </a:tc>
                <a:tc>
                  <a:txBody>
                    <a:bodyPr/>
                    <a:lstStyle/>
                    <a:p>
                      <a:pPr marL="72390" marR="0">
                        <a:spcBef>
                          <a:spcPts val="90"/>
                        </a:spcBef>
                        <a:spcAft>
                          <a:spcPts val="0"/>
                        </a:spcAft>
                      </a:pPr>
                      <a:r>
                        <a:rPr lang="en-US" sz="1200" spc="-20">
                          <a:effectLst/>
                        </a:rPr>
                        <a:t>0.84</a:t>
                      </a:r>
                      <a:endParaRPr lang="en-US" sz="1100">
                        <a:effectLst/>
                        <a:latin typeface="Calibri"/>
                        <a:ea typeface="Calibri"/>
                        <a:cs typeface="Times New Roman"/>
                      </a:endParaRPr>
                    </a:p>
                  </a:txBody>
                  <a:tcPr marL="0" marR="0" marT="0" marB="0"/>
                </a:tc>
                <a:tc>
                  <a:txBody>
                    <a:bodyPr/>
                    <a:lstStyle/>
                    <a:p>
                      <a:pPr marL="70485" marR="0">
                        <a:spcBef>
                          <a:spcPts val="90"/>
                        </a:spcBef>
                        <a:spcAft>
                          <a:spcPts val="0"/>
                        </a:spcAft>
                      </a:pPr>
                      <a:r>
                        <a:rPr lang="en-US" sz="1200" spc="-20">
                          <a:effectLst/>
                        </a:rPr>
                        <a:t>0.84</a:t>
                      </a:r>
                      <a:endParaRPr lang="en-US" sz="1100">
                        <a:effectLst/>
                        <a:latin typeface="Calibri"/>
                        <a:ea typeface="Calibri"/>
                        <a:cs typeface="Times New Roman"/>
                      </a:endParaRPr>
                    </a:p>
                  </a:txBody>
                  <a:tcPr marL="0" marR="0" marT="0" marB="0"/>
                </a:tc>
                <a:tc>
                  <a:txBody>
                    <a:bodyPr/>
                    <a:lstStyle/>
                    <a:p>
                      <a:pPr marL="70485" marR="0">
                        <a:spcBef>
                          <a:spcPts val="90"/>
                        </a:spcBef>
                        <a:spcAft>
                          <a:spcPts val="0"/>
                        </a:spcAft>
                      </a:pPr>
                      <a:r>
                        <a:rPr lang="en-US" sz="1200" spc="-20" dirty="0">
                          <a:effectLst/>
                        </a:rPr>
                        <a:t>2004</a:t>
                      </a:r>
                      <a:endParaRPr lang="en-US" sz="1100" dirty="0">
                        <a:effectLst/>
                        <a:latin typeface="Calibri"/>
                        <a:ea typeface="Calibri"/>
                        <a:cs typeface="Times New Roman"/>
                      </a:endParaRPr>
                    </a:p>
                  </a:txBody>
                  <a:tcPr marL="0" marR="0" marT="0" marB="0"/>
                </a:tc>
              </a:tr>
            </a:tbl>
          </a:graphicData>
        </a:graphic>
      </p:graphicFrame>
      <p:sp>
        <p:nvSpPr>
          <p:cNvPr id="5" name="Rectangle 1"/>
          <p:cNvSpPr>
            <a:spLocks noChangeArrowheads="1"/>
          </p:cNvSpPr>
          <p:nvPr/>
        </p:nvSpPr>
        <p:spPr bwMode="auto">
          <a:xfrm>
            <a:off x="1928813" y="21780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4286329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Testing[2/7]</a:t>
            </a:r>
            <a:endParaRPr lang="en-US" dirty="0"/>
          </a:p>
        </p:txBody>
      </p:sp>
      <p:sp>
        <p:nvSpPr>
          <p:cNvPr id="3" name="Text Placeholder 2"/>
          <p:cNvSpPr>
            <a:spLocks noGrp="1"/>
          </p:cNvSpPr>
          <p:nvPr>
            <p:ph type="body" idx="1"/>
          </p:nvPr>
        </p:nvSpPr>
        <p:spPr/>
        <p:txBody>
          <a:bodyPr/>
          <a:lstStyle/>
          <a:p>
            <a:r>
              <a:rPr lang="en-US" sz="2400" b="1" dirty="0"/>
              <a:t>EfficientNetB5</a:t>
            </a:r>
            <a:r>
              <a:rPr lang="en-US" sz="2400" dirty="0"/>
              <a:t> Model Performance</a:t>
            </a:r>
          </a:p>
        </p:txBody>
      </p:sp>
      <p:pic>
        <p:nvPicPr>
          <p:cNvPr id="4" name="Image 114"/>
          <p:cNvPicPr/>
          <p:nvPr/>
        </p:nvPicPr>
        <p:blipFill>
          <a:blip r:embed="rId2" cstate="print"/>
          <a:stretch>
            <a:fillRect/>
          </a:stretch>
        </p:blipFill>
        <p:spPr>
          <a:xfrm>
            <a:off x="2099627" y="2237422"/>
            <a:ext cx="4944745" cy="2383155"/>
          </a:xfrm>
          <a:prstGeom prst="rect">
            <a:avLst/>
          </a:prstGeom>
        </p:spPr>
      </p:pic>
    </p:spTree>
    <p:extLst>
      <p:ext uri="{BB962C8B-B14F-4D97-AF65-F5344CB8AC3E}">
        <p14:creationId xmlns:p14="http://schemas.microsoft.com/office/powerpoint/2010/main" val="9853486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Testing[3/7]</a:t>
            </a:r>
            <a:endParaRPr lang="en-US" dirty="0"/>
          </a:p>
        </p:txBody>
      </p:sp>
      <p:sp>
        <p:nvSpPr>
          <p:cNvPr id="3" name="Text Placeholder 2"/>
          <p:cNvSpPr>
            <a:spLocks noGrp="1"/>
          </p:cNvSpPr>
          <p:nvPr>
            <p:ph type="body" idx="1"/>
          </p:nvPr>
        </p:nvSpPr>
        <p:spPr/>
        <p:txBody>
          <a:bodyPr/>
          <a:lstStyle/>
          <a:p>
            <a:r>
              <a:rPr lang="en-US" sz="2400" b="1" dirty="0" smtClean="0"/>
              <a:t>InceptionV3</a:t>
            </a:r>
            <a:r>
              <a:rPr lang="en-US" sz="2400" dirty="0" smtClean="0"/>
              <a:t> </a:t>
            </a:r>
            <a:r>
              <a:rPr lang="en-US" sz="2400" dirty="0"/>
              <a:t>Model </a:t>
            </a:r>
            <a:r>
              <a:rPr lang="en-US" sz="2400" dirty="0" smtClean="0"/>
              <a:t>Performance</a:t>
            </a:r>
          </a:p>
          <a:p>
            <a:endParaRPr lang="en-US" sz="2400" dirty="0"/>
          </a:p>
        </p:txBody>
      </p:sp>
      <p:graphicFrame>
        <p:nvGraphicFramePr>
          <p:cNvPr id="7" name="Table 6"/>
          <p:cNvGraphicFramePr>
            <a:graphicFrameLocks noGrp="1"/>
          </p:cNvGraphicFramePr>
          <p:nvPr>
            <p:extLst>
              <p:ext uri="{D42A27DB-BD31-4B8C-83A1-F6EECF244321}">
                <p14:modId xmlns:p14="http://schemas.microsoft.com/office/powerpoint/2010/main" val="404424852"/>
              </p:ext>
            </p:extLst>
          </p:nvPr>
        </p:nvGraphicFramePr>
        <p:xfrm>
          <a:off x="1931988" y="2266060"/>
          <a:ext cx="5281295" cy="2351405"/>
        </p:xfrm>
        <a:graphic>
          <a:graphicData uri="http://schemas.openxmlformats.org/drawingml/2006/table">
            <a:tbl>
              <a:tblPr firstRow="1" firstCol="1" lastRow="1" lastCol="1" bandRow="1" bandCol="1">
                <a:tableStyleId>{5C22544A-7EE6-4342-B048-85BDC9FD1C3A}</a:tableStyleId>
              </a:tblPr>
              <a:tblGrid>
                <a:gridCol w="1405255"/>
                <a:gridCol w="1092835"/>
                <a:gridCol w="1034415"/>
                <a:gridCol w="1022350"/>
                <a:gridCol w="726440"/>
              </a:tblGrid>
              <a:tr h="250825">
                <a:tc>
                  <a:txBody>
                    <a:bodyPr/>
                    <a:lstStyle/>
                    <a:p>
                      <a:pPr marL="73025" marR="0">
                        <a:lnSpc>
                          <a:spcPts val="1315"/>
                        </a:lnSpc>
                        <a:spcBef>
                          <a:spcPts val="0"/>
                        </a:spcBef>
                        <a:spcAft>
                          <a:spcPts val="0"/>
                        </a:spcAft>
                      </a:pPr>
                      <a:r>
                        <a:rPr lang="en-US" sz="1150" spc="-10" dirty="0">
                          <a:effectLst/>
                        </a:rPr>
                        <a:t>Class</a:t>
                      </a:r>
                      <a:endParaRPr lang="en-US" sz="1100" dirty="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10">
                          <a:effectLst/>
                        </a:rPr>
                        <a:t>Precision</a:t>
                      </a:r>
                      <a:endParaRPr lang="en-US" sz="1100">
                        <a:effectLst/>
                        <a:latin typeface="Calibri"/>
                        <a:ea typeface="Calibri"/>
                        <a:cs typeface="Times New Roman"/>
                      </a:endParaRPr>
                    </a:p>
                  </a:txBody>
                  <a:tcPr marL="0" marR="0" marT="0" marB="0"/>
                </a:tc>
                <a:tc>
                  <a:txBody>
                    <a:bodyPr/>
                    <a:lstStyle/>
                    <a:p>
                      <a:pPr marL="73025" marR="0">
                        <a:lnSpc>
                          <a:spcPts val="1315"/>
                        </a:lnSpc>
                        <a:spcBef>
                          <a:spcPts val="0"/>
                        </a:spcBef>
                        <a:spcAft>
                          <a:spcPts val="0"/>
                        </a:spcAft>
                      </a:pPr>
                      <a:r>
                        <a:rPr lang="en-US" sz="1150" spc="-10">
                          <a:effectLst/>
                        </a:rPr>
                        <a:t>Recall</a:t>
                      </a:r>
                      <a:endParaRPr lang="en-US" sz="1100">
                        <a:effectLst/>
                        <a:latin typeface="Calibri"/>
                        <a:ea typeface="Calibri"/>
                        <a:cs typeface="Times New Roman"/>
                      </a:endParaRPr>
                    </a:p>
                  </a:txBody>
                  <a:tcPr marL="0" marR="0" marT="0" marB="0"/>
                </a:tc>
                <a:tc>
                  <a:txBody>
                    <a:bodyPr/>
                    <a:lstStyle/>
                    <a:p>
                      <a:pPr marL="71755" marR="0">
                        <a:lnSpc>
                          <a:spcPts val="1315"/>
                        </a:lnSpc>
                        <a:spcBef>
                          <a:spcPts val="0"/>
                        </a:spcBef>
                        <a:spcAft>
                          <a:spcPts val="0"/>
                        </a:spcAft>
                      </a:pPr>
                      <a:r>
                        <a:rPr lang="en-US" sz="1150" spc="-20">
                          <a:effectLst/>
                        </a:rPr>
                        <a:t>F1-</a:t>
                      </a:r>
                      <a:r>
                        <a:rPr lang="en-US" sz="1150" spc="-10">
                          <a:effectLst/>
                        </a:rPr>
                        <a:t>Score</a:t>
                      </a:r>
                      <a:endParaRPr lang="en-US" sz="1100">
                        <a:effectLst/>
                        <a:latin typeface="Calibri"/>
                        <a:ea typeface="Calibri"/>
                        <a:cs typeface="Times New Roman"/>
                      </a:endParaRPr>
                    </a:p>
                  </a:txBody>
                  <a:tcPr marL="0" marR="0" marT="0" marB="0"/>
                </a:tc>
                <a:tc>
                  <a:txBody>
                    <a:bodyPr/>
                    <a:lstStyle/>
                    <a:p>
                      <a:pPr marL="72390" marR="0">
                        <a:lnSpc>
                          <a:spcPts val="1315"/>
                        </a:lnSpc>
                        <a:spcBef>
                          <a:spcPts val="0"/>
                        </a:spcBef>
                        <a:spcAft>
                          <a:spcPts val="0"/>
                        </a:spcAft>
                      </a:pPr>
                      <a:r>
                        <a:rPr lang="en-US" sz="1150" spc="-10">
                          <a:effectLst/>
                        </a:rPr>
                        <a:t>Support</a:t>
                      </a:r>
                      <a:endParaRPr lang="en-US" sz="1100">
                        <a:effectLst/>
                        <a:latin typeface="Calibri"/>
                        <a:ea typeface="Calibri"/>
                        <a:cs typeface="Times New Roman"/>
                      </a:endParaRPr>
                    </a:p>
                  </a:txBody>
                  <a:tcPr marL="0" marR="0" marT="0" marB="0"/>
                </a:tc>
              </a:tr>
              <a:tr h="262890">
                <a:tc>
                  <a:txBody>
                    <a:bodyPr/>
                    <a:lstStyle/>
                    <a:p>
                      <a:pPr marL="73025" marR="0">
                        <a:spcBef>
                          <a:spcPts val="5"/>
                        </a:spcBef>
                        <a:spcAft>
                          <a:spcPts val="0"/>
                        </a:spcAft>
                      </a:pPr>
                      <a:r>
                        <a:rPr lang="en-US" sz="1200" spc="-10">
                          <a:effectLst/>
                        </a:rPr>
                        <a:t>akiec</a:t>
                      </a:r>
                      <a:endParaRPr lang="en-US" sz="1100">
                        <a:effectLst/>
                        <a:latin typeface="Calibri"/>
                        <a:ea typeface="Calibri"/>
                        <a:cs typeface="Times New Roman"/>
                      </a:endParaRPr>
                    </a:p>
                  </a:txBody>
                  <a:tcPr marL="0" marR="0" marT="0" marB="0"/>
                </a:tc>
                <a:tc>
                  <a:txBody>
                    <a:bodyPr/>
                    <a:lstStyle/>
                    <a:p>
                      <a:pPr marL="69850" marR="0">
                        <a:spcBef>
                          <a:spcPts val="5"/>
                        </a:spcBef>
                        <a:spcAft>
                          <a:spcPts val="0"/>
                        </a:spcAft>
                      </a:pPr>
                      <a:r>
                        <a:rPr lang="en-US" sz="1200" spc="-20" dirty="0">
                          <a:solidFill>
                            <a:schemeClr val="bg1"/>
                          </a:solidFill>
                          <a:effectLst/>
                        </a:rPr>
                        <a:t>0.39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spcBef>
                          <a:spcPts val="5"/>
                        </a:spcBef>
                        <a:spcAft>
                          <a:spcPts val="0"/>
                        </a:spcAft>
                      </a:pPr>
                      <a:r>
                        <a:rPr lang="en-US" sz="1200" spc="-20">
                          <a:solidFill>
                            <a:schemeClr val="bg1"/>
                          </a:solidFill>
                          <a:effectLst/>
                        </a:rPr>
                        <a:t>0.37</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spcBef>
                          <a:spcPts val="5"/>
                        </a:spcBef>
                        <a:spcAft>
                          <a:spcPts val="0"/>
                        </a:spcAft>
                      </a:pPr>
                      <a:r>
                        <a:rPr lang="en-US" sz="1200" spc="-20">
                          <a:solidFill>
                            <a:schemeClr val="bg1"/>
                          </a:solidFill>
                          <a:effectLst/>
                        </a:rPr>
                        <a:t>0.38</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5"/>
                        </a:spcBef>
                        <a:spcAft>
                          <a:spcPts val="0"/>
                        </a:spcAft>
                      </a:pPr>
                      <a:r>
                        <a:rPr lang="en-US" sz="1200" spc="-25">
                          <a:effectLst/>
                        </a:rPr>
                        <a:t>65</a:t>
                      </a:r>
                      <a:endParaRPr lang="en-US" sz="1100">
                        <a:effectLst/>
                        <a:latin typeface="Calibri"/>
                        <a:ea typeface="Calibri"/>
                        <a:cs typeface="Times New Roman"/>
                      </a:endParaRPr>
                    </a:p>
                  </a:txBody>
                  <a:tcPr marL="0" marR="0" marT="0" marB="0"/>
                </a:tc>
              </a:tr>
              <a:tr h="262890">
                <a:tc>
                  <a:txBody>
                    <a:bodyPr/>
                    <a:lstStyle/>
                    <a:p>
                      <a:pPr marL="73025" marR="0">
                        <a:lnSpc>
                          <a:spcPts val="1375"/>
                        </a:lnSpc>
                        <a:spcBef>
                          <a:spcPts val="0"/>
                        </a:spcBef>
                        <a:spcAft>
                          <a:spcPts val="0"/>
                        </a:spcAft>
                      </a:pPr>
                      <a:r>
                        <a:rPr lang="en-US" sz="1200" spc="-25">
                          <a:effectLst/>
                        </a:rPr>
                        <a:t>bcc</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dirty="0">
                          <a:solidFill>
                            <a:schemeClr val="bg1"/>
                          </a:solidFill>
                          <a:effectLst/>
                        </a:rPr>
                        <a:t>0.43</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75"/>
                        </a:lnSpc>
                        <a:spcBef>
                          <a:spcPts val="0"/>
                        </a:spcBef>
                        <a:spcAft>
                          <a:spcPts val="0"/>
                        </a:spcAft>
                      </a:pPr>
                      <a:r>
                        <a:rPr lang="en-US" sz="1200" spc="-20">
                          <a:solidFill>
                            <a:schemeClr val="bg1"/>
                          </a:solidFill>
                          <a:effectLst/>
                        </a:rPr>
                        <a:t>0.48</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lnSpc>
                          <a:spcPts val="1375"/>
                        </a:lnSpc>
                        <a:spcBef>
                          <a:spcPts val="0"/>
                        </a:spcBef>
                        <a:spcAft>
                          <a:spcPts val="0"/>
                        </a:spcAft>
                      </a:pPr>
                      <a:r>
                        <a:rPr lang="en-US" sz="1200" spc="-20">
                          <a:solidFill>
                            <a:schemeClr val="bg1"/>
                          </a:solidFill>
                          <a:effectLst/>
                        </a:rPr>
                        <a:t>0.45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5">
                          <a:effectLst/>
                        </a:rPr>
                        <a:t>103</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spc="-25">
                          <a:effectLst/>
                        </a:rPr>
                        <a:t>bkl</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dirty="0">
                          <a:solidFill>
                            <a:schemeClr val="bg1"/>
                          </a:solidFill>
                          <a:effectLst/>
                        </a:rPr>
                        <a:t>0.35</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75"/>
                        </a:lnSpc>
                        <a:spcBef>
                          <a:spcPts val="0"/>
                        </a:spcBef>
                        <a:spcAft>
                          <a:spcPts val="0"/>
                        </a:spcAft>
                      </a:pPr>
                      <a:r>
                        <a:rPr lang="en-US" sz="1200" spc="-20" dirty="0">
                          <a:solidFill>
                            <a:schemeClr val="bg1"/>
                          </a:solidFill>
                          <a:effectLst/>
                        </a:rPr>
                        <a:t>0.62</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lnSpc>
                          <a:spcPts val="1375"/>
                        </a:lnSpc>
                        <a:spcBef>
                          <a:spcPts val="0"/>
                        </a:spcBef>
                        <a:spcAft>
                          <a:spcPts val="0"/>
                        </a:spcAft>
                      </a:pPr>
                      <a:r>
                        <a:rPr lang="en-US" sz="1200" spc="-20">
                          <a:solidFill>
                            <a:schemeClr val="bg1"/>
                          </a:solidFill>
                          <a:effectLst/>
                        </a:rPr>
                        <a:t>0.45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5">
                          <a:effectLst/>
                        </a:rPr>
                        <a:t>220</a:t>
                      </a:r>
                      <a:endParaRPr lang="en-US" sz="1100">
                        <a:effectLst/>
                        <a:latin typeface="Calibri"/>
                        <a:ea typeface="Calibri"/>
                        <a:cs typeface="Times New Roman"/>
                      </a:endParaRPr>
                    </a:p>
                  </a:txBody>
                  <a:tcPr marL="0" marR="0" marT="0" marB="0"/>
                </a:tc>
              </a:tr>
              <a:tr h="262890">
                <a:tc>
                  <a:txBody>
                    <a:bodyPr/>
                    <a:lstStyle/>
                    <a:p>
                      <a:pPr marL="73025" marR="0">
                        <a:spcBef>
                          <a:spcPts val="5"/>
                        </a:spcBef>
                        <a:spcAft>
                          <a:spcPts val="0"/>
                        </a:spcAft>
                      </a:pPr>
                      <a:r>
                        <a:rPr lang="en-US" sz="1200" spc="-25">
                          <a:effectLst/>
                        </a:rPr>
                        <a:t>df</a:t>
                      </a:r>
                      <a:endParaRPr lang="en-US" sz="1100">
                        <a:effectLst/>
                        <a:latin typeface="Calibri"/>
                        <a:ea typeface="Calibri"/>
                        <a:cs typeface="Times New Roman"/>
                      </a:endParaRPr>
                    </a:p>
                  </a:txBody>
                  <a:tcPr marL="0" marR="0" marT="0" marB="0"/>
                </a:tc>
                <a:tc>
                  <a:txBody>
                    <a:bodyPr/>
                    <a:lstStyle/>
                    <a:p>
                      <a:pPr marL="69850" marR="0">
                        <a:spcBef>
                          <a:spcPts val="5"/>
                        </a:spcBef>
                        <a:spcAft>
                          <a:spcPts val="0"/>
                        </a:spcAft>
                      </a:pPr>
                      <a:r>
                        <a:rPr lang="en-US" sz="1200" spc="-20">
                          <a:solidFill>
                            <a:schemeClr val="bg1"/>
                          </a:solidFill>
                          <a:effectLst/>
                        </a:rPr>
                        <a:t>0.15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spcBef>
                          <a:spcPts val="5"/>
                        </a:spcBef>
                        <a:spcAft>
                          <a:spcPts val="0"/>
                        </a:spcAft>
                      </a:pPr>
                      <a:r>
                        <a:rPr lang="en-US" sz="1200" spc="-20" dirty="0">
                          <a:solidFill>
                            <a:schemeClr val="bg1"/>
                          </a:solidFill>
                          <a:effectLst/>
                        </a:rPr>
                        <a:t>0.27</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spcBef>
                          <a:spcPts val="5"/>
                        </a:spcBef>
                        <a:spcAft>
                          <a:spcPts val="0"/>
                        </a:spcAft>
                      </a:pPr>
                      <a:r>
                        <a:rPr lang="en-US" sz="1200" spc="-20">
                          <a:solidFill>
                            <a:schemeClr val="bg1"/>
                          </a:solidFill>
                          <a:effectLst/>
                        </a:rPr>
                        <a:t>0.19</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5"/>
                        </a:spcBef>
                        <a:spcAft>
                          <a:spcPts val="0"/>
                        </a:spcAft>
                      </a:pPr>
                      <a:r>
                        <a:rPr lang="en-US" sz="1200" spc="-25">
                          <a:effectLst/>
                        </a:rPr>
                        <a:t>22</a:t>
                      </a:r>
                      <a:endParaRPr lang="en-US" sz="1100">
                        <a:effectLst/>
                        <a:latin typeface="Calibri"/>
                        <a:ea typeface="Calibri"/>
                        <a:cs typeface="Times New Roman"/>
                      </a:endParaRPr>
                    </a:p>
                  </a:txBody>
                  <a:tcPr marL="0" marR="0" marT="0" marB="0"/>
                </a:tc>
              </a:tr>
              <a:tr h="262890">
                <a:tc>
                  <a:txBody>
                    <a:bodyPr/>
                    <a:lstStyle/>
                    <a:p>
                      <a:pPr marL="73025" marR="0">
                        <a:lnSpc>
                          <a:spcPts val="1375"/>
                        </a:lnSpc>
                        <a:spcBef>
                          <a:spcPts val="0"/>
                        </a:spcBef>
                        <a:spcAft>
                          <a:spcPts val="0"/>
                        </a:spcAft>
                      </a:pPr>
                      <a:r>
                        <a:rPr lang="en-US" sz="1200" spc="-25">
                          <a:effectLst/>
                        </a:rPr>
                        <a:t>mel</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solidFill>
                            <a:schemeClr val="bg1"/>
                          </a:solidFill>
                          <a:effectLst/>
                        </a:rPr>
                        <a:t>0.32</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75"/>
                        </a:lnSpc>
                        <a:spcBef>
                          <a:spcPts val="0"/>
                        </a:spcBef>
                        <a:spcAft>
                          <a:spcPts val="0"/>
                        </a:spcAft>
                      </a:pPr>
                      <a:r>
                        <a:rPr lang="en-US" sz="1200" spc="-20" dirty="0">
                          <a:solidFill>
                            <a:schemeClr val="bg1"/>
                          </a:solidFill>
                          <a:effectLst/>
                        </a:rPr>
                        <a:t>0.56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lnSpc>
                          <a:spcPts val="1375"/>
                        </a:lnSpc>
                        <a:spcBef>
                          <a:spcPts val="0"/>
                        </a:spcBef>
                        <a:spcAft>
                          <a:spcPts val="0"/>
                        </a:spcAft>
                      </a:pPr>
                      <a:r>
                        <a:rPr lang="en-US" sz="1200" spc="-20" dirty="0">
                          <a:solidFill>
                            <a:schemeClr val="bg1"/>
                          </a:solidFill>
                          <a:effectLst/>
                        </a:rPr>
                        <a:t>0.40</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5">
                          <a:effectLst/>
                        </a:rPr>
                        <a:t>223</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spc="-25">
                          <a:effectLst/>
                        </a:rPr>
                        <a:t>nv</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solidFill>
                            <a:schemeClr val="bg1"/>
                          </a:solidFill>
                          <a:effectLst/>
                        </a:rPr>
                        <a:t>0.92</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75"/>
                        </a:lnSpc>
                        <a:spcBef>
                          <a:spcPts val="0"/>
                        </a:spcBef>
                        <a:spcAft>
                          <a:spcPts val="0"/>
                        </a:spcAft>
                      </a:pPr>
                      <a:r>
                        <a:rPr lang="en-US" sz="1200" spc="-20">
                          <a:solidFill>
                            <a:schemeClr val="bg1"/>
                          </a:solidFill>
                          <a:effectLst/>
                        </a:rPr>
                        <a:t>0.64</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lnSpc>
                          <a:spcPts val="1375"/>
                        </a:lnSpc>
                        <a:spcBef>
                          <a:spcPts val="0"/>
                        </a:spcBef>
                        <a:spcAft>
                          <a:spcPts val="0"/>
                        </a:spcAft>
                      </a:pPr>
                      <a:r>
                        <a:rPr lang="en-US" sz="1200" spc="-20" dirty="0">
                          <a:solidFill>
                            <a:schemeClr val="bg1"/>
                          </a:solidFill>
                          <a:effectLst/>
                        </a:rPr>
                        <a:t>0.76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a:effectLst/>
                        </a:rPr>
                        <a:t>1342</a:t>
                      </a:r>
                      <a:endParaRPr lang="en-US" sz="1100">
                        <a:effectLst/>
                        <a:latin typeface="Calibri"/>
                        <a:ea typeface="Calibri"/>
                        <a:cs typeface="Times New Roman"/>
                      </a:endParaRPr>
                    </a:p>
                  </a:txBody>
                  <a:tcPr marL="0" marR="0" marT="0" marB="0"/>
                </a:tc>
              </a:tr>
              <a:tr h="262890">
                <a:tc>
                  <a:txBody>
                    <a:bodyPr/>
                    <a:lstStyle/>
                    <a:p>
                      <a:pPr marL="73025" marR="0">
                        <a:lnSpc>
                          <a:spcPts val="1375"/>
                        </a:lnSpc>
                        <a:spcBef>
                          <a:spcPts val="0"/>
                        </a:spcBef>
                        <a:spcAft>
                          <a:spcPts val="0"/>
                        </a:spcAft>
                      </a:pPr>
                      <a:r>
                        <a:rPr lang="en-US" sz="1200" spc="-20">
                          <a:effectLst/>
                        </a:rPr>
                        <a:t>vasc</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solidFill>
                            <a:schemeClr val="bg1"/>
                          </a:solidFill>
                          <a:effectLst/>
                        </a:rPr>
                        <a:t>0.12</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75"/>
                        </a:lnSpc>
                        <a:spcBef>
                          <a:spcPts val="0"/>
                        </a:spcBef>
                        <a:spcAft>
                          <a:spcPts val="0"/>
                        </a:spcAft>
                      </a:pPr>
                      <a:r>
                        <a:rPr lang="en-US" sz="1200" spc="-20">
                          <a:solidFill>
                            <a:schemeClr val="bg1"/>
                          </a:solidFill>
                          <a:effectLst/>
                        </a:rPr>
                        <a:t>0.31</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755" marR="0">
                        <a:lnSpc>
                          <a:spcPts val="1375"/>
                        </a:lnSpc>
                        <a:spcBef>
                          <a:spcPts val="0"/>
                        </a:spcBef>
                        <a:spcAft>
                          <a:spcPts val="0"/>
                        </a:spcAft>
                      </a:pPr>
                      <a:r>
                        <a:rPr lang="en-US" sz="1200" spc="-20" dirty="0">
                          <a:solidFill>
                            <a:schemeClr val="bg1"/>
                          </a:solidFill>
                          <a:effectLst/>
                        </a:rPr>
                        <a:t>0.18</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5">
                          <a:effectLst/>
                        </a:rPr>
                        <a:t>29</a:t>
                      </a:r>
                      <a:endParaRPr lang="en-US" sz="1100">
                        <a:effectLst/>
                        <a:latin typeface="Calibri"/>
                        <a:ea typeface="Calibri"/>
                        <a:cs typeface="Times New Roman"/>
                      </a:endParaRPr>
                    </a:p>
                  </a:txBody>
                  <a:tcPr marL="0" marR="0" marT="0" marB="0"/>
                </a:tc>
              </a:tr>
              <a:tr h="262890">
                <a:tc>
                  <a:txBody>
                    <a:bodyPr/>
                    <a:lstStyle/>
                    <a:p>
                      <a:pPr marL="73025" marR="0">
                        <a:lnSpc>
                          <a:spcPts val="1375"/>
                        </a:lnSpc>
                        <a:spcBef>
                          <a:spcPts val="0"/>
                        </a:spcBef>
                        <a:spcAft>
                          <a:spcPts val="0"/>
                        </a:spcAft>
                      </a:pPr>
                      <a:r>
                        <a:rPr lang="en-US" sz="1200" spc="-10">
                          <a:effectLst/>
                        </a:rPr>
                        <a:t>Accuracy</a:t>
                      </a:r>
                      <a:endParaRPr lang="en-US" sz="1100">
                        <a:effectLst/>
                        <a:latin typeface="Calibri"/>
                        <a:ea typeface="Calibri"/>
                        <a:cs typeface="Times New Roman"/>
                      </a:endParaRPr>
                    </a:p>
                  </a:txBody>
                  <a:tcPr marL="0" marR="0" marT="0" marB="0"/>
                </a:tc>
                <a:tc>
                  <a:txBody>
                    <a:bodyPr/>
                    <a:lstStyle/>
                    <a:p>
                      <a:pPr marL="0" marR="0">
                        <a:spcBef>
                          <a:spcPts val="0"/>
                        </a:spcBef>
                        <a:spcAft>
                          <a:spcPts val="0"/>
                        </a:spcAft>
                      </a:pPr>
                      <a:r>
                        <a:rPr lang="en-US" sz="1100">
                          <a:effectLst/>
                        </a:rPr>
                        <a:t> </a:t>
                      </a:r>
                      <a:endParaRPr lang="en-US" sz="1100">
                        <a:effectLst/>
                        <a:latin typeface="Calibri"/>
                        <a:ea typeface="Calibri"/>
                        <a:cs typeface="Times New Roman"/>
                      </a:endParaRPr>
                    </a:p>
                  </a:txBody>
                  <a:tcPr marL="0" marR="0" marT="0" marB="0"/>
                </a:tc>
                <a:tc>
                  <a:txBody>
                    <a:bodyPr/>
                    <a:lstStyle/>
                    <a:p>
                      <a:pPr marL="0" marR="0">
                        <a:spcBef>
                          <a:spcPts val="0"/>
                        </a:spcBef>
                        <a:spcAft>
                          <a:spcPts val="0"/>
                        </a:spcAft>
                      </a:pPr>
                      <a:r>
                        <a:rPr lang="en-US" sz="1100">
                          <a:effectLst/>
                        </a:rPr>
                        <a:t> </a:t>
                      </a:r>
                      <a:endParaRPr lang="en-US" sz="1100">
                        <a:effectLst/>
                        <a:latin typeface="Calibri"/>
                        <a:ea typeface="Calibri"/>
                        <a:cs typeface="Times New Roman"/>
                      </a:endParaRPr>
                    </a:p>
                  </a:txBody>
                  <a:tcPr marL="0" marR="0" marT="0" marB="0"/>
                </a:tc>
                <a:tc>
                  <a:txBody>
                    <a:bodyPr/>
                    <a:lstStyle/>
                    <a:p>
                      <a:pPr marL="71755" marR="0">
                        <a:lnSpc>
                          <a:spcPts val="1375"/>
                        </a:lnSpc>
                        <a:spcBef>
                          <a:spcPts val="0"/>
                        </a:spcBef>
                        <a:spcAft>
                          <a:spcPts val="0"/>
                        </a:spcAft>
                      </a:pPr>
                      <a:r>
                        <a:rPr lang="en-US" sz="1200" spc="-20">
                          <a:effectLst/>
                        </a:rPr>
                        <a:t>0.60</a:t>
                      </a:r>
                      <a:endParaRPr lang="en-US" sz="1100">
                        <a:effectLst/>
                        <a:latin typeface="Calibri"/>
                        <a:ea typeface="Calibri"/>
                        <a:cs typeface="Times New Roman"/>
                      </a:endParaRPr>
                    </a:p>
                  </a:txBody>
                  <a:tcPr marL="0" marR="0" marT="0" marB="0"/>
                </a:tc>
                <a:tc>
                  <a:txBody>
                    <a:bodyPr/>
                    <a:lstStyle/>
                    <a:p>
                      <a:pPr marL="72390" marR="0">
                        <a:lnSpc>
                          <a:spcPts val="1375"/>
                        </a:lnSpc>
                        <a:spcBef>
                          <a:spcPts val="0"/>
                        </a:spcBef>
                        <a:spcAft>
                          <a:spcPts val="0"/>
                        </a:spcAft>
                      </a:pPr>
                      <a:r>
                        <a:rPr lang="en-US" sz="1200" spc="-20" dirty="0">
                          <a:effectLst/>
                        </a:rPr>
                        <a:t>2004</a:t>
                      </a:r>
                      <a:endParaRPr lang="en-US" sz="1100" dirty="0">
                        <a:effectLst/>
                        <a:latin typeface="Calibri"/>
                        <a:ea typeface="Calibri"/>
                        <a:cs typeface="Times New Roman"/>
                      </a:endParaRPr>
                    </a:p>
                  </a:txBody>
                  <a:tcPr marL="0" marR="0" marT="0" marB="0"/>
                </a:tc>
              </a:tr>
            </a:tbl>
          </a:graphicData>
        </a:graphic>
      </p:graphicFrame>
      <p:sp>
        <p:nvSpPr>
          <p:cNvPr id="8" name="Rectangle 2"/>
          <p:cNvSpPr>
            <a:spLocks noChangeArrowheads="1"/>
          </p:cNvSpPr>
          <p:nvPr/>
        </p:nvSpPr>
        <p:spPr bwMode="auto">
          <a:xfrm>
            <a:off x="1931988" y="26876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712685092"/>
              </p:ext>
            </p:extLst>
          </p:nvPr>
        </p:nvGraphicFramePr>
        <p:xfrm>
          <a:off x="1931988" y="4618376"/>
          <a:ext cx="5281295" cy="525145"/>
        </p:xfrm>
        <a:graphic>
          <a:graphicData uri="http://schemas.openxmlformats.org/drawingml/2006/table">
            <a:tbl>
              <a:tblPr firstRow="1" firstCol="1" lastRow="1" lastCol="1" bandRow="1" bandCol="1">
                <a:tableStyleId>{5C22544A-7EE6-4342-B048-85BDC9FD1C3A}</a:tableStyleId>
              </a:tblPr>
              <a:tblGrid>
                <a:gridCol w="1405255"/>
                <a:gridCol w="1092835"/>
                <a:gridCol w="1034415"/>
                <a:gridCol w="1022350"/>
                <a:gridCol w="726440"/>
              </a:tblGrid>
              <a:tr h="263525">
                <a:tc>
                  <a:txBody>
                    <a:bodyPr/>
                    <a:lstStyle/>
                    <a:p>
                      <a:pPr marL="73025" marR="0">
                        <a:lnSpc>
                          <a:spcPts val="1375"/>
                        </a:lnSpc>
                        <a:spcBef>
                          <a:spcPts val="0"/>
                        </a:spcBef>
                        <a:spcAft>
                          <a:spcPts val="0"/>
                        </a:spcAft>
                      </a:pPr>
                      <a:r>
                        <a:rPr lang="en-US" sz="1200">
                          <a:effectLst/>
                        </a:rPr>
                        <a:t>Macro</a:t>
                      </a:r>
                      <a:r>
                        <a:rPr lang="en-US" sz="1200" spc="-20">
                          <a:effectLst/>
                        </a:rPr>
                        <a:t> </a:t>
                      </a:r>
                      <a:r>
                        <a:rPr lang="en-US" sz="1200" spc="-25">
                          <a:effectLst/>
                        </a:rPr>
                        <a:t>Avg</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effectLst/>
                        </a:rPr>
                        <a:t>0.38</a:t>
                      </a:r>
                      <a:endParaRPr lang="en-US" sz="1100">
                        <a:effectLst/>
                        <a:latin typeface="Calibri"/>
                        <a:ea typeface="Calibri"/>
                        <a:cs typeface="Times New Roman"/>
                      </a:endParaRPr>
                    </a:p>
                  </a:txBody>
                  <a:tcPr marL="0" marR="0" marT="0" marB="0"/>
                </a:tc>
                <a:tc>
                  <a:txBody>
                    <a:bodyPr/>
                    <a:lstStyle/>
                    <a:p>
                      <a:pPr marL="73025" marR="0">
                        <a:lnSpc>
                          <a:spcPts val="1375"/>
                        </a:lnSpc>
                        <a:spcBef>
                          <a:spcPts val="0"/>
                        </a:spcBef>
                        <a:spcAft>
                          <a:spcPts val="0"/>
                        </a:spcAft>
                      </a:pPr>
                      <a:r>
                        <a:rPr lang="en-US" sz="1200" spc="-20">
                          <a:effectLst/>
                        </a:rPr>
                        <a:t>0.46</a:t>
                      </a:r>
                      <a:endParaRPr lang="en-US" sz="1100">
                        <a:effectLst/>
                        <a:latin typeface="Calibri"/>
                        <a:ea typeface="Calibri"/>
                        <a:cs typeface="Times New Roman"/>
                      </a:endParaRPr>
                    </a:p>
                  </a:txBody>
                  <a:tcPr marL="0" marR="0" marT="0" marB="0"/>
                </a:tc>
                <a:tc>
                  <a:txBody>
                    <a:bodyPr/>
                    <a:lstStyle/>
                    <a:p>
                      <a:pPr marL="71755" marR="0">
                        <a:lnSpc>
                          <a:spcPts val="1375"/>
                        </a:lnSpc>
                        <a:spcBef>
                          <a:spcPts val="0"/>
                        </a:spcBef>
                        <a:spcAft>
                          <a:spcPts val="0"/>
                        </a:spcAft>
                      </a:pPr>
                      <a:r>
                        <a:rPr lang="en-US" sz="1200" spc="-20">
                          <a:effectLst/>
                        </a:rPr>
                        <a:t>0.40</a:t>
                      </a:r>
                      <a:endParaRPr lang="en-US" sz="1100">
                        <a:effectLst/>
                        <a:latin typeface="Calibri"/>
                        <a:ea typeface="Calibri"/>
                        <a:cs typeface="Times New Roman"/>
                      </a:endParaRPr>
                    </a:p>
                  </a:txBody>
                  <a:tcPr marL="0" marR="0" marT="0" marB="0"/>
                </a:tc>
                <a:tc>
                  <a:txBody>
                    <a:bodyPr/>
                    <a:lstStyle/>
                    <a:p>
                      <a:pPr marL="72390" marR="0">
                        <a:lnSpc>
                          <a:spcPts val="1375"/>
                        </a:lnSpc>
                        <a:spcBef>
                          <a:spcPts val="0"/>
                        </a:spcBef>
                        <a:spcAft>
                          <a:spcPts val="0"/>
                        </a:spcAft>
                      </a:pPr>
                      <a:r>
                        <a:rPr lang="en-US" sz="1200" spc="-20">
                          <a:effectLst/>
                        </a:rPr>
                        <a:t>2004</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a:effectLst/>
                        </a:rPr>
                        <a:t>Weighted</a:t>
                      </a:r>
                      <a:r>
                        <a:rPr lang="en-US" sz="1200" spc="-75">
                          <a:effectLst/>
                        </a:rPr>
                        <a:t> </a:t>
                      </a:r>
                      <a:r>
                        <a:rPr lang="en-US" sz="1200" spc="-25">
                          <a:effectLst/>
                        </a:rPr>
                        <a:t>Avg</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effectLst/>
                        </a:rPr>
                        <a:t>0.73</a:t>
                      </a:r>
                      <a:endParaRPr lang="en-US" sz="1100">
                        <a:effectLst/>
                        <a:latin typeface="Calibri"/>
                        <a:ea typeface="Calibri"/>
                        <a:cs typeface="Times New Roman"/>
                      </a:endParaRPr>
                    </a:p>
                  </a:txBody>
                  <a:tcPr marL="0" marR="0" marT="0" marB="0"/>
                </a:tc>
                <a:tc>
                  <a:txBody>
                    <a:bodyPr/>
                    <a:lstStyle/>
                    <a:p>
                      <a:pPr marL="73025" marR="0">
                        <a:lnSpc>
                          <a:spcPts val="1375"/>
                        </a:lnSpc>
                        <a:spcBef>
                          <a:spcPts val="0"/>
                        </a:spcBef>
                        <a:spcAft>
                          <a:spcPts val="0"/>
                        </a:spcAft>
                      </a:pPr>
                      <a:r>
                        <a:rPr lang="en-US" sz="1200" spc="-20">
                          <a:effectLst/>
                        </a:rPr>
                        <a:t>0.60</a:t>
                      </a:r>
                      <a:endParaRPr lang="en-US" sz="1100">
                        <a:effectLst/>
                        <a:latin typeface="Calibri"/>
                        <a:ea typeface="Calibri"/>
                        <a:cs typeface="Times New Roman"/>
                      </a:endParaRPr>
                    </a:p>
                  </a:txBody>
                  <a:tcPr marL="0" marR="0" marT="0" marB="0"/>
                </a:tc>
                <a:tc>
                  <a:txBody>
                    <a:bodyPr/>
                    <a:lstStyle/>
                    <a:p>
                      <a:pPr marL="71755" marR="0">
                        <a:lnSpc>
                          <a:spcPts val="1375"/>
                        </a:lnSpc>
                        <a:spcBef>
                          <a:spcPts val="0"/>
                        </a:spcBef>
                        <a:spcAft>
                          <a:spcPts val="0"/>
                        </a:spcAft>
                      </a:pPr>
                      <a:r>
                        <a:rPr lang="en-US" sz="1200" spc="-20">
                          <a:effectLst/>
                        </a:rPr>
                        <a:t>0.64</a:t>
                      </a:r>
                      <a:endParaRPr lang="en-US" sz="1100">
                        <a:effectLst/>
                        <a:latin typeface="Calibri"/>
                        <a:ea typeface="Calibri"/>
                        <a:cs typeface="Times New Roman"/>
                      </a:endParaRPr>
                    </a:p>
                  </a:txBody>
                  <a:tcPr marL="0" marR="0" marT="0" marB="0"/>
                </a:tc>
                <a:tc>
                  <a:txBody>
                    <a:bodyPr/>
                    <a:lstStyle/>
                    <a:p>
                      <a:pPr marL="72390" marR="0">
                        <a:lnSpc>
                          <a:spcPts val="1375"/>
                        </a:lnSpc>
                        <a:spcBef>
                          <a:spcPts val="0"/>
                        </a:spcBef>
                        <a:spcAft>
                          <a:spcPts val="0"/>
                        </a:spcAft>
                      </a:pPr>
                      <a:r>
                        <a:rPr lang="en-US" sz="1200" spc="-20" dirty="0">
                          <a:effectLst/>
                        </a:rPr>
                        <a:t>2004</a:t>
                      </a:r>
                      <a:endParaRPr lang="en-US" sz="1100" dirty="0">
                        <a:effectLst/>
                        <a:latin typeface="Calibri"/>
                        <a:ea typeface="Calibri"/>
                        <a:cs typeface="Times New Roman"/>
                      </a:endParaRPr>
                    </a:p>
                  </a:txBody>
                  <a:tcPr marL="0" marR="0" marT="0" marB="0"/>
                </a:tc>
              </a:tr>
            </a:tbl>
          </a:graphicData>
        </a:graphic>
      </p:graphicFrame>
      <p:sp>
        <p:nvSpPr>
          <p:cNvPr id="10" name="Rectangle 3"/>
          <p:cNvSpPr>
            <a:spLocks noChangeArrowheads="1"/>
          </p:cNvSpPr>
          <p:nvPr/>
        </p:nvSpPr>
        <p:spPr bwMode="auto">
          <a:xfrm>
            <a:off x="1931988" y="36004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9864128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Testing[4/7]</a:t>
            </a:r>
            <a:endParaRPr lang="en-US" dirty="0"/>
          </a:p>
        </p:txBody>
      </p:sp>
      <p:sp>
        <p:nvSpPr>
          <p:cNvPr id="3" name="Text Placeholder 2"/>
          <p:cNvSpPr>
            <a:spLocks noGrp="1"/>
          </p:cNvSpPr>
          <p:nvPr>
            <p:ph type="body" idx="1"/>
          </p:nvPr>
        </p:nvSpPr>
        <p:spPr/>
        <p:txBody>
          <a:bodyPr/>
          <a:lstStyle/>
          <a:p>
            <a:r>
              <a:rPr lang="en-US" sz="2400" b="1" dirty="0"/>
              <a:t>InceptionV3</a:t>
            </a:r>
            <a:r>
              <a:rPr lang="en-US" sz="2400" dirty="0"/>
              <a:t> Model Performance</a:t>
            </a:r>
          </a:p>
          <a:p>
            <a:endParaRPr lang="en-US" dirty="0"/>
          </a:p>
        </p:txBody>
      </p:sp>
      <p:pic>
        <p:nvPicPr>
          <p:cNvPr id="4" name="Image 119"/>
          <p:cNvPicPr/>
          <p:nvPr/>
        </p:nvPicPr>
        <p:blipFill>
          <a:blip r:embed="rId2" cstate="print"/>
          <a:stretch>
            <a:fillRect/>
          </a:stretch>
        </p:blipFill>
        <p:spPr>
          <a:xfrm>
            <a:off x="2010092" y="2331720"/>
            <a:ext cx="5384621" cy="2287988"/>
          </a:xfrm>
          <a:prstGeom prst="rect">
            <a:avLst/>
          </a:prstGeom>
        </p:spPr>
      </p:pic>
    </p:spTree>
    <p:extLst>
      <p:ext uri="{BB962C8B-B14F-4D97-AF65-F5344CB8AC3E}">
        <p14:creationId xmlns:p14="http://schemas.microsoft.com/office/powerpoint/2010/main" val="303541817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Testing[5/7]</a:t>
            </a:r>
            <a:endParaRPr lang="en-US" dirty="0"/>
          </a:p>
        </p:txBody>
      </p:sp>
      <p:sp>
        <p:nvSpPr>
          <p:cNvPr id="3" name="Text Placeholder 2"/>
          <p:cNvSpPr>
            <a:spLocks noGrp="1"/>
          </p:cNvSpPr>
          <p:nvPr>
            <p:ph type="body" idx="1"/>
          </p:nvPr>
        </p:nvSpPr>
        <p:spPr/>
        <p:txBody>
          <a:bodyPr/>
          <a:lstStyle/>
          <a:p>
            <a:r>
              <a:rPr lang="en-US" sz="2400" b="1" dirty="0" err="1" smtClean="0"/>
              <a:t>ResNet</a:t>
            </a:r>
            <a:r>
              <a:rPr lang="en-US" sz="2400" dirty="0" smtClean="0"/>
              <a:t> </a:t>
            </a:r>
            <a:r>
              <a:rPr lang="en-US" sz="2400" dirty="0"/>
              <a:t>Model </a:t>
            </a:r>
            <a:r>
              <a:rPr lang="en-US" sz="2400" dirty="0" smtClean="0"/>
              <a:t>Performance</a:t>
            </a:r>
          </a:p>
          <a:p>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1891442735"/>
              </p:ext>
            </p:extLst>
          </p:nvPr>
        </p:nvGraphicFramePr>
        <p:xfrm>
          <a:off x="1930082" y="2419509"/>
          <a:ext cx="5283835" cy="2887345"/>
        </p:xfrm>
        <a:graphic>
          <a:graphicData uri="http://schemas.openxmlformats.org/drawingml/2006/table">
            <a:tbl>
              <a:tblPr firstRow="1" firstCol="1" lastRow="1" lastCol="1" bandRow="1" bandCol="1">
                <a:tableStyleId>{5C22544A-7EE6-4342-B048-85BDC9FD1C3A}</a:tableStyleId>
              </a:tblPr>
              <a:tblGrid>
                <a:gridCol w="1407160"/>
                <a:gridCol w="1094740"/>
                <a:gridCol w="1036320"/>
                <a:gridCol w="1022985"/>
                <a:gridCol w="722630"/>
              </a:tblGrid>
              <a:tr h="262890">
                <a:tc>
                  <a:txBody>
                    <a:bodyPr/>
                    <a:lstStyle/>
                    <a:p>
                      <a:pPr marL="73025" marR="0">
                        <a:lnSpc>
                          <a:spcPts val="1375"/>
                        </a:lnSpc>
                        <a:spcBef>
                          <a:spcPts val="0"/>
                        </a:spcBef>
                        <a:spcAft>
                          <a:spcPts val="0"/>
                        </a:spcAft>
                      </a:pPr>
                      <a:r>
                        <a:rPr lang="en-US" sz="1200" spc="-10" dirty="0">
                          <a:effectLst/>
                        </a:rPr>
                        <a:t>Class</a:t>
                      </a:r>
                      <a:endParaRPr lang="en-US" sz="1100" dirty="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10">
                          <a:effectLst/>
                        </a:rPr>
                        <a:t>Precision</a:t>
                      </a:r>
                      <a:endParaRPr lang="en-US" sz="1100">
                        <a:effectLst/>
                        <a:latin typeface="Calibri"/>
                        <a:ea typeface="Calibri"/>
                        <a:cs typeface="Times New Roman"/>
                      </a:endParaRPr>
                    </a:p>
                  </a:txBody>
                  <a:tcPr marL="0" marR="0" marT="0" marB="0"/>
                </a:tc>
                <a:tc>
                  <a:txBody>
                    <a:bodyPr/>
                    <a:lstStyle/>
                    <a:p>
                      <a:pPr marL="72390" marR="0">
                        <a:lnSpc>
                          <a:spcPts val="1375"/>
                        </a:lnSpc>
                        <a:spcBef>
                          <a:spcPts val="0"/>
                        </a:spcBef>
                        <a:spcAft>
                          <a:spcPts val="0"/>
                        </a:spcAft>
                      </a:pPr>
                      <a:r>
                        <a:rPr lang="en-US" sz="1200" spc="-10">
                          <a:effectLst/>
                        </a:rPr>
                        <a:t>Recall</a:t>
                      </a:r>
                      <a:endParaRPr lang="en-US" sz="1100">
                        <a:effectLst/>
                        <a:latin typeface="Calibri"/>
                        <a:ea typeface="Calibri"/>
                        <a:cs typeface="Times New Roman"/>
                      </a:endParaRPr>
                    </a:p>
                  </a:txBody>
                  <a:tcPr marL="0" marR="0" marT="0" marB="0"/>
                </a:tc>
                <a:tc>
                  <a:txBody>
                    <a:bodyPr/>
                    <a:lstStyle/>
                    <a:p>
                      <a:pPr marL="71120" marR="0">
                        <a:lnSpc>
                          <a:spcPts val="1375"/>
                        </a:lnSpc>
                        <a:spcBef>
                          <a:spcPts val="0"/>
                        </a:spcBef>
                        <a:spcAft>
                          <a:spcPts val="0"/>
                        </a:spcAft>
                      </a:pPr>
                      <a:r>
                        <a:rPr lang="en-US" sz="1200" spc="-25">
                          <a:effectLst/>
                        </a:rPr>
                        <a:t>F1-</a:t>
                      </a:r>
                      <a:r>
                        <a:rPr lang="en-US" sz="1200" spc="-10">
                          <a:effectLst/>
                        </a:rPr>
                        <a:t>Score</a:t>
                      </a:r>
                      <a:endParaRPr lang="en-US" sz="1100">
                        <a:effectLst/>
                        <a:latin typeface="Calibri"/>
                        <a:ea typeface="Calibri"/>
                        <a:cs typeface="Times New Roman"/>
                      </a:endParaRPr>
                    </a:p>
                  </a:txBody>
                  <a:tcPr marL="0" marR="0" marT="0" marB="0"/>
                </a:tc>
                <a:tc>
                  <a:txBody>
                    <a:bodyPr/>
                    <a:lstStyle/>
                    <a:p>
                      <a:pPr marL="71120" marR="0">
                        <a:lnSpc>
                          <a:spcPts val="1375"/>
                        </a:lnSpc>
                        <a:spcBef>
                          <a:spcPts val="0"/>
                        </a:spcBef>
                        <a:spcAft>
                          <a:spcPts val="0"/>
                        </a:spcAft>
                      </a:pPr>
                      <a:r>
                        <a:rPr lang="en-US" sz="1200" spc="-10">
                          <a:effectLst/>
                        </a:rPr>
                        <a:t>Support</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spc="-10">
                          <a:effectLst/>
                        </a:rPr>
                        <a:t>akiec</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dirty="0">
                          <a:solidFill>
                            <a:schemeClr val="bg1"/>
                          </a:solidFill>
                          <a:effectLst/>
                        </a:rPr>
                        <a:t>0.44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a:solidFill>
                            <a:schemeClr val="bg1"/>
                          </a:solidFill>
                          <a:effectLst/>
                        </a:rPr>
                        <a:t>0.62</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solidFill>
                            <a:schemeClr val="bg1"/>
                          </a:solidFill>
                          <a:effectLst/>
                        </a:rPr>
                        <a:t>0.51</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5">
                          <a:effectLst/>
                        </a:rPr>
                        <a:t>65</a:t>
                      </a:r>
                      <a:endParaRPr lang="en-US" sz="1100">
                        <a:effectLst/>
                        <a:latin typeface="Calibri"/>
                        <a:ea typeface="Calibri"/>
                        <a:cs typeface="Times New Roman"/>
                      </a:endParaRPr>
                    </a:p>
                  </a:txBody>
                  <a:tcPr marL="0" marR="0" marT="0" marB="0"/>
                </a:tc>
              </a:tr>
              <a:tr h="263525">
                <a:tc>
                  <a:txBody>
                    <a:bodyPr/>
                    <a:lstStyle/>
                    <a:p>
                      <a:pPr marL="73025" marR="0">
                        <a:lnSpc>
                          <a:spcPts val="1375"/>
                        </a:lnSpc>
                        <a:spcBef>
                          <a:spcPts val="0"/>
                        </a:spcBef>
                        <a:spcAft>
                          <a:spcPts val="0"/>
                        </a:spcAft>
                      </a:pPr>
                      <a:r>
                        <a:rPr lang="en-US" sz="1200" spc="-25">
                          <a:effectLst/>
                        </a:rPr>
                        <a:t>bcc</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dirty="0">
                          <a:solidFill>
                            <a:schemeClr val="bg1"/>
                          </a:solidFill>
                          <a:effectLst/>
                        </a:rPr>
                        <a:t>0.55</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a:solidFill>
                            <a:schemeClr val="bg1"/>
                          </a:solidFill>
                          <a:effectLst/>
                        </a:rPr>
                        <a:t>0.60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solidFill>
                            <a:schemeClr val="bg1"/>
                          </a:solidFill>
                          <a:effectLst/>
                        </a:rPr>
                        <a:t>0.57</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5">
                          <a:effectLst/>
                        </a:rPr>
                        <a:t>103</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spc="-25">
                          <a:effectLst/>
                        </a:rPr>
                        <a:t>bkl</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dirty="0">
                          <a:solidFill>
                            <a:schemeClr val="bg1"/>
                          </a:solidFill>
                          <a:effectLst/>
                        </a:rPr>
                        <a:t>0.48</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dirty="0">
                          <a:solidFill>
                            <a:schemeClr val="bg1"/>
                          </a:solidFill>
                          <a:effectLst/>
                        </a:rPr>
                        <a:t>0.65</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solidFill>
                            <a:schemeClr val="bg1"/>
                          </a:solidFill>
                          <a:effectLst/>
                        </a:rPr>
                        <a:t>0.55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5">
                          <a:effectLst/>
                        </a:rPr>
                        <a:t>220</a:t>
                      </a:r>
                      <a:endParaRPr lang="en-US" sz="1100">
                        <a:effectLst/>
                        <a:latin typeface="Calibri"/>
                        <a:ea typeface="Calibri"/>
                        <a:cs typeface="Times New Roman"/>
                      </a:endParaRPr>
                    </a:p>
                  </a:txBody>
                  <a:tcPr marL="0" marR="0" marT="0" marB="0"/>
                </a:tc>
              </a:tr>
              <a:tr h="262890">
                <a:tc>
                  <a:txBody>
                    <a:bodyPr/>
                    <a:lstStyle/>
                    <a:p>
                      <a:pPr marL="73025" marR="0">
                        <a:spcBef>
                          <a:spcPts val="5"/>
                        </a:spcBef>
                        <a:spcAft>
                          <a:spcPts val="0"/>
                        </a:spcAft>
                      </a:pPr>
                      <a:r>
                        <a:rPr lang="en-US" sz="1200" spc="-25">
                          <a:effectLst/>
                        </a:rPr>
                        <a:t>df</a:t>
                      </a:r>
                      <a:endParaRPr lang="en-US" sz="1100">
                        <a:effectLst/>
                        <a:latin typeface="Calibri"/>
                        <a:ea typeface="Calibri"/>
                        <a:cs typeface="Times New Roman"/>
                      </a:endParaRPr>
                    </a:p>
                  </a:txBody>
                  <a:tcPr marL="0" marR="0" marT="0" marB="0"/>
                </a:tc>
                <a:tc>
                  <a:txBody>
                    <a:bodyPr/>
                    <a:lstStyle/>
                    <a:p>
                      <a:pPr marL="69850" marR="0">
                        <a:spcBef>
                          <a:spcPts val="5"/>
                        </a:spcBef>
                        <a:spcAft>
                          <a:spcPts val="0"/>
                        </a:spcAft>
                      </a:pPr>
                      <a:r>
                        <a:rPr lang="en-US" sz="1200" spc="-20">
                          <a:solidFill>
                            <a:schemeClr val="bg1"/>
                          </a:solidFill>
                          <a:effectLst/>
                        </a:rPr>
                        <a:t>0.29</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5"/>
                        </a:spcBef>
                        <a:spcAft>
                          <a:spcPts val="0"/>
                        </a:spcAft>
                      </a:pPr>
                      <a:r>
                        <a:rPr lang="en-US" sz="1200" spc="-20" dirty="0">
                          <a:solidFill>
                            <a:schemeClr val="bg1"/>
                          </a:solidFill>
                          <a:effectLst/>
                        </a:rPr>
                        <a:t>0.55</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spcBef>
                          <a:spcPts val="5"/>
                        </a:spcBef>
                        <a:spcAft>
                          <a:spcPts val="0"/>
                        </a:spcAft>
                      </a:pPr>
                      <a:r>
                        <a:rPr lang="en-US" sz="1200" spc="-20">
                          <a:solidFill>
                            <a:schemeClr val="bg1"/>
                          </a:solidFill>
                          <a:effectLst/>
                        </a:rPr>
                        <a:t>0.37</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spcBef>
                          <a:spcPts val="5"/>
                        </a:spcBef>
                        <a:spcAft>
                          <a:spcPts val="0"/>
                        </a:spcAft>
                      </a:pPr>
                      <a:r>
                        <a:rPr lang="en-US" sz="1200" spc="-25">
                          <a:effectLst/>
                        </a:rPr>
                        <a:t>22</a:t>
                      </a:r>
                      <a:endParaRPr lang="en-US" sz="1100">
                        <a:effectLst/>
                        <a:latin typeface="Calibri"/>
                        <a:ea typeface="Calibri"/>
                        <a:cs typeface="Times New Roman"/>
                      </a:endParaRPr>
                    </a:p>
                  </a:txBody>
                  <a:tcPr marL="0" marR="0" marT="0" marB="0"/>
                </a:tc>
              </a:tr>
              <a:tr h="262890">
                <a:tc>
                  <a:txBody>
                    <a:bodyPr/>
                    <a:lstStyle/>
                    <a:p>
                      <a:pPr marL="73025" marR="0">
                        <a:lnSpc>
                          <a:spcPts val="1375"/>
                        </a:lnSpc>
                        <a:spcBef>
                          <a:spcPts val="0"/>
                        </a:spcBef>
                        <a:spcAft>
                          <a:spcPts val="0"/>
                        </a:spcAft>
                      </a:pPr>
                      <a:r>
                        <a:rPr lang="en-US" sz="1200" spc="-25">
                          <a:effectLst/>
                        </a:rPr>
                        <a:t>mel</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solidFill>
                            <a:schemeClr val="bg1"/>
                          </a:solidFill>
                          <a:effectLst/>
                        </a:rPr>
                        <a:t>0.40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dirty="0">
                          <a:solidFill>
                            <a:schemeClr val="bg1"/>
                          </a:solidFill>
                          <a:effectLst/>
                        </a:rPr>
                        <a:t>0.65</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solidFill>
                            <a:schemeClr val="bg1"/>
                          </a:solidFill>
                          <a:effectLst/>
                        </a:rPr>
                        <a:t>0.50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5">
                          <a:effectLst/>
                        </a:rPr>
                        <a:t>223</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spc="-25">
                          <a:effectLst/>
                        </a:rPr>
                        <a:t>nv</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solidFill>
                            <a:schemeClr val="bg1"/>
                          </a:solidFill>
                          <a:effectLst/>
                        </a:rPr>
                        <a:t>0.96</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dirty="0">
                          <a:solidFill>
                            <a:schemeClr val="bg1"/>
                          </a:solidFill>
                          <a:effectLst/>
                        </a:rPr>
                        <a:t>0.76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dirty="0">
                          <a:solidFill>
                            <a:schemeClr val="bg1"/>
                          </a:solidFill>
                          <a:effectLst/>
                        </a:rPr>
                        <a:t>0.84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effectLst/>
                        </a:rPr>
                        <a:t>1342</a:t>
                      </a:r>
                      <a:endParaRPr lang="en-US" sz="1100">
                        <a:effectLst/>
                        <a:latin typeface="Calibri"/>
                        <a:ea typeface="Calibri"/>
                        <a:cs typeface="Times New Roman"/>
                      </a:endParaRPr>
                    </a:p>
                  </a:txBody>
                  <a:tcPr marL="0" marR="0" marT="0" marB="0"/>
                </a:tc>
              </a:tr>
              <a:tr h="262890">
                <a:tc>
                  <a:txBody>
                    <a:bodyPr/>
                    <a:lstStyle/>
                    <a:p>
                      <a:pPr marL="73025" marR="0">
                        <a:spcBef>
                          <a:spcPts val="5"/>
                        </a:spcBef>
                        <a:spcAft>
                          <a:spcPts val="0"/>
                        </a:spcAft>
                      </a:pPr>
                      <a:r>
                        <a:rPr lang="en-US" sz="1200" spc="-20">
                          <a:effectLst/>
                        </a:rPr>
                        <a:t>vasc</a:t>
                      </a:r>
                      <a:endParaRPr lang="en-US" sz="1100">
                        <a:effectLst/>
                        <a:latin typeface="Calibri"/>
                        <a:ea typeface="Calibri"/>
                        <a:cs typeface="Times New Roman"/>
                      </a:endParaRPr>
                    </a:p>
                  </a:txBody>
                  <a:tcPr marL="0" marR="0" marT="0" marB="0"/>
                </a:tc>
                <a:tc>
                  <a:txBody>
                    <a:bodyPr/>
                    <a:lstStyle/>
                    <a:p>
                      <a:pPr marL="69850" marR="0">
                        <a:spcBef>
                          <a:spcPts val="5"/>
                        </a:spcBef>
                        <a:spcAft>
                          <a:spcPts val="0"/>
                        </a:spcAft>
                      </a:pPr>
                      <a:r>
                        <a:rPr lang="en-US" sz="1200" spc="-20">
                          <a:solidFill>
                            <a:schemeClr val="bg1"/>
                          </a:solidFill>
                          <a:effectLst/>
                        </a:rPr>
                        <a:t>0.73</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spcBef>
                          <a:spcPts val="5"/>
                        </a:spcBef>
                        <a:spcAft>
                          <a:spcPts val="0"/>
                        </a:spcAft>
                      </a:pPr>
                      <a:r>
                        <a:rPr lang="en-US" sz="1200" spc="-20">
                          <a:solidFill>
                            <a:schemeClr val="bg1"/>
                          </a:solidFill>
                          <a:effectLst/>
                        </a:rPr>
                        <a:t>0.76</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spcBef>
                          <a:spcPts val="5"/>
                        </a:spcBef>
                        <a:spcAft>
                          <a:spcPts val="0"/>
                        </a:spcAft>
                      </a:pPr>
                      <a:r>
                        <a:rPr lang="en-US" sz="1200" spc="-20" dirty="0">
                          <a:solidFill>
                            <a:schemeClr val="bg1"/>
                          </a:solidFill>
                          <a:effectLst/>
                        </a:rPr>
                        <a:t>0.75</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spcBef>
                          <a:spcPts val="5"/>
                        </a:spcBef>
                        <a:spcAft>
                          <a:spcPts val="0"/>
                        </a:spcAft>
                      </a:pPr>
                      <a:r>
                        <a:rPr lang="en-US" sz="1200" spc="-25">
                          <a:effectLst/>
                        </a:rPr>
                        <a:t>29</a:t>
                      </a:r>
                      <a:endParaRPr lang="en-US" sz="1100">
                        <a:effectLst/>
                        <a:latin typeface="Calibri"/>
                        <a:ea typeface="Calibri"/>
                        <a:cs typeface="Times New Roman"/>
                      </a:endParaRPr>
                    </a:p>
                  </a:txBody>
                  <a:tcPr marL="0" marR="0" marT="0" marB="0"/>
                </a:tc>
              </a:tr>
              <a:tr h="262890">
                <a:tc>
                  <a:txBody>
                    <a:bodyPr/>
                    <a:lstStyle/>
                    <a:p>
                      <a:pPr marL="73025" marR="0">
                        <a:lnSpc>
                          <a:spcPts val="1375"/>
                        </a:lnSpc>
                        <a:spcBef>
                          <a:spcPts val="0"/>
                        </a:spcBef>
                        <a:spcAft>
                          <a:spcPts val="0"/>
                        </a:spcAft>
                      </a:pPr>
                      <a:r>
                        <a:rPr lang="en-US" sz="1200" spc="-10">
                          <a:effectLst/>
                        </a:rPr>
                        <a:t>Accuracy</a:t>
                      </a:r>
                      <a:endParaRPr lang="en-US" sz="1100">
                        <a:effectLst/>
                        <a:latin typeface="Calibri"/>
                        <a:ea typeface="Calibri"/>
                        <a:cs typeface="Times New Roman"/>
                      </a:endParaRPr>
                    </a:p>
                  </a:txBody>
                  <a:tcPr marL="0" marR="0" marT="0" marB="0"/>
                </a:tc>
                <a:tc>
                  <a:txBody>
                    <a:bodyPr/>
                    <a:lstStyle/>
                    <a:p>
                      <a:pPr marL="0" marR="0">
                        <a:spcBef>
                          <a:spcPts val="0"/>
                        </a:spcBef>
                        <a:spcAft>
                          <a:spcPts val="0"/>
                        </a:spcAft>
                      </a:pPr>
                      <a:r>
                        <a:rPr lang="en-US" sz="1200">
                          <a:solidFill>
                            <a:schemeClr val="bg1"/>
                          </a:solidFill>
                          <a:effectLst/>
                        </a:rPr>
                        <a:t> </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0" marR="0">
                        <a:spcBef>
                          <a:spcPts val="0"/>
                        </a:spcBef>
                        <a:spcAft>
                          <a:spcPts val="0"/>
                        </a:spcAft>
                      </a:pPr>
                      <a:r>
                        <a:rPr lang="en-US" sz="1200">
                          <a:solidFill>
                            <a:schemeClr val="bg1"/>
                          </a:solidFill>
                          <a:effectLst/>
                        </a:rPr>
                        <a:t> </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dirty="0">
                          <a:solidFill>
                            <a:schemeClr val="bg1"/>
                          </a:solidFill>
                          <a:effectLst/>
                        </a:rPr>
                        <a:t>0.72</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effectLst/>
                        </a:rPr>
                        <a:t>2004</a:t>
                      </a:r>
                      <a:endParaRPr lang="en-US" sz="1100">
                        <a:effectLst/>
                        <a:latin typeface="Calibri"/>
                        <a:ea typeface="Calibri"/>
                        <a:cs typeface="Times New Roman"/>
                      </a:endParaRPr>
                    </a:p>
                  </a:txBody>
                  <a:tcPr marL="0" marR="0" marT="0" marB="0"/>
                </a:tc>
              </a:tr>
              <a:tr h="261620">
                <a:tc>
                  <a:txBody>
                    <a:bodyPr/>
                    <a:lstStyle/>
                    <a:p>
                      <a:pPr marL="73025" marR="0">
                        <a:lnSpc>
                          <a:spcPts val="1375"/>
                        </a:lnSpc>
                        <a:spcBef>
                          <a:spcPts val="0"/>
                        </a:spcBef>
                        <a:spcAft>
                          <a:spcPts val="0"/>
                        </a:spcAft>
                      </a:pPr>
                      <a:r>
                        <a:rPr lang="en-US" sz="1200">
                          <a:effectLst/>
                        </a:rPr>
                        <a:t>Macro</a:t>
                      </a:r>
                      <a:r>
                        <a:rPr lang="en-US" sz="1200" spc="-20">
                          <a:effectLst/>
                        </a:rPr>
                        <a:t> </a:t>
                      </a:r>
                      <a:r>
                        <a:rPr lang="en-US" sz="1200" spc="-25">
                          <a:effectLst/>
                        </a:rPr>
                        <a:t>Avg</a:t>
                      </a:r>
                      <a:endParaRPr lang="en-US" sz="1100">
                        <a:effectLst/>
                        <a:latin typeface="Calibri"/>
                        <a:ea typeface="Calibri"/>
                        <a:cs typeface="Times New Roman"/>
                      </a:endParaRPr>
                    </a:p>
                  </a:txBody>
                  <a:tcPr marL="0" marR="0" marT="0" marB="0"/>
                </a:tc>
                <a:tc>
                  <a:txBody>
                    <a:bodyPr/>
                    <a:lstStyle/>
                    <a:p>
                      <a:pPr marL="69850" marR="0">
                        <a:lnSpc>
                          <a:spcPts val="1375"/>
                        </a:lnSpc>
                        <a:spcBef>
                          <a:spcPts val="0"/>
                        </a:spcBef>
                        <a:spcAft>
                          <a:spcPts val="0"/>
                        </a:spcAft>
                      </a:pPr>
                      <a:r>
                        <a:rPr lang="en-US" sz="1200" spc="-20">
                          <a:solidFill>
                            <a:schemeClr val="bg1"/>
                          </a:solidFill>
                          <a:effectLst/>
                        </a:rPr>
                        <a:t>0.55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2390" marR="0">
                        <a:lnSpc>
                          <a:spcPts val="1375"/>
                        </a:lnSpc>
                        <a:spcBef>
                          <a:spcPts val="0"/>
                        </a:spcBef>
                        <a:spcAft>
                          <a:spcPts val="0"/>
                        </a:spcAft>
                      </a:pPr>
                      <a:r>
                        <a:rPr lang="en-US" sz="1200" spc="-20">
                          <a:solidFill>
                            <a:schemeClr val="bg1"/>
                          </a:solidFill>
                          <a:effectLst/>
                        </a:rPr>
                        <a:t>0.65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dirty="0">
                          <a:solidFill>
                            <a:schemeClr val="bg1"/>
                          </a:solidFill>
                          <a:effectLst/>
                        </a:rPr>
                        <a:t>0.59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75"/>
                        </a:lnSpc>
                        <a:spcBef>
                          <a:spcPts val="0"/>
                        </a:spcBef>
                        <a:spcAft>
                          <a:spcPts val="0"/>
                        </a:spcAft>
                      </a:pPr>
                      <a:r>
                        <a:rPr lang="en-US" sz="1200" spc="-20">
                          <a:effectLst/>
                        </a:rPr>
                        <a:t>2004</a:t>
                      </a:r>
                      <a:endParaRPr lang="en-US" sz="1100">
                        <a:effectLst/>
                        <a:latin typeface="Calibri"/>
                        <a:ea typeface="Calibri"/>
                        <a:cs typeface="Times New Roman"/>
                      </a:endParaRPr>
                    </a:p>
                  </a:txBody>
                  <a:tcPr marL="0" marR="0" marT="0" marB="0"/>
                </a:tc>
              </a:tr>
              <a:tr h="262890">
                <a:tc>
                  <a:txBody>
                    <a:bodyPr/>
                    <a:lstStyle/>
                    <a:p>
                      <a:pPr marL="73025" marR="0">
                        <a:spcBef>
                          <a:spcPts val="5"/>
                        </a:spcBef>
                        <a:spcAft>
                          <a:spcPts val="0"/>
                        </a:spcAft>
                      </a:pPr>
                      <a:r>
                        <a:rPr lang="en-US" sz="1200">
                          <a:effectLst/>
                        </a:rPr>
                        <a:t>Weighted</a:t>
                      </a:r>
                      <a:r>
                        <a:rPr lang="en-US" sz="1200" spc="-75">
                          <a:effectLst/>
                        </a:rPr>
                        <a:t> </a:t>
                      </a:r>
                      <a:r>
                        <a:rPr lang="en-US" sz="1200" spc="-25">
                          <a:effectLst/>
                        </a:rPr>
                        <a:t>Avg</a:t>
                      </a:r>
                      <a:endParaRPr lang="en-US" sz="1100">
                        <a:effectLst/>
                        <a:latin typeface="Calibri"/>
                        <a:ea typeface="Calibri"/>
                        <a:cs typeface="Times New Roman"/>
                      </a:endParaRPr>
                    </a:p>
                  </a:txBody>
                  <a:tcPr marL="0" marR="0" marT="0" marB="0"/>
                </a:tc>
                <a:tc>
                  <a:txBody>
                    <a:bodyPr/>
                    <a:lstStyle/>
                    <a:p>
                      <a:pPr marL="69850" marR="0">
                        <a:spcBef>
                          <a:spcPts val="5"/>
                        </a:spcBef>
                        <a:spcAft>
                          <a:spcPts val="0"/>
                        </a:spcAft>
                      </a:pPr>
                      <a:r>
                        <a:rPr lang="en-US" sz="1200" spc="-20">
                          <a:effectLst/>
                        </a:rPr>
                        <a:t>0.79</a:t>
                      </a:r>
                      <a:endParaRPr lang="en-US" sz="1100">
                        <a:effectLst/>
                        <a:latin typeface="Calibri"/>
                        <a:ea typeface="Calibri"/>
                        <a:cs typeface="Times New Roman"/>
                      </a:endParaRPr>
                    </a:p>
                  </a:txBody>
                  <a:tcPr marL="0" marR="0" marT="0" marB="0"/>
                </a:tc>
                <a:tc>
                  <a:txBody>
                    <a:bodyPr/>
                    <a:lstStyle/>
                    <a:p>
                      <a:pPr marL="72390" marR="0">
                        <a:spcBef>
                          <a:spcPts val="5"/>
                        </a:spcBef>
                        <a:spcAft>
                          <a:spcPts val="0"/>
                        </a:spcAft>
                      </a:pPr>
                      <a:r>
                        <a:rPr lang="en-US" sz="1200" spc="-20">
                          <a:effectLst/>
                        </a:rPr>
                        <a:t>0.72</a:t>
                      </a:r>
                      <a:endParaRPr lang="en-US" sz="1100">
                        <a:effectLst/>
                        <a:latin typeface="Calibri"/>
                        <a:ea typeface="Calibri"/>
                        <a:cs typeface="Times New Roman"/>
                      </a:endParaRPr>
                    </a:p>
                  </a:txBody>
                  <a:tcPr marL="0" marR="0" marT="0" marB="0"/>
                </a:tc>
                <a:tc>
                  <a:txBody>
                    <a:bodyPr/>
                    <a:lstStyle/>
                    <a:p>
                      <a:pPr marL="71120" marR="0">
                        <a:spcBef>
                          <a:spcPts val="5"/>
                        </a:spcBef>
                        <a:spcAft>
                          <a:spcPts val="0"/>
                        </a:spcAft>
                      </a:pPr>
                      <a:r>
                        <a:rPr lang="en-US" sz="1200" spc="-20">
                          <a:effectLst/>
                        </a:rPr>
                        <a:t>0.74</a:t>
                      </a:r>
                      <a:endParaRPr lang="en-US" sz="1100">
                        <a:effectLst/>
                        <a:latin typeface="Calibri"/>
                        <a:ea typeface="Calibri"/>
                        <a:cs typeface="Times New Roman"/>
                      </a:endParaRPr>
                    </a:p>
                  </a:txBody>
                  <a:tcPr marL="0" marR="0" marT="0" marB="0"/>
                </a:tc>
                <a:tc>
                  <a:txBody>
                    <a:bodyPr/>
                    <a:lstStyle/>
                    <a:p>
                      <a:pPr marL="71120" marR="0">
                        <a:spcBef>
                          <a:spcPts val="5"/>
                        </a:spcBef>
                        <a:spcAft>
                          <a:spcPts val="0"/>
                        </a:spcAft>
                      </a:pPr>
                      <a:r>
                        <a:rPr lang="en-US" sz="1200" spc="-20" dirty="0">
                          <a:effectLst/>
                        </a:rPr>
                        <a:t>2004</a:t>
                      </a:r>
                      <a:endParaRPr lang="en-US" sz="1100" dirty="0">
                        <a:effectLst/>
                        <a:latin typeface="Calibri"/>
                        <a:ea typeface="Calibri"/>
                        <a:cs typeface="Times New Roman"/>
                      </a:endParaRPr>
                    </a:p>
                  </a:txBody>
                  <a:tcPr marL="0" marR="0" marT="0" marB="0"/>
                </a:tc>
              </a:tr>
            </a:tbl>
          </a:graphicData>
        </a:graphic>
      </p:graphicFrame>
      <p:sp>
        <p:nvSpPr>
          <p:cNvPr id="5" name="Rectangle 1"/>
          <p:cNvSpPr>
            <a:spLocks noChangeArrowheads="1"/>
          </p:cNvSpPr>
          <p:nvPr/>
        </p:nvSpPr>
        <p:spPr bwMode="auto">
          <a:xfrm>
            <a:off x="1930400" y="24193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083895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Testing[6/7]</a:t>
            </a:r>
            <a:endParaRPr lang="en-US" dirty="0"/>
          </a:p>
        </p:txBody>
      </p:sp>
      <p:sp>
        <p:nvSpPr>
          <p:cNvPr id="3" name="Text Placeholder 2"/>
          <p:cNvSpPr>
            <a:spLocks noGrp="1"/>
          </p:cNvSpPr>
          <p:nvPr>
            <p:ph type="body" idx="1"/>
          </p:nvPr>
        </p:nvSpPr>
        <p:spPr/>
        <p:txBody>
          <a:bodyPr/>
          <a:lstStyle/>
          <a:p>
            <a:r>
              <a:rPr lang="it-IT" sz="2400" b="1" dirty="0" smtClean="0"/>
              <a:t>EfficientNetB5</a:t>
            </a:r>
            <a:r>
              <a:rPr lang="it-IT" sz="2400" dirty="0" smtClean="0"/>
              <a:t> </a:t>
            </a:r>
            <a:r>
              <a:rPr lang="it-IT" sz="2400" dirty="0"/>
              <a:t>Model Performance (UnderSample</a:t>
            </a:r>
            <a:r>
              <a:rPr lang="it-IT" sz="2400" dirty="0" smtClean="0"/>
              <a:t>)</a:t>
            </a:r>
          </a:p>
          <a:p>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3916689559"/>
              </p:ext>
            </p:extLst>
          </p:nvPr>
        </p:nvGraphicFramePr>
        <p:xfrm>
          <a:off x="1930400" y="2310510"/>
          <a:ext cx="5283200" cy="2628265"/>
        </p:xfrm>
        <a:graphic>
          <a:graphicData uri="http://schemas.openxmlformats.org/drawingml/2006/table">
            <a:tbl>
              <a:tblPr firstRow="1" firstCol="1" lastRow="1" lastCol="1" bandRow="1" bandCol="1">
                <a:tableStyleId>{5C22544A-7EE6-4342-B048-85BDC9FD1C3A}</a:tableStyleId>
              </a:tblPr>
              <a:tblGrid>
                <a:gridCol w="1419225"/>
                <a:gridCol w="1103630"/>
                <a:gridCol w="1043940"/>
                <a:gridCol w="1030605"/>
                <a:gridCol w="685800"/>
              </a:tblGrid>
              <a:tr h="263525">
                <a:tc>
                  <a:txBody>
                    <a:bodyPr/>
                    <a:lstStyle/>
                    <a:p>
                      <a:pPr marL="73025" marR="0">
                        <a:lnSpc>
                          <a:spcPts val="1380"/>
                        </a:lnSpc>
                        <a:spcBef>
                          <a:spcPts val="0"/>
                        </a:spcBef>
                        <a:spcAft>
                          <a:spcPts val="0"/>
                        </a:spcAft>
                      </a:pPr>
                      <a:r>
                        <a:rPr lang="en-US" sz="1200" spc="-10" dirty="0">
                          <a:effectLst/>
                        </a:rPr>
                        <a:t>Class</a:t>
                      </a:r>
                      <a:endParaRPr lang="en-US" sz="1100" dirty="0">
                        <a:effectLst/>
                        <a:latin typeface="Calibri"/>
                        <a:ea typeface="Calibri"/>
                        <a:cs typeface="Times New Roman"/>
                      </a:endParaRPr>
                    </a:p>
                  </a:txBody>
                  <a:tcPr marL="0" marR="0" marT="0" marB="0"/>
                </a:tc>
                <a:tc>
                  <a:txBody>
                    <a:bodyPr/>
                    <a:lstStyle/>
                    <a:p>
                      <a:pPr marL="69850" marR="0">
                        <a:lnSpc>
                          <a:spcPts val="1380"/>
                        </a:lnSpc>
                        <a:spcBef>
                          <a:spcPts val="0"/>
                        </a:spcBef>
                        <a:spcAft>
                          <a:spcPts val="0"/>
                        </a:spcAft>
                      </a:pPr>
                      <a:r>
                        <a:rPr lang="en-US" sz="1200" spc="-10">
                          <a:effectLst/>
                        </a:rPr>
                        <a:t>Precision</a:t>
                      </a:r>
                      <a:endParaRPr lang="en-US" sz="1100">
                        <a:effectLst/>
                        <a:latin typeface="Calibri"/>
                        <a:ea typeface="Calibri"/>
                        <a:cs typeface="Times New Roman"/>
                      </a:endParaRPr>
                    </a:p>
                  </a:txBody>
                  <a:tcPr marL="0" marR="0" marT="0" marB="0"/>
                </a:tc>
                <a:tc>
                  <a:txBody>
                    <a:bodyPr/>
                    <a:lstStyle/>
                    <a:p>
                      <a:pPr marL="73025" marR="0">
                        <a:lnSpc>
                          <a:spcPts val="1380"/>
                        </a:lnSpc>
                        <a:spcBef>
                          <a:spcPts val="0"/>
                        </a:spcBef>
                        <a:spcAft>
                          <a:spcPts val="0"/>
                        </a:spcAft>
                      </a:pPr>
                      <a:r>
                        <a:rPr lang="en-US" sz="1200" spc="-10">
                          <a:effectLst/>
                        </a:rPr>
                        <a:t>Recall</a:t>
                      </a:r>
                      <a:endParaRPr lang="en-US" sz="1100">
                        <a:effectLst/>
                        <a:latin typeface="Calibri"/>
                        <a:ea typeface="Calibri"/>
                        <a:cs typeface="Times New Roman"/>
                      </a:endParaRPr>
                    </a:p>
                  </a:txBody>
                  <a:tcPr marL="0" marR="0" marT="0" marB="0"/>
                </a:tc>
                <a:tc>
                  <a:txBody>
                    <a:bodyPr/>
                    <a:lstStyle/>
                    <a:p>
                      <a:pPr marL="71120" marR="0">
                        <a:lnSpc>
                          <a:spcPts val="1380"/>
                        </a:lnSpc>
                        <a:spcBef>
                          <a:spcPts val="0"/>
                        </a:spcBef>
                        <a:spcAft>
                          <a:spcPts val="0"/>
                        </a:spcAft>
                      </a:pPr>
                      <a:r>
                        <a:rPr lang="en-US" sz="1200" spc="-25">
                          <a:effectLst/>
                        </a:rPr>
                        <a:t>F1-</a:t>
                      </a:r>
                      <a:r>
                        <a:rPr lang="en-US" sz="1200" spc="-10">
                          <a:effectLst/>
                        </a:rPr>
                        <a:t>Score</a:t>
                      </a:r>
                      <a:endParaRPr lang="en-US" sz="1100">
                        <a:effectLst/>
                        <a:latin typeface="Calibri"/>
                        <a:ea typeface="Calibri"/>
                        <a:cs typeface="Times New Roman"/>
                      </a:endParaRPr>
                    </a:p>
                  </a:txBody>
                  <a:tcPr marL="0" marR="0" marT="0" marB="0"/>
                </a:tc>
                <a:tc>
                  <a:txBody>
                    <a:bodyPr/>
                    <a:lstStyle/>
                    <a:p>
                      <a:pPr marL="71120" marR="0">
                        <a:lnSpc>
                          <a:spcPts val="1380"/>
                        </a:lnSpc>
                        <a:spcBef>
                          <a:spcPts val="0"/>
                        </a:spcBef>
                        <a:spcAft>
                          <a:spcPts val="0"/>
                        </a:spcAft>
                      </a:pPr>
                      <a:r>
                        <a:rPr lang="en-US" sz="1200" spc="-10">
                          <a:effectLst/>
                        </a:rPr>
                        <a:t>Support</a:t>
                      </a:r>
                      <a:endParaRPr lang="en-US" sz="1100">
                        <a:effectLst/>
                        <a:latin typeface="Calibri"/>
                        <a:ea typeface="Calibri"/>
                        <a:cs typeface="Times New Roman"/>
                      </a:endParaRPr>
                    </a:p>
                  </a:txBody>
                  <a:tcPr marL="0" marR="0" marT="0" marB="0"/>
                </a:tc>
              </a:tr>
              <a:tr h="260350">
                <a:tc>
                  <a:txBody>
                    <a:bodyPr/>
                    <a:lstStyle/>
                    <a:p>
                      <a:pPr marL="73025" marR="0">
                        <a:spcBef>
                          <a:spcPts val="75"/>
                        </a:spcBef>
                        <a:spcAft>
                          <a:spcPts val="0"/>
                        </a:spcAft>
                      </a:pPr>
                      <a:r>
                        <a:rPr lang="en-US" sz="1150" spc="-10">
                          <a:effectLst/>
                        </a:rPr>
                        <a:t>akiec</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dirty="0">
                          <a:solidFill>
                            <a:schemeClr val="bg1"/>
                          </a:solidFill>
                          <a:effectLst/>
                        </a:rPr>
                        <a:t>0.54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15"/>
                        </a:lnSpc>
                        <a:spcBef>
                          <a:spcPts val="0"/>
                        </a:spcBef>
                        <a:spcAft>
                          <a:spcPts val="0"/>
                        </a:spcAft>
                      </a:pPr>
                      <a:r>
                        <a:rPr lang="en-US" sz="1150" spc="-20">
                          <a:solidFill>
                            <a:schemeClr val="bg1"/>
                          </a:solidFill>
                          <a:effectLst/>
                        </a:rPr>
                        <a:t>0.66</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a:solidFill>
                            <a:schemeClr val="bg1"/>
                          </a:solidFill>
                          <a:effectLst/>
                        </a:rPr>
                        <a:t>0.59</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5">
                          <a:effectLst/>
                        </a:rPr>
                        <a:t>65</a:t>
                      </a:r>
                      <a:endParaRPr lang="en-US" sz="1100">
                        <a:effectLst/>
                        <a:latin typeface="Calibri"/>
                        <a:ea typeface="Calibri"/>
                        <a:cs typeface="Times New Roman"/>
                      </a:endParaRPr>
                    </a:p>
                  </a:txBody>
                  <a:tcPr marL="0" marR="0" marT="0" marB="0"/>
                </a:tc>
              </a:tr>
              <a:tr h="261620">
                <a:tc>
                  <a:txBody>
                    <a:bodyPr/>
                    <a:lstStyle/>
                    <a:p>
                      <a:pPr marL="73025" marR="0">
                        <a:spcBef>
                          <a:spcPts val="90"/>
                        </a:spcBef>
                        <a:spcAft>
                          <a:spcPts val="0"/>
                        </a:spcAft>
                      </a:pPr>
                      <a:r>
                        <a:rPr lang="en-US" sz="1150" spc="-25">
                          <a:effectLst/>
                        </a:rPr>
                        <a:t>bcc</a:t>
                      </a:r>
                      <a:endParaRPr lang="en-US" sz="1100">
                        <a:effectLst/>
                        <a:latin typeface="Calibri"/>
                        <a:ea typeface="Calibri"/>
                        <a:cs typeface="Times New Roman"/>
                      </a:endParaRPr>
                    </a:p>
                  </a:txBody>
                  <a:tcPr marL="0" marR="0" marT="0" marB="0"/>
                </a:tc>
                <a:tc>
                  <a:txBody>
                    <a:bodyPr/>
                    <a:lstStyle/>
                    <a:p>
                      <a:pPr marL="69850" marR="0">
                        <a:spcBef>
                          <a:spcPts val="5"/>
                        </a:spcBef>
                        <a:spcAft>
                          <a:spcPts val="0"/>
                        </a:spcAft>
                      </a:pPr>
                      <a:r>
                        <a:rPr lang="en-US" sz="1150" spc="-20" dirty="0">
                          <a:solidFill>
                            <a:schemeClr val="bg1"/>
                          </a:solidFill>
                          <a:effectLst/>
                        </a:rPr>
                        <a:t>0.66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spcBef>
                          <a:spcPts val="5"/>
                        </a:spcBef>
                        <a:spcAft>
                          <a:spcPts val="0"/>
                        </a:spcAft>
                      </a:pPr>
                      <a:r>
                        <a:rPr lang="en-US" sz="1150" spc="-20">
                          <a:solidFill>
                            <a:schemeClr val="bg1"/>
                          </a:solidFill>
                          <a:effectLst/>
                        </a:rPr>
                        <a:t>0.81</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spcBef>
                          <a:spcPts val="5"/>
                        </a:spcBef>
                        <a:spcAft>
                          <a:spcPts val="0"/>
                        </a:spcAft>
                      </a:pPr>
                      <a:r>
                        <a:rPr lang="en-US" sz="1150" spc="-20">
                          <a:solidFill>
                            <a:schemeClr val="bg1"/>
                          </a:solidFill>
                          <a:effectLst/>
                        </a:rPr>
                        <a:t>0.73</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spcBef>
                          <a:spcPts val="5"/>
                        </a:spcBef>
                        <a:spcAft>
                          <a:spcPts val="0"/>
                        </a:spcAft>
                      </a:pPr>
                      <a:r>
                        <a:rPr lang="en-US" sz="1150" spc="-25">
                          <a:effectLst/>
                        </a:rPr>
                        <a:t>103</a:t>
                      </a:r>
                      <a:endParaRPr lang="en-US" sz="1100">
                        <a:effectLst/>
                        <a:latin typeface="Calibri"/>
                        <a:ea typeface="Calibri"/>
                        <a:cs typeface="Times New Roman"/>
                      </a:endParaRPr>
                    </a:p>
                  </a:txBody>
                  <a:tcPr marL="0" marR="0" marT="0" marB="0"/>
                </a:tc>
              </a:tr>
              <a:tr h="264795">
                <a:tc>
                  <a:txBody>
                    <a:bodyPr/>
                    <a:lstStyle/>
                    <a:p>
                      <a:pPr marL="73025" marR="0">
                        <a:spcBef>
                          <a:spcPts val="100"/>
                        </a:spcBef>
                        <a:spcAft>
                          <a:spcPts val="0"/>
                        </a:spcAft>
                      </a:pPr>
                      <a:r>
                        <a:rPr lang="en-US" sz="1150" spc="-25">
                          <a:effectLst/>
                        </a:rPr>
                        <a:t>bkl</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dirty="0">
                          <a:solidFill>
                            <a:schemeClr val="bg1"/>
                          </a:solidFill>
                          <a:effectLst/>
                        </a:rPr>
                        <a:t>0.74</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15"/>
                        </a:lnSpc>
                        <a:spcBef>
                          <a:spcPts val="0"/>
                        </a:spcBef>
                        <a:spcAft>
                          <a:spcPts val="0"/>
                        </a:spcAft>
                      </a:pPr>
                      <a:r>
                        <a:rPr lang="en-US" sz="1150" spc="-20" dirty="0">
                          <a:solidFill>
                            <a:schemeClr val="bg1"/>
                          </a:solidFill>
                          <a:effectLst/>
                        </a:rPr>
                        <a:t>0.62</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a:solidFill>
                            <a:schemeClr val="bg1"/>
                          </a:solidFill>
                          <a:effectLst/>
                        </a:rPr>
                        <a:t>0.67</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5">
                          <a:effectLst/>
                        </a:rPr>
                        <a:t>220</a:t>
                      </a:r>
                      <a:endParaRPr lang="en-US" sz="1100">
                        <a:effectLst/>
                        <a:latin typeface="Calibri"/>
                        <a:ea typeface="Calibri"/>
                        <a:cs typeface="Times New Roman"/>
                      </a:endParaRPr>
                    </a:p>
                  </a:txBody>
                  <a:tcPr marL="0" marR="0" marT="0" marB="0"/>
                </a:tc>
              </a:tr>
              <a:tr h="264795">
                <a:tc>
                  <a:txBody>
                    <a:bodyPr/>
                    <a:lstStyle/>
                    <a:p>
                      <a:pPr marL="73025" marR="0">
                        <a:spcBef>
                          <a:spcPts val="100"/>
                        </a:spcBef>
                        <a:spcAft>
                          <a:spcPts val="0"/>
                        </a:spcAft>
                      </a:pPr>
                      <a:r>
                        <a:rPr lang="en-US" sz="1150" spc="-25">
                          <a:effectLst/>
                        </a:rPr>
                        <a:t>df</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a:solidFill>
                            <a:schemeClr val="bg1"/>
                          </a:solidFill>
                          <a:effectLst/>
                        </a:rPr>
                        <a:t>0.55</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15"/>
                        </a:lnSpc>
                        <a:spcBef>
                          <a:spcPts val="0"/>
                        </a:spcBef>
                        <a:spcAft>
                          <a:spcPts val="0"/>
                        </a:spcAft>
                      </a:pPr>
                      <a:r>
                        <a:rPr lang="en-US" sz="1150" spc="-20" dirty="0">
                          <a:solidFill>
                            <a:schemeClr val="bg1"/>
                          </a:solidFill>
                          <a:effectLst/>
                        </a:rPr>
                        <a:t>0.73</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a:solidFill>
                            <a:schemeClr val="bg1"/>
                          </a:solidFill>
                          <a:effectLst/>
                        </a:rPr>
                        <a:t>0.63</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5">
                          <a:effectLst/>
                        </a:rPr>
                        <a:t>22</a:t>
                      </a:r>
                      <a:endParaRPr lang="en-US" sz="1100">
                        <a:effectLst/>
                        <a:latin typeface="Calibri"/>
                        <a:ea typeface="Calibri"/>
                        <a:cs typeface="Times New Roman"/>
                      </a:endParaRPr>
                    </a:p>
                  </a:txBody>
                  <a:tcPr marL="0" marR="0" marT="0" marB="0"/>
                </a:tc>
              </a:tr>
              <a:tr h="261620">
                <a:tc>
                  <a:txBody>
                    <a:bodyPr/>
                    <a:lstStyle/>
                    <a:p>
                      <a:pPr marL="73025" marR="0">
                        <a:spcBef>
                          <a:spcPts val="75"/>
                        </a:spcBef>
                        <a:spcAft>
                          <a:spcPts val="0"/>
                        </a:spcAft>
                      </a:pPr>
                      <a:r>
                        <a:rPr lang="en-US" sz="1150" spc="-25">
                          <a:effectLst/>
                        </a:rPr>
                        <a:t>mel</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a:solidFill>
                            <a:schemeClr val="bg1"/>
                          </a:solidFill>
                          <a:effectLst/>
                        </a:rPr>
                        <a:t>0.44</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15"/>
                        </a:lnSpc>
                        <a:spcBef>
                          <a:spcPts val="0"/>
                        </a:spcBef>
                        <a:spcAft>
                          <a:spcPts val="0"/>
                        </a:spcAft>
                      </a:pPr>
                      <a:r>
                        <a:rPr lang="en-US" sz="1150" spc="-20" dirty="0">
                          <a:solidFill>
                            <a:schemeClr val="bg1"/>
                          </a:solidFill>
                          <a:effectLst/>
                        </a:rPr>
                        <a:t>0.78</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dirty="0">
                          <a:solidFill>
                            <a:schemeClr val="bg1"/>
                          </a:solidFill>
                          <a:effectLst/>
                        </a:rPr>
                        <a:t>0.56</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5">
                          <a:effectLst/>
                        </a:rPr>
                        <a:t>223</a:t>
                      </a:r>
                      <a:endParaRPr lang="en-US" sz="1100">
                        <a:effectLst/>
                        <a:latin typeface="Calibri"/>
                        <a:ea typeface="Calibri"/>
                        <a:cs typeface="Times New Roman"/>
                      </a:endParaRPr>
                    </a:p>
                  </a:txBody>
                  <a:tcPr marL="0" marR="0" marT="0" marB="0"/>
                </a:tc>
              </a:tr>
              <a:tr h="260350">
                <a:tc>
                  <a:txBody>
                    <a:bodyPr/>
                    <a:lstStyle/>
                    <a:p>
                      <a:pPr marL="73025" marR="0">
                        <a:spcBef>
                          <a:spcPts val="75"/>
                        </a:spcBef>
                        <a:spcAft>
                          <a:spcPts val="0"/>
                        </a:spcAft>
                      </a:pPr>
                      <a:r>
                        <a:rPr lang="en-US" sz="1150" spc="-25">
                          <a:effectLst/>
                        </a:rPr>
                        <a:t>nv</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a:solidFill>
                            <a:schemeClr val="bg1"/>
                          </a:solidFill>
                          <a:effectLst/>
                        </a:rPr>
                        <a:t>0.97</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15"/>
                        </a:lnSpc>
                        <a:spcBef>
                          <a:spcPts val="0"/>
                        </a:spcBef>
                        <a:spcAft>
                          <a:spcPts val="0"/>
                        </a:spcAft>
                      </a:pPr>
                      <a:r>
                        <a:rPr lang="en-US" sz="1150" spc="-20">
                          <a:solidFill>
                            <a:schemeClr val="bg1"/>
                          </a:solidFill>
                          <a:effectLst/>
                        </a:rPr>
                        <a:t>0.83</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dirty="0">
                          <a:solidFill>
                            <a:schemeClr val="bg1"/>
                          </a:solidFill>
                          <a:effectLst/>
                        </a:rPr>
                        <a:t>0.89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a:effectLst/>
                        </a:rPr>
                        <a:t>1342</a:t>
                      </a:r>
                      <a:endParaRPr lang="en-US" sz="1100">
                        <a:effectLst/>
                        <a:latin typeface="Calibri"/>
                        <a:ea typeface="Calibri"/>
                        <a:cs typeface="Times New Roman"/>
                      </a:endParaRPr>
                    </a:p>
                  </a:txBody>
                  <a:tcPr marL="0" marR="0" marT="0" marB="0"/>
                </a:tc>
              </a:tr>
              <a:tr h="261620">
                <a:tc>
                  <a:txBody>
                    <a:bodyPr/>
                    <a:lstStyle/>
                    <a:p>
                      <a:pPr marL="73025" marR="0">
                        <a:spcBef>
                          <a:spcPts val="75"/>
                        </a:spcBef>
                        <a:spcAft>
                          <a:spcPts val="0"/>
                        </a:spcAft>
                      </a:pPr>
                      <a:r>
                        <a:rPr lang="en-US" sz="1150" spc="-20">
                          <a:effectLst/>
                        </a:rPr>
                        <a:t>vasc</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a:solidFill>
                            <a:schemeClr val="bg1"/>
                          </a:solidFill>
                          <a:effectLst/>
                        </a:rPr>
                        <a:t>0.70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3025" marR="0">
                        <a:lnSpc>
                          <a:spcPts val="1315"/>
                        </a:lnSpc>
                        <a:spcBef>
                          <a:spcPts val="0"/>
                        </a:spcBef>
                        <a:spcAft>
                          <a:spcPts val="0"/>
                        </a:spcAft>
                      </a:pPr>
                      <a:r>
                        <a:rPr lang="en-US" sz="1150" spc="-20">
                          <a:solidFill>
                            <a:schemeClr val="bg1"/>
                          </a:solidFill>
                          <a:effectLst/>
                        </a:rPr>
                        <a:t>0.90</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dirty="0">
                          <a:solidFill>
                            <a:schemeClr val="bg1"/>
                          </a:solidFill>
                          <a:effectLst/>
                        </a:rPr>
                        <a:t>0.79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5">
                          <a:effectLst/>
                        </a:rPr>
                        <a:t>29</a:t>
                      </a:r>
                      <a:endParaRPr lang="en-US" sz="1100">
                        <a:effectLst/>
                        <a:latin typeface="Calibri"/>
                        <a:ea typeface="Calibri"/>
                        <a:cs typeface="Times New Roman"/>
                      </a:endParaRPr>
                    </a:p>
                  </a:txBody>
                  <a:tcPr marL="0" marR="0" marT="0" marB="0"/>
                </a:tc>
              </a:tr>
              <a:tr h="264795">
                <a:tc>
                  <a:txBody>
                    <a:bodyPr/>
                    <a:lstStyle/>
                    <a:p>
                      <a:pPr marL="73025" marR="0">
                        <a:spcBef>
                          <a:spcPts val="100"/>
                        </a:spcBef>
                        <a:spcAft>
                          <a:spcPts val="0"/>
                        </a:spcAft>
                      </a:pPr>
                      <a:r>
                        <a:rPr lang="en-US" sz="1150" spc="-10">
                          <a:effectLst/>
                        </a:rPr>
                        <a:t>Accuracy</a:t>
                      </a:r>
                      <a:endParaRPr lang="en-US" sz="1100">
                        <a:effectLst/>
                        <a:latin typeface="Calibri"/>
                        <a:ea typeface="Calibri"/>
                        <a:cs typeface="Times New Roman"/>
                      </a:endParaRPr>
                    </a:p>
                  </a:txBody>
                  <a:tcPr marL="0" marR="0" marT="0" marB="0"/>
                </a:tc>
                <a:tc>
                  <a:txBody>
                    <a:bodyPr/>
                    <a:lstStyle/>
                    <a:p>
                      <a:pPr marL="0" marR="0">
                        <a:spcBef>
                          <a:spcPts val="0"/>
                        </a:spcBef>
                        <a:spcAft>
                          <a:spcPts val="0"/>
                        </a:spcAft>
                      </a:pPr>
                      <a:r>
                        <a:rPr lang="en-US" sz="1100">
                          <a:solidFill>
                            <a:schemeClr val="bg1"/>
                          </a:solidFill>
                          <a:effectLst/>
                        </a:rPr>
                        <a:t> </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0" marR="0">
                        <a:spcBef>
                          <a:spcPts val="0"/>
                        </a:spcBef>
                        <a:spcAft>
                          <a:spcPts val="0"/>
                        </a:spcAft>
                      </a:pPr>
                      <a:r>
                        <a:rPr lang="en-US" sz="1100">
                          <a:solidFill>
                            <a:schemeClr val="bg1"/>
                          </a:solidFill>
                          <a:effectLst/>
                        </a:rPr>
                        <a:t> </a:t>
                      </a:r>
                      <a:endParaRPr lang="en-US" sz="110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dirty="0">
                          <a:solidFill>
                            <a:schemeClr val="bg1"/>
                          </a:solidFill>
                          <a:effectLst/>
                        </a:rPr>
                        <a:t>0.79</a:t>
                      </a:r>
                      <a:endParaRPr lang="en-US" sz="1100" dirty="0">
                        <a:solidFill>
                          <a:schemeClr val="bg1"/>
                        </a:solidFill>
                        <a:effectLst/>
                        <a:latin typeface="Calibri"/>
                        <a:ea typeface="Calibri"/>
                        <a:cs typeface="Times New Roman"/>
                      </a:endParaRPr>
                    </a:p>
                  </a:txBody>
                  <a:tcPr marL="0" marR="0" marT="0" marB="0">
                    <a:solidFill>
                      <a:schemeClr val="accent1"/>
                    </a:solidFill>
                  </a:tcPr>
                </a:tc>
                <a:tc>
                  <a:txBody>
                    <a:bodyPr/>
                    <a:lstStyle/>
                    <a:p>
                      <a:pPr marL="71120" marR="0">
                        <a:lnSpc>
                          <a:spcPts val="1315"/>
                        </a:lnSpc>
                        <a:spcBef>
                          <a:spcPts val="0"/>
                        </a:spcBef>
                        <a:spcAft>
                          <a:spcPts val="0"/>
                        </a:spcAft>
                      </a:pPr>
                      <a:r>
                        <a:rPr lang="en-US" sz="1150" spc="-20">
                          <a:effectLst/>
                        </a:rPr>
                        <a:t>2004</a:t>
                      </a:r>
                      <a:endParaRPr lang="en-US" sz="1100">
                        <a:effectLst/>
                        <a:latin typeface="Calibri"/>
                        <a:ea typeface="Calibri"/>
                        <a:cs typeface="Times New Roman"/>
                      </a:endParaRPr>
                    </a:p>
                  </a:txBody>
                  <a:tcPr marL="0" marR="0" marT="0" marB="0"/>
                </a:tc>
              </a:tr>
              <a:tr h="264795">
                <a:tc>
                  <a:txBody>
                    <a:bodyPr/>
                    <a:lstStyle/>
                    <a:p>
                      <a:pPr marL="73025" marR="0">
                        <a:spcBef>
                          <a:spcPts val="100"/>
                        </a:spcBef>
                        <a:spcAft>
                          <a:spcPts val="0"/>
                        </a:spcAft>
                      </a:pPr>
                      <a:r>
                        <a:rPr lang="en-US" sz="1150">
                          <a:effectLst/>
                        </a:rPr>
                        <a:t>Macro</a:t>
                      </a:r>
                      <a:r>
                        <a:rPr lang="en-US" sz="1150" spc="-45">
                          <a:effectLst/>
                        </a:rPr>
                        <a:t> </a:t>
                      </a:r>
                      <a:r>
                        <a:rPr lang="en-US" sz="1150" spc="-25">
                          <a:effectLst/>
                        </a:rPr>
                        <a:t>Avg</a:t>
                      </a:r>
                      <a:endParaRPr lang="en-US" sz="1100">
                        <a:effectLst/>
                        <a:latin typeface="Calibri"/>
                        <a:ea typeface="Calibri"/>
                        <a:cs typeface="Times New Roman"/>
                      </a:endParaRPr>
                    </a:p>
                  </a:txBody>
                  <a:tcPr marL="0" marR="0" marT="0" marB="0"/>
                </a:tc>
                <a:tc>
                  <a:txBody>
                    <a:bodyPr/>
                    <a:lstStyle/>
                    <a:p>
                      <a:pPr marL="69850" marR="0">
                        <a:lnSpc>
                          <a:spcPts val="1315"/>
                        </a:lnSpc>
                        <a:spcBef>
                          <a:spcPts val="0"/>
                        </a:spcBef>
                        <a:spcAft>
                          <a:spcPts val="0"/>
                        </a:spcAft>
                      </a:pPr>
                      <a:r>
                        <a:rPr lang="en-US" sz="1150" spc="-20">
                          <a:effectLst/>
                        </a:rPr>
                        <a:t>0.66</a:t>
                      </a:r>
                      <a:endParaRPr lang="en-US" sz="1100">
                        <a:effectLst/>
                        <a:latin typeface="Calibri"/>
                        <a:ea typeface="Calibri"/>
                        <a:cs typeface="Times New Roman"/>
                      </a:endParaRPr>
                    </a:p>
                  </a:txBody>
                  <a:tcPr marL="0" marR="0" marT="0" marB="0"/>
                </a:tc>
                <a:tc>
                  <a:txBody>
                    <a:bodyPr/>
                    <a:lstStyle/>
                    <a:p>
                      <a:pPr marL="73025" marR="0">
                        <a:lnSpc>
                          <a:spcPts val="1315"/>
                        </a:lnSpc>
                        <a:spcBef>
                          <a:spcPts val="0"/>
                        </a:spcBef>
                        <a:spcAft>
                          <a:spcPts val="0"/>
                        </a:spcAft>
                      </a:pPr>
                      <a:r>
                        <a:rPr lang="en-US" sz="1150" spc="-20">
                          <a:effectLst/>
                        </a:rPr>
                        <a:t>0.76</a:t>
                      </a:r>
                      <a:endParaRPr lang="en-US" sz="1100">
                        <a:effectLst/>
                        <a:latin typeface="Calibri"/>
                        <a:ea typeface="Calibri"/>
                        <a:cs typeface="Times New Roman"/>
                      </a:endParaRPr>
                    </a:p>
                  </a:txBody>
                  <a:tcPr marL="0" marR="0" marT="0" marB="0"/>
                </a:tc>
                <a:tc>
                  <a:txBody>
                    <a:bodyPr/>
                    <a:lstStyle/>
                    <a:p>
                      <a:pPr marL="71120" marR="0">
                        <a:lnSpc>
                          <a:spcPts val="1315"/>
                        </a:lnSpc>
                        <a:spcBef>
                          <a:spcPts val="0"/>
                        </a:spcBef>
                        <a:spcAft>
                          <a:spcPts val="0"/>
                        </a:spcAft>
                      </a:pPr>
                      <a:r>
                        <a:rPr lang="en-US" sz="1150" spc="-20">
                          <a:effectLst/>
                        </a:rPr>
                        <a:t>0.69</a:t>
                      </a:r>
                      <a:endParaRPr lang="en-US" sz="1100">
                        <a:effectLst/>
                        <a:latin typeface="Calibri"/>
                        <a:ea typeface="Calibri"/>
                        <a:cs typeface="Times New Roman"/>
                      </a:endParaRPr>
                    </a:p>
                  </a:txBody>
                  <a:tcPr marL="0" marR="0" marT="0" marB="0"/>
                </a:tc>
                <a:tc>
                  <a:txBody>
                    <a:bodyPr/>
                    <a:lstStyle/>
                    <a:p>
                      <a:pPr marL="71120" marR="0">
                        <a:lnSpc>
                          <a:spcPts val="1315"/>
                        </a:lnSpc>
                        <a:spcBef>
                          <a:spcPts val="0"/>
                        </a:spcBef>
                        <a:spcAft>
                          <a:spcPts val="0"/>
                        </a:spcAft>
                      </a:pPr>
                      <a:r>
                        <a:rPr lang="en-US" sz="1150" spc="-20" dirty="0">
                          <a:effectLst/>
                        </a:rPr>
                        <a:t>2004</a:t>
                      </a:r>
                      <a:endParaRPr lang="en-US" sz="1100" dirty="0">
                        <a:effectLst/>
                        <a:latin typeface="Calibri"/>
                        <a:ea typeface="Calibri"/>
                        <a:cs typeface="Times New Roman"/>
                      </a:endParaRPr>
                    </a:p>
                  </a:txBody>
                  <a:tcPr marL="0" marR="0" marT="0" marB="0"/>
                </a:tc>
              </a:tr>
            </a:tbl>
          </a:graphicData>
        </a:graphic>
      </p:graphicFrame>
      <p:sp>
        <p:nvSpPr>
          <p:cNvPr id="5" name="Rectangle 1"/>
          <p:cNvSpPr>
            <a:spLocks noChangeArrowheads="1"/>
          </p:cNvSpPr>
          <p:nvPr/>
        </p:nvSpPr>
        <p:spPr bwMode="auto">
          <a:xfrm>
            <a:off x="1930400" y="2549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595715996"/>
              </p:ext>
            </p:extLst>
          </p:nvPr>
        </p:nvGraphicFramePr>
        <p:xfrm>
          <a:off x="1930400" y="4917114"/>
          <a:ext cx="5283200" cy="261620"/>
        </p:xfrm>
        <a:graphic>
          <a:graphicData uri="http://schemas.openxmlformats.org/drawingml/2006/table">
            <a:tbl>
              <a:tblPr firstRow="1" firstCol="1" lastRow="1" lastCol="1" bandRow="1" bandCol="1">
                <a:tableStyleId>{5C22544A-7EE6-4342-B048-85BDC9FD1C3A}</a:tableStyleId>
              </a:tblPr>
              <a:tblGrid>
                <a:gridCol w="1419225"/>
                <a:gridCol w="1103630"/>
                <a:gridCol w="1043940"/>
                <a:gridCol w="1030605"/>
                <a:gridCol w="685800"/>
              </a:tblGrid>
              <a:tr h="261620">
                <a:tc>
                  <a:txBody>
                    <a:bodyPr/>
                    <a:lstStyle/>
                    <a:p>
                      <a:pPr marL="73025" marR="0">
                        <a:spcBef>
                          <a:spcPts val="80"/>
                        </a:spcBef>
                        <a:spcAft>
                          <a:spcPts val="0"/>
                        </a:spcAft>
                      </a:pPr>
                      <a:r>
                        <a:rPr lang="en-US" sz="1150">
                          <a:effectLst/>
                        </a:rPr>
                        <a:t>Weighted</a:t>
                      </a:r>
                      <a:r>
                        <a:rPr lang="en-US" sz="1150" spc="-60">
                          <a:effectLst/>
                        </a:rPr>
                        <a:t> </a:t>
                      </a:r>
                      <a:r>
                        <a:rPr lang="en-US" sz="1150" spc="-25">
                          <a:effectLst/>
                        </a:rPr>
                        <a:t>Avg</a:t>
                      </a:r>
                      <a:endParaRPr lang="en-US" sz="1100">
                        <a:effectLst/>
                        <a:latin typeface="Calibri"/>
                        <a:ea typeface="Calibri"/>
                        <a:cs typeface="Times New Roman"/>
                      </a:endParaRPr>
                    </a:p>
                  </a:txBody>
                  <a:tcPr marL="0" marR="0" marT="0" marB="0"/>
                </a:tc>
                <a:tc>
                  <a:txBody>
                    <a:bodyPr/>
                    <a:lstStyle/>
                    <a:p>
                      <a:pPr marL="69850" marR="0">
                        <a:lnSpc>
                          <a:spcPts val="1320"/>
                        </a:lnSpc>
                        <a:spcBef>
                          <a:spcPts val="0"/>
                        </a:spcBef>
                        <a:spcAft>
                          <a:spcPts val="0"/>
                        </a:spcAft>
                      </a:pPr>
                      <a:r>
                        <a:rPr lang="en-US" sz="1150" spc="-20">
                          <a:effectLst/>
                        </a:rPr>
                        <a:t>0.84</a:t>
                      </a:r>
                      <a:endParaRPr lang="en-US" sz="1100">
                        <a:effectLst/>
                        <a:latin typeface="Calibri"/>
                        <a:ea typeface="Calibri"/>
                        <a:cs typeface="Times New Roman"/>
                      </a:endParaRPr>
                    </a:p>
                  </a:txBody>
                  <a:tcPr marL="0" marR="0" marT="0" marB="0"/>
                </a:tc>
                <a:tc>
                  <a:txBody>
                    <a:bodyPr/>
                    <a:lstStyle/>
                    <a:p>
                      <a:pPr marL="73025" marR="0">
                        <a:lnSpc>
                          <a:spcPts val="1320"/>
                        </a:lnSpc>
                        <a:spcBef>
                          <a:spcPts val="0"/>
                        </a:spcBef>
                        <a:spcAft>
                          <a:spcPts val="0"/>
                        </a:spcAft>
                      </a:pPr>
                      <a:r>
                        <a:rPr lang="en-US" sz="1150" spc="-20">
                          <a:effectLst/>
                        </a:rPr>
                        <a:t>0.79</a:t>
                      </a:r>
                      <a:endParaRPr lang="en-US" sz="1100">
                        <a:effectLst/>
                        <a:latin typeface="Calibri"/>
                        <a:ea typeface="Calibri"/>
                        <a:cs typeface="Times New Roman"/>
                      </a:endParaRPr>
                    </a:p>
                  </a:txBody>
                  <a:tcPr marL="0" marR="0" marT="0" marB="0"/>
                </a:tc>
                <a:tc>
                  <a:txBody>
                    <a:bodyPr/>
                    <a:lstStyle/>
                    <a:p>
                      <a:pPr marL="71120" marR="0">
                        <a:lnSpc>
                          <a:spcPts val="1320"/>
                        </a:lnSpc>
                        <a:spcBef>
                          <a:spcPts val="0"/>
                        </a:spcBef>
                        <a:spcAft>
                          <a:spcPts val="0"/>
                        </a:spcAft>
                      </a:pPr>
                      <a:r>
                        <a:rPr lang="en-US" sz="1150" spc="-20">
                          <a:effectLst/>
                        </a:rPr>
                        <a:t>0.81</a:t>
                      </a:r>
                      <a:endParaRPr lang="en-US" sz="1100">
                        <a:effectLst/>
                        <a:latin typeface="Calibri"/>
                        <a:ea typeface="Calibri"/>
                        <a:cs typeface="Times New Roman"/>
                      </a:endParaRPr>
                    </a:p>
                  </a:txBody>
                  <a:tcPr marL="0" marR="0" marT="0" marB="0"/>
                </a:tc>
                <a:tc>
                  <a:txBody>
                    <a:bodyPr/>
                    <a:lstStyle/>
                    <a:p>
                      <a:pPr marL="71120" marR="0">
                        <a:lnSpc>
                          <a:spcPts val="1320"/>
                        </a:lnSpc>
                        <a:spcBef>
                          <a:spcPts val="0"/>
                        </a:spcBef>
                        <a:spcAft>
                          <a:spcPts val="0"/>
                        </a:spcAft>
                      </a:pPr>
                      <a:r>
                        <a:rPr lang="en-US" sz="1150" spc="-20" dirty="0">
                          <a:effectLst/>
                        </a:rPr>
                        <a:t>2004</a:t>
                      </a:r>
                      <a:endParaRPr lang="en-US" sz="1100" dirty="0">
                        <a:effectLst/>
                        <a:latin typeface="Calibri"/>
                        <a:ea typeface="Calibri"/>
                        <a:cs typeface="Times New Roman"/>
                      </a:endParaRPr>
                    </a:p>
                  </a:txBody>
                  <a:tcPr marL="0" marR="0" marT="0" marB="0"/>
                </a:tc>
              </a:tr>
            </a:tbl>
          </a:graphicData>
        </a:graphic>
      </p:graphicFrame>
    </p:spTree>
    <p:extLst>
      <p:ext uri="{BB962C8B-B14F-4D97-AF65-F5344CB8AC3E}">
        <p14:creationId xmlns:p14="http://schemas.microsoft.com/office/powerpoint/2010/main" val="36903548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Testing[7/7]</a:t>
            </a:r>
            <a:endParaRPr lang="en-US" dirty="0"/>
          </a:p>
        </p:txBody>
      </p:sp>
      <p:sp>
        <p:nvSpPr>
          <p:cNvPr id="3" name="Text Placeholder 2"/>
          <p:cNvSpPr>
            <a:spLocks noGrp="1"/>
          </p:cNvSpPr>
          <p:nvPr>
            <p:ph type="body" idx="1"/>
          </p:nvPr>
        </p:nvSpPr>
        <p:spPr/>
        <p:txBody>
          <a:bodyPr/>
          <a:lstStyle/>
          <a:p>
            <a:r>
              <a:rPr lang="it-IT" sz="2400" b="1" dirty="0"/>
              <a:t>EfficientNetB5</a:t>
            </a:r>
            <a:r>
              <a:rPr lang="it-IT" sz="2400" dirty="0"/>
              <a:t> Model Performance (UnderSample)</a:t>
            </a:r>
          </a:p>
          <a:p>
            <a:endParaRPr lang="en-US" dirty="0"/>
          </a:p>
        </p:txBody>
      </p:sp>
      <p:pic>
        <p:nvPicPr>
          <p:cNvPr id="4" name="Image 121"/>
          <p:cNvPicPr/>
          <p:nvPr/>
        </p:nvPicPr>
        <p:blipFill>
          <a:blip r:embed="rId2" cstate="print"/>
          <a:stretch>
            <a:fillRect/>
          </a:stretch>
        </p:blipFill>
        <p:spPr>
          <a:xfrm>
            <a:off x="1957386" y="2346615"/>
            <a:ext cx="5229225" cy="2498725"/>
          </a:xfrm>
          <a:prstGeom prst="rect">
            <a:avLst/>
          </a:prstGeom>
        </p:spPr>
      </p:pic>
    </p:spTree>
    <p:extLst>
      <p:ext uri="{BB962C8B-B14F-4D97-AF65-F5344CB8AC3E}">
        <p14:creationId xmlns:p14="http://schemas.microsoft.com/office/powerpoint/2010/main" val="42459585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ENDEAVOUR</a:t>
            </a:r>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Endeavour(1/2)</a:t>
            </a:r>
            <a:endParaRPr dirty="0"/>
          </a:p>
        </p:txBody>
      </p:sp>
      <p:sp>
        <p:nvSpPr>
          <p:cNvPr id="176" name="Google Shape;176;p15"/>
          <p:cNvSpPr txBox="1">
            <a:spLocks noGrp="1"/>
          </p:cNvSpPr>
          <p:nvPr>
            <p:ph type="body" idx="1"/>
          </p:nvPr>
        </p:nvSpPr>
        <p:spPr>
          <a:xfrm>
            <a:off x="297402" y="1050574"/>
            <a:ext cx="8229600" cy="4525963"/>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Hassan Dastagir:</a:t>
            </a:r>
          </a:p>
          <a:p>
            <a:r>
              <a:rPr lang="en-US" sz="2400" dirty="0"/>
              <a:t>Model Training</a:t>
            </a:r>
          </a:p>
          <a:p>
            <a:r>
              <a:rPr lang="en-US" sz="2400" dirty="0" err="1"/>
              <a:t>BackEnd</a:t>
            </a:r>
            <a:endParaRPr lang="en-US" sz="2400" dirty="0"/>
          </a:p>
          <a:p>
            <a:r>
              <a:rPr lang="en-US" sz="2400" dirty="0"/>
              <a:t>Documentation</a:t>
            </a:r>
          </a:p>
          <a:p>
            <a:pPr marL="114300" indent="0">
              <a:buNone/>
            </a:pPr>
            <a:r>
              <a:rPr lang="en-US" sz="2800" b="1" dirty="0"/>
              <a:t>Ali Sher Khan:</a:t>
            </a:r>
          </a:p>
          <a:p>
            <a:r>
              <a:rPr lang="en-US" sz="2400" dirty="0"/>
              <a:t>Model Training</a:t>
            </a:r>
          </a:p>
          <a:p>
            <a:r>
              <a:rPr lang="en-US" sz="2400" dirty="0"/>
              <a:t>Fine Tuning </a:t>
            </a:r>
          </a:p>
          <a:p>
            <a:r>
              <a:rPr lang="en-US" sz="2400" dirty="0"/>
              <a:t>Front End Designing &amp; Development</a:t>
            </a:r>
          </a:p>
          <a:p>
            <a:pPr marL="114300" indent="0">
              <a:buNone/>
            </a:pPr>
            <a:r>
              <a:rPr lang="en-US" sz="2800" b="1" dirty="0"/>
              <a:t>Muhammad Usman:</a:t>
            </a:r>
          </a:p>
          <a:p>
            <a:r>
              <a:rPr lang="en-US" sz="2400" dirty="0"/>
              <a:t>Front End Designing &amp; Development</a:t>
            </a:r>
          </a:p>
          <a:p>
            <a:r>
              <a:rPr lang="en-US" sz="2400" dirty="0" smtClean="0"/>
              <a:t>Documentation</a:t>
            </a:r>
            <a:endParaRPr dirty="0"/>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xmlns="" id="{F13B54B3-0500-A3CA-85E5-BF32B9DC1ECB}"/>
            </a:ext>
          </a:extLst>
        </p:cNvPr>
        <p:cNvGrpSpPr/>
        <p:nvPr/>
      </p:nvGrpSpPr>
      <p:grpSpPr>
        <a:xfrm>
          <a:off x="0" y="0"/>
          <a:ext cx="0" cy="0"/>
          <a:chOff x="0" y="0"/>
          <a:chExt cx="0" cy="0"/>
        </a:xfrm>
      </p:grpSpPr>
      <p:sp>
        <p:nvSpPr>
          <p:cNvPr id="175" name="Google Shape;175;p15">
            <a:extLst>
              <a:ext uri="{FF2B5EF4-FFF2-40B4-BE49-F238E27FC236}">
                <a16:creationId xmlns:a16="http://schemas.microsoft.com/office/drawing/2014/main" xmlns="" id="{FFED221C-B05B-7B51-277A-0EB3D0C5C53F}"/>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Endeavour(2/2)</a:t>
            </a:r>
            <a:endParaRPr dirty="0"/>
          </a:p>
        </p:txBody>
      </p:sp>
      <p:sp>
        <p:nvSpPr>
          <p:cNvPr id="176" name="Google Shape;176;p15">
            <a:extLst>
              <a:ext uri="{FF2B5EF4-FFF2-40B4-BE49-F238E27FC236}">
                <a16:creationId xmlns:a16="http://schemas.microsoft.com/office/drawing/2014/main" xmlns="" id="{6406F97C-AB3F-F6A9-0969-A32101A386ED}"/>
              </a:ext>
            </a:extLst>
          </p:cNvPr>
          <p:cNvSpPr txBox="1">
            <a:spLocks noGrp="1"/>
          </p:cNvSpPr>
          <p:nvPr>
            <p:ph type="body" idx="1"/>
          </p:nvPr>
        </p:nvSpPr>
        <p:spPr>
          <a:xfrm>
            <a:off x="457200" y="1334693"/>
            <a:ext cx="82296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b="1" dirty="0"/>
              <a:t>software development process</a:t>
            </a:r>
            <a:endParaRPr b="1" dirty="0"/>
          </a:p>
          <a:p>
            <a:r>
              <a:rPr lang="en-US" sz="2400" dirty="0"/>
              <a:t>Requirements Gathering &amp; Analysis</a:t>
            </a:r>
          </a:p>
          <a:p>
            <a:r>
              <a:rPr lang="en-US" sz="2400" dirty="0"/>
              <a:t>Preprocessing &amp; Data Management</a:t>
            </a:r>
          </a:p>
          <a:p>
            <a:r>
              <a:rPr lang="en-US" sz="2400" dirty="0"/>
              <a:t>Data Splitting &amp; </a:t>
            </a:r>
            <a:r>
              <a:rPr lang="en-US" sz="2400" dirty="0" err="1"/>
              <a:t>DataFrames</a:t>
            </a:r>
            <a:endParaRPr lang="en-US" sz="2400" dirty="0"/>
          </a:p>
          <a:p>
            <a:r>
              <a:rPr lang="en-US" sz="2400" dirty="0"/>
              <a:t>Augmentation</a:t>
            </a:r>
          </a:p>
          <a:p>
            <a:r>
              <a:rPr lang="en-US" sz="2400" dirty="0"/>
              <a:t>Model Design &amp; Architecture</a:t>
            </a:r>
          </a:p>
          <a:p>
            <a:r>
              <a:rPr lang="en-US" sz="2400" dirty="0"/>
              <a:t>Training &amp; Testing</a:t>
            </a:r>
          </a:p>
          <a:p>
            <a:r>
              <a:rPr lang="en-US" sz="2400" dirty="0"/>
              <a:t>Implementation &amp; Integration </a:t>
            </a:r>
            <a:r>
              <a:rPr lang="en-US" sz="2400" dirty="0" smtClean="0"/>
              <a:t>(Flutter Web/App</a:t>
            </a:r>
            <a:r>
              <a:rPr lang="en-US" sz="2400" dirty="0"/>
              <a:t>)</a:t>
            </a:r>
            <a:endParaRPr lang="x-none" sz="2400" dirty="0"/>
          </a:p>
          <a:p>
            <a:pPr marL="0" lvl="0" indent="0">
              <a:spcBef>
                <a:spcPts val="640"/>
              </a:spcBef>
              <a:buSzPts val="3200"/>
              <a:buNone/>
            </a:pPr>
            <a:endParaRPr dirty="0"/>
          </a:p>
        </p:txBody>
      </p:sp>
    </p:spTree>
    <p:extLst>
      <p:ext uri="{BB962C8B-B14F-4D97-AF65-F5344CB8AC3E}">
        <p14:creationId xmlns:p14="http://schemas.microsoft.com/office/powerpoint/2010/main" val="12290426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NEXT STEPS</a:t>
            </a:r>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7"/>
          <p:cNvSpPr txBox="1">
            <a:spLocks noGrp="1"/>
          </p:cNvSpPr>
          <p:nvPr>
            <p:ph type="title"/>
          </p:nvPr>
        </p:nvSpPr>
        <p:spPr>
          <a:xfrm>
            <a:off x="457200" y="274638"/>
            <a:ext cx="8229600" cy="102150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Work Breakdown Structure</a:t>
            </a:r>
            <a:br>
              <a:rPr lang="en-US" dirty="0"/>
            </a:br>
            <a:endParaRPr dirty="0"/>
          </a:p>
        </p:txBody>
      </p:sp>
      <p:sp>
        <p:nvSpPr>
          <p:cNvPr id="188" name="Google Shape;188;p17"/>
          <p:cNvSpPr txBox="1">
            <a:spLocks noGrp="1"/>
          </p:cNvSpPr>
          <p:nvPr>
            <p:ph type="body" idx="1"/>
          </p:nvPr>
        </p:nvSpPr>
        <p:spPr>
          <a:xfrm>
            <a:off x="457200" y="1026478"/>
            <a:ext cx="4191000" cy="441166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400"/>
              <a:buChar char="•"/>
            </a:pPr>
            <a:r>
              <a:rPr lang="en-US" sz="1800" b="1" dirty="0"/>
              <a:t>Project Planning &amp; Setup</a:t>
            </a:r>
            <a:endParaRPr sz="2000" b="1" dirty="0"/>
          </a:p>
          <a:p>
            <a:pPr marL="742950" lvl="1" indent="-285750" algn="l" rtl="0">
              <a:lnSpc>
                <a:spcPct val="100000"/>
              </a:lnSpc>
              <a:spcBef>
                <a:spcPts val="400"/>
              </a:spcBef>
              <a:spcAft>
                <a:spcPts val="0"/>
              </a:spcAft>
              <a:buClr>
                <a:schemeClr val="dk1"/>
              </a:buClr>
              <a:buSzPts val="2000"/>
              <a:buChar char="–"/>
            </a:pPr>
            <a:r>
              <a:rPr lang="en-US" sz="1800" strike="sngStrike" dirty="0"/>
              <a:t>Define Project goals and scope.</a:t>
            </a:r>
          </a:p>
          <a:p>
            <a:pPr marL="742950" lvl="1" indent="-285750" algn="l" rtl="0">
              <a:lnSpc>
                <a:spcPct val="100000"/>
              </a:lnSpc>
              <a:spcBef>
                <a:spcPts val="400"/>
              </a:spcBef>
              <a:spcAft>
                <a:spcPts val="0"/>
              </a:spcAft>
              <a:buClr>
                <a:schemeClr val="dk1"/>
              </a:buClr>
              <a:buSzPts val="2000"/>
              <a:buChar char="–"/>
            </a:pPr>
            <a:r>
              <a:rPr lang="en-US" sz="1800" strike="sngStrike" dirty="0"/>
              <a:t>Select Technologies and frameworks.</a:t>
            </a:r>
          </a:p>
          <a:p>
            <a:pPr marL="742950" lvl="1" indent="-285750" algn="l" rtl="0">
              <a:lnSpc>
                <a:spcPct val="100000"/>
              </a:lnSpc>
              <a:spcBef>
                <a:spcPts val="400"/>
              </a:spcBef>
              <a:spcAft>
                <a:spcPts val="0"/>
              </a:spcAft>
              <a:buClr>
                <a:schemeClr val="dk1"/>
              </a:buClr>
              <a:buSzPts val="2000"/>
              <a:buChar char="–"/>
            </a:pPr>
            <a:r>
              <a:rPr lang="en-US" sz="1800" strike="sngStrike" dirty="0"/>
              <a:t>Create Initial Project Timeline.</a:t>
            </a:r>
            <a:endParaRPr sz="2000" dirty="0"/>
          </a:p>
          <a:p>
            <a:pPr marL="342900" lvl="0" indent="-342900" algn="l" rtl="0">
              <a:lnSpc>
                <a:spcPct val="100000"/>
              </a:lnSpc>
              <a:spcBef>
                <a:spcPts val="480"/>
              </a:spcBef>
              <a:spcAft>
                <a:spcPts val="0"/>
              </a:spcAft>
              <a:buClr>
                <a:schemeClr val="dk1"/>
              </a:buClr>
              <a:buSzPts val="2400"/>
              <a:buChar char="•"/>
            </a:pPr>
            <a:r>
              <a:rPr lang="en-US" sz="1800" b="1" dirty="0"/>
              <a:t>Data Collection &amp; Preprocessing</a:t>
            </a:r>
            <a:endParaRPr lang="en-US" sz="2000" b="1" dirty="0"/>
          </a:p>
          <a:p>
            <a:pPr marL="742950" lvl="1" indent="-285750">
              <a:spcBef>
                <a:spcPts val="400"/>
              </a:spcBef>
              <a:buSzPts val="2000"/>
            </a:pPr>
            <a:r>
              <a:rPr lang="en-US" sz="1800" strike="sngStrike" dirty="0"/>
              <a:t>Collect Dataset From Kaggle (HAM10000).</a:t>
            </a:r>
            <a:endParaRPr lang="en-US" sz="1800" dirty="0"/>
          </a:p>
          <a:p>
            <a:pPr marL="742950" lvl="1" indent="-285750">
              <a:spcBef>
                <a:spcPts val="400"/>
              </a:spcBef>
              <a:buSzPts val="2000"/>
            </a:pPr>
            <a:r>
              <a:rPr lang="en-US" sz="1800" strike="sngStrike" dirty="0"/>
              <a:t>Preprocess images(</a:t>
            </a:r>
            <a:r>
              <a:rPr lang="en-US" sz="1800" strike="sngStrike" dirty="0" err="1"/>
              <a:t>resize,gaussian</a:t>
            </a:r>
            <a:r>
              <a:rPr lang="en-US" sz="1800" strike="sngStrike" dirty="0"/>
              <a:t> blur, </a:t>
            </a:r>
            <a:r>
              <a:rPr lang="en-US" sz="1800" strike="sngStrike" dirty="0" err="1"/>
              <a:t>inpaint</a:t>
            </a:r>
            <a:r>
              <a:rPr lang="en-US" sz="1800" strike="sngStrike" dirty="0"/>
              <a:t> </a:t>
            </a:r>
            <a:r>
              <a:rPr lang="en-US" sz="1800" strike="sngStrike" dirty="0" err="1"/>
              <a:t>etc</a:t>
            </a:r>
            <a:r>
              <a:rPr lang="en-US" sz="1800" strike="sngStrike" dirty="0"/>
              <a:t>)</a:t>
            </a:r>
          </a:p>
          <a:p>
            <a:pPr marL="742950" lvl="1" indent="-285750">
              <a:spcBef>
                <a:spcPts val="400"/>
              </a:spcBef>
              <a:buSzPts val="2000"/>
            </a:pPr>
            <a:r>
              <a:rPr lang="en-US" sz="1800" strike="sngStrike" dirty="0"/>
              <a:t>Split data into Train (70%),</a:t>
            </a:r>
            <a:r>
              <a:rPr lang="en-US" sz="1800" strike="sngStrike" dirty="0" err="1"/>
              <a:t>Testting</a:t>
            </a:r>
            <a:r>
              <a:rPr lang="en-US" sz="1800" strike="sngStrike" dirty="0"/>
              <a:t>(20%),Validation(10%)</a:t>
            </a:r>
            <a:r>
              <a:rPr lang="en-US" sz="1800" dirty="0"/>
              <a:t>. . .</a:t>
            </a:r>
          </a:p>
          <a:p>
            <a:pPr marL="742950" lvl="1" indent="-285750">
              <a:spcBef>
                <a:spcPts val="400"/>
              </a:spcBef>
              <a:buSzPts val="2000"/>
            </a:pPr>
            <a:r>
              <a:rPr lang="en-US" sz="1800" strike="sngStrike" dirty="0"/>
              <a:t>Perform Data </a:t>
            </a:r>
            <a:r>
              <a:rPr lang="en-US" sz="1800" strike="sngStrike" dirty="0" err="1"/>
              <a:t>Augemtation</a:t>
            </a:r>
            <a:r>
              <a:rPr lang="en-US" sz="1800" strike="sngStrike" dirty="0"/>
              <a:t> (Brightness </a:t>
            </a:r>
            <a:r>
              <a:rPr lang="en-US" sz="1800" strike="sngStrike" dirty="0" err="1"/>
              <a:t>range,shear_range</a:t>
            </a:r>
            <a:r>
              <a:rPr lang="en-US" sz="1800" strike="sngStrike" dirty="0"/>
              <a:t> ,</a:t>
            </a:r>
            <a:r>
              <a:rPr lang="en-US" sz="1800" strike="sngStrike" dirty="0" err="1"/>
              <a:t>Zoom_range</a:t>
            </a:r>
            <a:r>
              <a:rPr lang="en-US" sz="1800" strike="sngStrike" dirty="0"/>
              <a:t> </a:t>
            </a:r>
            <a:r>
              <a:rPr lang="en-US" sz="1800" strike="sngStrike" dirty="0" err="1"/>
              <a:t>etc</a:t>
            </a:r>
            <a:r>
              <a:rPr lang="en-US" sz="1800" strike="sngStrike" dirty="0"/>
              <a:t>).</a:t>
            </a:r>
            <a:endParaRPr sz="1800" dirty="0"/>
          </a:p>
          <a:p>
            <a:pPr marL="342900" lvl="0" indent="-165100" algn="l" rtl="0">
              <a:lnSpc>
                <a:spcPct val="100000"/>
              </a:lnSpc>
              <a:spcBef>
                <a:spcPts val="560"/>
              </a:spcBef>
              <a:spcAft>
                <a:spcPts val="0"/>
              </a:spcAft>
              <a:buClr>
                <a:schemeClr val="dk1"/>
              </a:buClr>
              <a:buSzPts val="2800"/>
              <a:buNone/>
            </a:pPr>
            <a:endParaRPr dirty="0"/>
          </a:p>
        </p:txBody>
      </p:sp>
      <p:sp>
        <p:nvSpPr>
          <p:cNvPr id="189" name="Google Shape;189;p17"/>
          <p:cNvSpPr txBox="1">
            <a:spLocks noGrp="1"/>
          </p:cNvSpPr>
          <p:nvPr>
            <p:ph type="body" idx="2"/>
          </p:nvPr>
        </p:nvSpPr>
        <p:spPr>
          <a:xfrm>
            <a:off x="4648200" y="1061940"/>
            <a:ext cx="4272280" cy="477234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400"/>
              <a:buChar char="•"/>
            </a:pPr>
            <a:r>
              <a:rPr lang="en-US" sz="2000" b="1" dirty="0"/>
              <a:t>Website Development</a:t>
            </a:r>
            <a:endParaRPr sz="2400" b="1" dirty="0"/>
          </a:p>
          <a:p>
            <a:pPr marL="742950" lvl="1" indent="-285750" algn="l" rtl="0">
              <a:lnSpc>
                <a:spcPct val="100000"/>
              </a:lnSpc>
              <a:spcBef>
                <a:spcPts val="400"/>
              </a:spcBef>
              <a:spcAft>
                <a:spcPts val="0"/>
              </a:spcAft>
              <a:buClr>
                <a:schemeClr val="dk1"/>
              </a:buClr>
              <a:buSzPts val="2000"/>
              <a:buChar char="–"/>
            </a:pPr>
            <a:r>
              <a:rPr lang="en-US" sz="1800" strike="sngStrike" dirty="0"/>
              <a:t>Create </a:t>
            </a:r>
            <a:r>
              <a:rPr lang="en-US" sz="1800" strike="sngStrike" dirty="0" smtClean="0"/>
              <a:t>Dashboard(</a:t>
            </a:r>
            <a:r>
              <a:rPr lang="en-US" sz="1800" strike="sngStrike" dirty="0" err="1" smtClean="0"/>
              <a:t>login,signup</a:t>
            </a:r>
            <a:r>
              <a:rPr lang="en-US" sz="1800" strike="sngStrike" dirty="0" smtClean="0"/>
              <a:t> </a:t>
            </a:r>
            <a:r>
              <a:rPr lang="en-US" sz="1800" strike="sngStrike" dirty="0"/>
              <a:t>,</a:t>
            </a:r>
            <a:r>
              <a:rPr lang="en-US" sz="1800" strike="sngStrike" dirty="0" err="1"/>
              <a:t>Forgotpassword</a:t>
            </a:r>
            <a:r>
              <a:rPr lang="en-US" sz="1800" strike="sngStrike" dirty="0"/>
              <a:t>,).</a:t>
            </a:r>
          </a:p>
          <a:p>
            <a:pPr marL="742950" lvl="1" indent="-285750" algn="l" rtl="0">
              <a:lnSpc>
                <a:spcPct val="100000"/>
              </a:lnSpc>
              <a:spcBef>
                <a:spcPts val="400"/>
              </a:spcBef>
              <a:spcAft>
                <a:spcPts val="0"/>
              </a:spcAft>
              <a:buClr>
                <a:schemeClr val="dk1"/>
              </a:buClr>
              <a:buSzPts val="2000"/>
              <a:buChar char="–"/>
            </a:pPr>
            <a:r>
              <a:rPr lang="en-US" sz="1800" strike="sngStrike" dirty="0"/>
              <a:t>Design User Interface(</a:t>
            </a:r>
            <a:r>
              <a:rPr lang="en-US" sz="1800" strike="sngStrike" dirty="0" err="1"/>
              <a:t>Home,Analyze,contact,patient_records,Profile</a:t>
            </a:r>
            <a:r>
              <a:rPr lang="en-US" sz="1800" strike="sngStrike" dirty="0"/>
              <a:t> logout).</a:t>
            </a:r>
          </a:p>
          <a:p>
            <a:pPr marL="742950" lvl="1" indent="-285750" algn="l" rtl="0">
              <a:lnSpc>
                <a:spcPct val="100000"/>
              </a:lnSpc>
              <a:spcBef>
                <a:spcPts val="400"/>
              </a:spcBef>
              <a:spcAft>
                <a:spcPts val="0"/>
              </a:spcAft>
              <a:buClr>
                <a:schemeClr val="dk1"/>
              </a:buClr>
              <a:buSzPts val="2000"/>
              <a:buChar char="–"/>
            </a:pPr>
            <a:r>
              <a:rPr lang="en-US" sz="1800" strike="sngStrike" dirty="0"/>
              <a:t>Admin Interface(Admin </a:t>
            </a:r>
            <a:r>
              <a:rPr lang="en-US" sz="1800" strike="sngStrike" dirty="0" err="1"/>
              <a:t>Dashbaord</a:t>
            </a:r>
            <a:r>
              <a:rPr lang="en-US" sz="1800" strike="sngStrike" dirty="0"/>
              <a:t>).</a:t>
            </a:r>
            <a:r>
              <a:rPr lang="en-US" sz="1800" dirty="0"/>
              <a:t>. </a:t>
            </a:r>
          </a:p>
          <a:p>
            <a:pPr marL="742950" lvl="1" indent="-285750" algn="l" rtl="0">
              <a:lnSpc>
                <a:spcPct val="100000"/>
              </a:lnSpc>
              <a:spcBef>
                <a:spcPts val="400"/>
              </a:spcBef>
              <a:spcAft>
                <a:spcPts val="0"/>
              </a:spcAft>
              <a:buClr>
                <a:schemeClr val="dk1"/>
              </a:buClr>
              <a:buSzPts val="2000"/>
              <a:buChar char="–"/>
            </a:pPr>
            <a:r>
              <a:rPr lang="en-US" sz="1800" strike="sngStrike" dirty="0"/>
              <a:t>Integration.</a:t>
            </a:r>
            <a:endParaRPr sz="2000" strike="sngStrike"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898793-70EC-510F-F4F5-C0C6BDE7CD27}"/>
              </a:ext>
            </a:extLst>
          </p:cNvPr>
          <p:cNvSpPr>
            <a:spLocks noGrp="1"/>
          </p:cNvSpPr>
          <p:nvPr>
            <p:ph type="title"/>
          </p:nvPr>
        </p:nvSpPr>
        <p:spPr/>
        <p:txBody>
          <a:bodyPr/>
          <a:lstStyle/>
          <a:p>
            <a:r>
              <a:rPr lang="en-US" dirty="0"/>
              <a:t>Work Breakdown Structure</a:t>
            </a:r>
            <a:endParaRPr lang="x-none" dirty="0"/>
          </a:p>
        </p:txBody>
      </p:sp>
      <p:sp>
        <p:nvSpPr>
          <p:cNvPr id="3" name="Text Placeholder 2">
            <a:extLst>
              <a:ext uri="{FF2B5EF4-FFF2-40B4-BE49-F238E27FC236}">
                <a16:creationId xmlns:a16="http://schemas.microsoft.com/office/drawing/2014/main" xmlns="" id="{7ABF7EBD-8E53-F5E4-9BCA-3E07B4FF7405}"/>
              </a:ext>
            </a:extLst>
          </p:cNvPr>
          <p:cNvSpPr>
            <a:spLocks noGrp="1"/>
          </p:cNvSpPr>
          <p:nvPr>
            <p:ph type="body" idx="1"/>
          </p:nvPr>
        </p:nvSpPr>
        <p:spPr/>
        <p:txBody>
          <a:bodyPr/>
          <a:lstStyle/>
          <a:p>
            <a:pPr marL="342900" lvl="0" indent="-342900">
              <a:spcBef>
                <a:spcPts val="0"/>
              </a:spcBef>
              <a:buSzPts val="2400"/>
            </a:pPr>
            <a:r>
              <a:rPr lang="en-US" sz="1800" b="1" dirty="0"/>
              <a:t>Testing &amp; Validation</a:t>
            </a:r>
          </a:p>
          <a:p>
            <a:pPr marL="742950" lvl="1" indent="-285750">
              <a:spcBef>
                <a:spcPts val="400"/>
              </a:spcBef>
              <a:buSzPts val="2000"/>
            </a:pPr>
            <a:r>
              <a:rPr lang="en-US" sz="1800" strike="sngStrike" dirty="0"/>
              <a:t>Unit Testing</a:t>
            </a:r>
          </a:p>
          <a:p>
            <a:pPr marL="742950" lvl="1" indent="-285750">
              <a:spcBef>
                <a:spcPts val="400"/>
              </a:spcBef>
              <a:buSzPts val="2000"/>
            </a:pPr>
            <a:r>
              <a:rPr lang="en-US" sz="1800" strike="sngStrike" dirty="0"/>
              <a:t>Validation Set Evaluation</a:t>
            </a:r>
          </a:p>
          <a:p>
            <a:pPr marL="742950" lvl="1" indent="-285750">
              <a:spcBef>
                <a:spcPts val="400"/>
              </a:spcBef>
              <a:buSzPts val="2000"/>
            </a:pPr>
            <a:r>
              <a:rPr lang="en-US" sz="1800" strike="sngStrike" dirty="0"/>
              <a:t>Bug Fixing</a:t>
            </a:r>
          </a:p>
          <a:p>
            <a:pPr marL="285750" indent="-285750">
              <a:spcBef>
                <a:spcPts val="0"/>
              </a:spcBef>
              <a:buSzPts val="2400"/>
            </a:pPr>
            <a:r>
              <a:rPr lang="en-US" sz="1800" b="1" dirty="0"/>
              <a:t>Final Optimization</a:t>
            </a:r>
          </a:p>
          <a:p>
            <a:pPr marL="742950" lvl="1" indent="-285750">
              <a:spcBef>
                <a:spcPts val="400"/>
              </a:spcBef>
              <a:buSzPts val="2000"/>
            </a:pPr>
            <a:r>
              <a:rPr lang="en-US" sz="1800" strike="sngStrike" dirty="0"/>
              <a:t>Model Fine-tuning</a:t>
            </a:r>
          </a:p>
          <a:p>
            <a:pPr marL="742950" lvl="1" indent="-285750">
              <a:spcBef>
                <a:spcPts val="400"/>
              </a:spcBef>
              <a:buSzPts val="2000"/>
            </a:pPr>
            <a:r>
              <a:rPr lang="en-US" sz="1800" strike="sngStrike" dirty="0"/>
              <a:t>Hyperparameter Tuning</a:t>
            </a:r>
          </a:p>
          <a:p>
            <a:pPr marL="742950" lvl="1" indent="-285750">
              <a:spcBef>
                <a:spcPts val="400"/>
              </a:spcBef>
              <a:buSzPts val="2000"/>
            </a:pPr>
            <a:r>
              <a:rPr lang="en-US" sz="1800" strike="sngStrike" dirty="0"/>
              <a:t>Data Balancing</a:t>
            </a:r>
            <a:endParaRPr lang="en-US" sz="1800" b="1" strike="sngStrike" dirty="0"/>
          </a:p>
          <a:p>
            <a:pPr marL="285750" indent="-285750">
              <a:spcBef>
                <a:spcPts val="0"/>
              </a:spcBef>
              <a:buSzPts val="2400"/>
            </a:pPr>
            <a:r>
              <a:rPr lang="en-US" sz="1800" b="1" dirty="0"/>
              <a:t>Maintenance &amp; Documentation</a:t>
            </a:r>
          </a:p>
          <a:p>
            <a:pPr marL="742950" lvl="1" indent="-285750">
              <a:spcBef>
                <a:spcPts val="400"/>
              </a:spcBef>
              <a:buSzPts val="2000"/>
            </a:pPr>
            <a:r>
              <a:rPr lang="en-US" sz="1800" strike="sngStrike" dirty="0"/>
              <a:t>Project Report</a:t>
            </a:r>
          </a:p>
          <a:p>
            <a:pPr marL="742950" lvl="1" indent="-285750">
              <a:spcBef>
                <a:spcPts val="400"/>
              </a:spcBef>
              <a:buSzPts val="2000"/>
            </a:pPr>
            <a:r>
              <a:rPr lang="en-US" sz="1800" strike="sngStrike" dirty="0"/>
              <a:t>Version Control</a:t>
            </a:r>
          </a:p>
          <a:p>
            <a:pPr marL="742950" lvl="1" indent="-285750">
              <a:spcBef>
                <a:spcPts val="400"/>
              </a:spcBef>
              <a:buSzPts val="2000"/>
            </a:pPr>
            <a:r>
              <a:rPr lang="en-US" sz="1800" strike="sngStrike" dirty="0"/>
              <a:t>Model Retraining Plan</a:t>
            </a:r>
            <a:endParaRPr lang="en-US" sz="1800" b="1" strike="sngStrike" dirty="0"/>
          </a:p>
          <a:p>
            <a:pPr marL="0" indent="0">
              <a:spcBef>
                <a:spcPts val="0"/>
              </a:spcBef>
              <a:buSzPts val="2400"/>
              <a:buNone/>
            </a:pPr>
            <a:endParaRPr lang="en-US" sz="1800" b="1" dirty="0"/>
          </a:p>
        </p:txBody>
      </p:sp>
      <p:sp>
        <p:nvSpPr>
          <p:cNvPr id="4" name="Text Placeholder 3">
            <a:extLst>
              <a:ext uri="{FF2B5EF4-FFF2-40B4-BE49-F238E27FC236}">
                <a16:creationId xmlns:a16="http://schemas.microsoft.com/office/drawing/2014/main" xmlns="" id="{B24B05F5-A0A6-D05A-CD05-4D23E54CD105}"/>
              </a:ext>
            </a:extLst>
          </p:cNvPr>
          <p:cNvSpPr>
            <a:spLocks noGrp="1"/>
          </p:cNvSpPr>
          <p:nvPr>
            <p:ph type="body" idx="2"/>
          </p:nvPr>
        </p:nvSpPr>
        <p:spPr/>
        <p:txBody>
          <a:bodyPr/>
          <a:lstStyle/>
          <a:p>
            <a:r>
              <a:rPr lang="en-US" sz="1800" b="1" dirty="0"/>
              <a:t>Mobile Application</a:t>
            </a:r>
          </a:p>
          <a:p>
            <a:pPr marL="742950" lvl="1" indent="-285750">
              <a:spcBef>
                <a:spcPts val="400"/>
              </a:spcBef>
              <a:buSzPts val="2000"/>
            </a:pPr>
            <a:r>
              <a:rPr lang="en-US" sz="1800" strike="sngStrike" dirty="0"/>
              <a:t>Frontend Design</a:t>
            </a:r>
          </a:p>
          <a:p>
            <a:pPr marL="742950" lvl="1" indent="-285750">
              <a:spcBef>
                <a:spcPts val="400"/>
              </a:spcBef>
              <a:buSzPts val="2000"/>
            </a:pPr>
            <a:r>
              <a:rPr lang="en-US" sz="1800" strike="sngStrike" dirty="0"/>
              <a:t>Backend</a:t>
            </a:r>
          </a:p>
          <a:p>
            <a:pPr marL="742950" lvl="1" indent="-285750">
              <a:spcBef>
                <a:spcPts val="400"/>
              </a:spcBef>
              <a:buSzPts val="2000"/>
            </a:pPr>
            <a:r>
              <a:rPr lang="en-US" sz="1800" strike="sngStrike" dirty="0"/>
              <a:t>Model Integration</a:t>
            </a:r>
          </a:p>
          <a:p>
            <a:pPr marL="742950" lvl="1" indent="-285750">
              <a:spcBef>
                <a:spcPts val="400"/>
              </a:spcBef>
              <a:buSzPts val="2000"/>
            </a:pPr>
            <a:r>
              <a:rPr lang="en-US" sz="1800" strike="sngStrike" dirty="0"/>
              <a:t>Testing on Devices</a:t>
            </a:r>
            <a:endParaRPr lang="en-US" sz="1800" b="1" strike="sngStrike" dirty="0"/>
          </a:p>
        </p:txBody>
      </p:sp>
    </p:spTree>
    <p:extLst>
      <p:ext uri="{BB962C8B-B14F-4D97-AF65-F5344CB8AC3E}">
        <p14:creationId xmlns:p14="http://schemas.microsoft.com/office/powerpoint/2010/main" val="1842963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Challenges</a:t>
            </a:r>
            <a:endParaRPr/>
          </a:p>
        </p:txBody>
      </p:sp>
      <p:sp>
        <p:nvSpPr>
          <p:cNvPr id="195" name="Google Shape;195;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660400" indent="-457200">
              <a:spcBef>
                <a:spcPts val="0"/>
              </a:spcBef>
              <a:buSzPts val="3200"/>
            </a:pPr>
            <a:r>
              <a:rPr lang="en-US" dirty="0"/>
              <a:t>Resources  </a:t>
            </a:r>
          </a:p>
          <a:p>
            <a:pPr marL="660400" indent="-457200">
              <a:spcBef>
                <a:spcPts val="0"/>
              </a:spcBef>
              <a:buSzPts val="3200"/>
            </a:pPr>
            <a:r>
              <a:rPr lang="en-US" dirty="0"/>
              <a:t>Class Imbalance</a:t>
            </a:r>
          </a:p>
          <a:p>
            <a:pPr marL="660400" indent="-457200">
              <a:spcBef>
                <a:spcPts val="0"/>
              </a:spcBef>
              <a:buSzPts val="3200"/>
            </a:pPr>
            <a:r>
              <a:rPr lang="en-US" dirty="0"/>
              <a:t>Model Overfitting</a:t>
            </a:r>
          </a:p>
          <a:p>
            <a:pPr marL="660400" indent="-457200">
              <a:spcBef>
                <a:spcPts val="0"/>
              </a:spcBef>
              <a:buSzPts val="3200"/>
            </a:pPr>
            <a:r>
              <a:rPr lang="en-US" dirty="0"/>
              <a:t>Model Integration</a:t>
            </a:r>
          </a:p>
          <a:p>
            <a:pPr marL="660400" indent="-457200">
              <a:spcBef>
                <a:spcPts val="0"/>
              </a:spcBef>
              <a:buSzPts val="3200"/>
            </a:pPr>
            <a:r>
              <a:rPr lang="en-US" dirty="0"/>
              <a:t>Train Model On Different CNN Architecture </a:t>
            </a:r>
            <a:br>
              <a:rPr lang="en-US" dirty="0"/>
            </a:br>
            <a:endParaRPr lang="en-US" dirty="0"/>
          </a:p>
          <a:p>
            <a:pPr marL="203200" indent="0">
              <a:spcBef>
                <a:spcPts val="0"/>
              </a:spcBef>
              <a:buSzPts val="3200"/>
              <a:buNone/>
            </a:pPr>
            <a:r>
              <a:rPr lang="en-US" dirty="0"/>
              <a:t> </a:t>
            </a:r>
          </a:p>
          <a:p>
            <a:pPr marL="342900" lvl="0" indent="-139700" algn="l" rtl="0">
              <a:lnSpc>
                <a:spcPct val="100000"/>
              </a:lnSpc>
              <a:spcBef>
                <a:spcPts val="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PROTOTYPE &amp; REPORT</a:t>
            </a:r>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Prototype</a:t>
            </a:r>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31" y="1369506"/>
            <a:ext cx="8452618" cy="409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4ADAB-6E71-BB06-6409-C515674CA3DA}"/>
              </a:ext>
            </a:extLst>
          </p:cNvPr>
          <p:cNvSpPr>
            <a:spLocks noGrp="1"/>
          </p:cNvSpPr>
          <p:nvPr>
            <p:ph type="title"/>
          </p:nvPr>
        </p:nvSpPr>
        <p:spPr/>
        <p:txBody>
          <a:bodyPr/>
          <a:lstStyle/>
          <a:p>
            <a:r>
              <a:rPr lang="en-US" dirty="0"/>
              <a:t>Prototype</a:t>
            </a:r>
            <a:endParaRPr lang="x-none"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9567" y="1386037"/>
            <a:ext cx="6887153" cy="3933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48739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4EDC69-3541-4561-B32E-EB7B62C9AEE4}"/>
              </a:ext>
            </a:extLst>
          </p:cNvPr>
          <p:cNvSpPr>
            <a:spLocks noGrp="1"/>
          </p:cNvSpPr>
          <p:nvPr>
            <p:ph type="title"/>
          </p:nvPr>
        </p:nvSpPr>
        <p:spPr/>
        <p:txBody>
          <a:bodyPr/>
          <a:lstStyle/>
          <a:p>
            <a:r>
              <a:rPr lang="en-US" dirty="0"/>
              <a:t>Prototype</a:t>
            </a:r>
            <a:endParaRPr lang="x-none" dirty="0"/>
          </a:p>
        </p:txBody>
      </p:sp>
      <p:pic>
        <p:nvPicPr>
          <p:cNvPr id="4" name="Image 72"/>
          <p:cNvPicPr/>
          <p:nvPr/>
        </p:nvPicPr>
        <p:blipFill>
          <a:blip r:embed="rId2" cstate="print"/>
          <a:stretch>
            <a:fillRect/>
          </a:stretch>
        </p:blipFill>
        <p:spPr>
          <a:xfrm>
            <a:off x="1049572" y="1733384"/>
            <a:ext cx="7100515" cy="3347499"/>
          </a:xfrm>
          <a:prstGeom prst="rect">
            <a:avLst/>
          </a:prstGeom>
        </p:spPr>
      </p:pic>
    </p:spTree>
    <p:extLst>
      <p:ext uri="{BB962C8B-B14F-4D97-AF65-F5344CB8AC3E}">
        <p14:creationId xmlns:p14="http://schemas.microsoft.com/office/powerpoint/2010/main" val="29603868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0D38CB-4ACD-22DA-6C8B-BC14A76A23FF}"/>
              </a:ext>
            </a:extLst>
          </p:cNvPr>
          <p:cNvSpPr>
            <a:spLocks noGrp="1"/>
          </p:cNvSpPr>
          <p:nvPr>
            <p:ph type="title"/>
          </p:nvPr>
        </p:nvSpPr>
        <p:spPr/>
        <p:txBody>
          <a:bodyPr/>
          <a:lstStyle/>
          <a:p>
            <a:r>
              <a:rPr lang="en-US" dirty="0"/>
              <a:t>Prototype</a:t>
            </a:r>
            <a:endParaRPr lang="x-none" dirty="0"/>
          </a:p>
        </p:txBody>
      </p:sp>
      <p:pic>
        <p:nvPicPr>
          <p:cNvPr id="5" name="Picture 4">
            <a:extLst>
              <a:ext uri="{FF2B5EF4-FFF2-40B4-BE49-F238E27FC236}">
                <a16:creationId xmlns:a16="http://schemas.microsoft.com/office/drawing/2014/main" xmlns="" id="{D0B55819-C3F6-B21E-763A-EAFEBA8C28C0}"/>
              </a:ext>
            </a:extLst>
          </p:cNvPr>
          <p:cNvPicPr>
            <a:picLocks noChangeAspect="1"/>
          </p:cNvPicPr>
          <p:nvPr/>
        </p:nvPicPr>
        <p:blipFill>
          <a:blip r:embed="rId2"/>
          <a:stretch>
            <a:fillRect/>
          </a:stretch>
        </p:blipFill>
        <p:spPr>
          <a:xfrm>
            <a:off x="0" y="1171876"/>
            <a:ext cx="9144000" cy="4514248"/>
          </a:xfrm>
          <a:prstGeom prst="rect">
            <a:avLst/>
          </a:prstGeom>
        </p:spPr>
      </p:pic>
    </p:spTree>
    <p:extLst>
      <p:ext uri="{BB962C8B-B14F-4D97-AF65-F5344CB8AC3E}">
        <p14:creationId xmlns:p14="http://schemas.microsoft.com/office/powerpoint/2010/main" val="136949108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AE7484-CF07-2021-8FCD-938CB72FE35C}"/>
              </a:ext>
            </a:extLst>
          </p:cNvPr>
          <p:cNvSpPr>
            <a:spLocks noGrp="1"/>
          </p:cNvSpPr>
          <p:nvPr>
            <p:ph type="title"/>
          </p:nvPr>
        </p:nvSpPr>
        <p:spPr/>
        <p:txBody>
          <a:bodyPr/>
          <a:lstStyle/>
          <a:p>
            <a:r>
              <a:rPr lang="en-US" dirty="0"/>
              <a:t>Prototype</a:t>
            </a:r>
            <a:endParaRPr lang="x-none" dirty="0"/>
          </a:p>
        </p:txBody>
      </p:sp>
      <p:pic>
        <p:nvPicPr>
          <p:cNvPr id="5" name="Picture 4">
            <a:extLst>
              <a:ext uri="{FF2B5EF4-FFF2-40B4-BE49-F238E27FC236}">
                <a16:creationId xmlns:a16="http://schemas.microsoft.com/office/drawing/2014/main" xmlns="" id="{B47E0D8F-17CC-7B30-FD95-51B6DA5D7E96}"/>
              </a:ext>
            </a:extLst>
          </p:cNvPr>
          <p:cNvPicPr>
            <a:picLocks noChangeAspect="1"/>
          </p:cNvPicPr>
          <p:nvPr/>
        </p:nvPicPr>
        <p:blipFill>
          <a:blip r:embed="rId2"/>
          <a:stretch>
            <a:fillRect/>
          </a:stretch>
        </p:blipFill>
        <p:spPr>
          <a:xfrm>
            <a:off x="0" y="1221663"/>
            <a:ext cx="9144000" cy="4414674"/>
          </a:xfrm>
          <a:prstGeom prst="rect">
            <a:avLst/>
          </a:prstGeom>
        </p:spPr>
      </p:pic>
    </p:spTree>
    <p:extLst>
      <p:ext uri="{BB962C8B-B14F-4D97-AF65-F5344CB8AC3E}">
        <p14:creationId xmlns:p14="http://schemas.microsoft.com/office/powerpoint/2010/main" val="38940172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77B862-314C-A66F-C767-562FBD19C61A}"/>
              </a:ext>
            </a:extLst>
          </p:cNvPr>
          <p:cNvSpPr>
            <a:spLocks noGrp="1"/>
          </p:cNvSpPr>
          <p:nvPr>
            <p:ph type="title"/>
          </p:nvPr>
        </p:nvSpPr>
        <p:spPr/>
        <p:txBody>
          <a:bodyPr/>
          <a:lstStyle/>
          <a:p>
            <a:r>
              <a:rPr lang="en-US" dirty="0"/>
              <a:t>Prototype</a:t>
            </a:r>
            <a:endParaRPr lang="x-none" dirty="0"/>
          </a:p>
        </p:txBody>
      </p:sp>
      <p:pic>
        <p:nvPicPr>
          <p:cNvPr id="5" name="Picture 4">
            <a:extLst>
              <a:ext uri="{FF2B5EF4-FFF2-40B4-BE49-F238E27FC236}">
                <a16:creationId xmlns:a16="http://schemas.microsoft.com/office/drawing/2014/main" xmlns="" id="{370541FC-C997-6D87-9F81-F0E55BBA96F4}"/>
              </a:ext>
            </a:extLst>
          </p:cNvPr>
          <p:cNvPicPr>
            <a:picLocks noChangeAspect="1"/>
          </p:cNvPicPr>
          <p:nvPr/>
        </p:nvPicPr>
        <p:blipFill>
          <a:blip r:embed="rId2"/>
          <a:stretch>
            <a:fillRect/>
          </a:stretch>
        </p:blipFill>
        <p:spPr>
          <a:xfrm>
            <a:off x="0" y="1194384"/>
            <a:ext cx="9144000" cy="4469232"/>
          </a:xfrm>
          <a:prstGeom prst="rect">
            <a:avLst/>
          </a:prstGeom>
        </p:spPr>
      </p:pic>
    </p:spTree>
    <p:extLst>
      <p:ext uri="{BB962C8B-B14F-4D97-AF65-F5344CB8AC3E}">
        <p14:creationId xmlns:p14="http://schemas.microsoft.com/office/powerpoint/2010/main" val="185327339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Report</a:t>
            </a:r>
            <a:endParaRPr/>
          </a:p>
        </p:txBody>
      </p:sp>
      <p:sp>
        <p:nvSpPr>
          <p:cNvPr id="213" name="Google Shape;213;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Chapter 1: Introduction</a:t>
            </a:r>
            <a:endParaRPr/>
          </a:p>
          <a:p>
            <a:pPr marL="342900" lvl="0" indent="-342900" algn="l" rtl="0">
              <a:lnSpc>
                <a:spcPct val="100000"/>
              </a:lnSpc>
              <a:spcBef>
                <a:spcPts val="640"/>
              </a:spcBef>
              <a:spcAft>
                <a:spcPts val="0"/>
              </a:spcAft>
              <a:buClr>
                <a:schemeClr val="dk1"/>
              </a:buClr>
              <a:buSzPts val="3200"/>
              <a:buChar char="•"/>
            </a:pPr>
            <a:r>
              <a:rPr lang="en-US"/>
              <a:t>Chapter 2: Literature Review / Market Survey</a:t>
            </a:r>
            <a:endParaRPr/>
          </a:p>
          <a:p>
            <a:pPr marL="342900" lvl="0" indent="-342900" algn="l" rtl="0">
              <a:lnSpc>
                <a:spcPct val="100000"/>
              </a:lnSpc>
              <a:spcBef>
                <a:spcPts val="640"/>
              </a:spcBef>
              <a:spcAft>
                <a:spcPts val="0"/>
              </a:spcAft>
              <a:buClr>
                <a:schemeClr val="dk1"/>
              </a:buClr>
              <a:buSzPts val="3200"/>
              <a:buChar char="•"/>
            </a:pPr>
            <a:r>
              <a:rPr lang="en-US"/>
              <a:t>Chapter 3: Requirements and Design</a:t>
            </a:r>
            <a:endParaRPr/>
          </a:p>
          <a:p>
            <a:pPr marL="342900" lvl="0" indent="-342900" algn="l" rtl="0">
              <a:lnSpc>
                <a:spcPct val="100000"/>
              </a:lnSpc>
              <a:spcBef>
                <a:spcPts val="640"/>
              </a:spcBef>
              <a:spcAft>
                <a:spcPts val="0"/>
              </a:spcAft>
              <a:buClr>
                <a:schemeClr val="dk1"/>
              </a:buClr>
              <a:buSzPts val="3200"/>
              <a:buChar char="•"/>
            </a:pPr>
            <a:r>
              <a:rPr lang="en-US"/>
              <a:t>Chapter 4: Implementation and Test Cases</a:t>
            </a:r>
            <a:endParaRPr/>
          </a:p>
          <a:p>
            <a:pPr marL="342900" lvl="0" indent="-342900" algn="l" rtl="0">
              <a:lnSpc>
                <a:spcPct val="100000"/>
              </a:lnSpc>
              <a:spcBef>
                <a:spcPts val="640"/>
              </a:spcBef>
              <a:spcAft>
                <a:spcPts val="0"/>
              </a:spcAft>
              <a:buClr>
                <a:schemeClr val="dk1"/>
              </a:buClr>
              <a:buSzPts val="3200"/>
              <a:buChar char="•"/>
            </a:pPr>
            <a:r>
              <a:rPr lang="en-US"/>
              <a:t>Chapter 5: Experiment Results and Analysis</a:t>
            </a:r>
            <a:endParaRPr/>
          </a:p>
          <a:p>
            <a:pPr marL="342900" lvl="0" indent="-342900" algn="l" rtl="0">
              <a:lnSpc>
                <a:spcPct val="100000"/>
              </a:lnSpc>
              <a:spcBef>
                <a:spcPts val="640"/>
              </a:spcBef>
              <a:spcAft>
                <a:spcPts val="0"/>
              </a:spcAft>
              <a:buClr>
                <a:schemeClr val="dk1"/>
              </a:buClr>
              <a:buSzPts val="3200"/>
              <a:buChar char="•"/>
            </a:pPr>
            <a:r>
              <a:rPr lang="en-US"/>
              <a:t>Chapter 6: Conclusion &amp; Future Direction</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779</TotalTime>
  <Words>1423</Words>
  <Application>Microsoft Office PowerPoint</Application>
  <PresentationFormat>On-screen Show (4:3)</PresentationFormat>
  <Paragraphs>506</Paragraphs>
  <Slides>47</Slides>
  <Notes>27</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Final Year Project</vt:lpstr>
      <vt:lpstr>Project Team</vt:lpstr>
      <vt:lpstr>Table of Content</vt:lpstr>
      <vt:lpstr>INTRODUCTION AND BACKGROUND </vt:lpstr>
      <vt:lpstr>Introduction and Background[1/2] </vt:lpstr>
      <vt:lpstr>Introduction and Background[2/2] </vt:lpstr>
      <vt:lpstr>Literature Review and Summary Table</vt:lpstr>
      <vt:lpstr>Problem Statement</vt:lpstr>
      <vt:lpstr>Data Acquisition</vt:lpstr>
      <vt:lpstr>Data Acquisition [1/5]</vt:lpstr>
      <vt:lpstr>Data Acquisition [2/5]</vt:lpstr>
      <vt:lpstr>Data Acquisition [3/5]</vt:lpstr>
      <vt:lpstr>Data Acquisition [4/5]</vt:lpstr>
      <vt:lpstr>Data Acquisition [5/5]</vt:lpstr>
      <vt:lpstr>Methodology</vt:lpstr>
      <vt:lpstr>Methodology</vt:lpstr>
      <vt:lpstr>Market Survey </vt:lpstr>
      <vt:lpstr>PROGRESS REPORT SUMMARY</vt:lpstr>
      <vt:lpstr>Requirements</vt:lpstr>
      <vt:lpstr>Requirements</vt:lpstr>
      <vt:lpstr>Design</vt:lpstr>
      <vt:lpstr>Design</vt:lpstr>
      <vt:lpstr>Implementation[1/3]</vt:lpstr>
      <vt:lpstr>Implementation[2/3]</vt:lpstr>
      <vt:lpstr>Implementation[3/3]</vt:lpstr>
      <vt:lpstr>Testing[1/7]</vt:lpstr>
      <vt:lpstr>Testing[2/7]</vt:lpstr>
      <vt:lpstr>Testing[3/7]</vt:lpstr>
      <vt:lpstr>Testing[4/7]</vt:lpstr>
      <vt:lpstr>Testing[5/7]</vt:lpstr>
      <vt:lpstr>Testing[6/7]</vt:lpstr>
      <vt:lpstr>Testing[7/7]</vt:lpstr>
      <vt:lpstr>ENDEAVOUR</vt:lpstr>
      <vt:lpstr>Endeavour(1/2)</vt:lpstr>
      <vt:lpstr>Endeavour(2/2)</vt:lpstr>
      <vt:lpstr>NEXT STEPS</vt:lpstr>
      <vt:lpstr>Work Breakdown Structure </vt:lpstr>
      <vt:lpstr>Work Breakdown Structure</vt:lpstr>
      <vt:lpstr>Challenges</vt:lpstr>
      <vt:lpstr>PROTOTYPE &amp; REPORT</vt:lpstr>
      <vt:lpstr>Prototype</vt:lpstr>
      <vt:lpstr>Prototype</vt:lpstr>
      <vt:lpstr>Prototype</vt:lpstr>
      <vt:lpstr>Prototype</vt:lpstr>
      <vt:lpstr>Prototype</vt:lpstr>
      <vt:lpstr>Prototype</vt:lpstr>
      <vt:lpstr>Report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dc:title>
  <dc:creator>Khan</dc:creator>
  <cp:lastModifiedBy>user</cp:lastModifiedBy>
  <cp:revision>38</cp:revision>
  <dcterms:created xsi:type="dcterms:W3CDTF">2013-01-22T07:04:44Z</dcterms:created>
  <dcterms:modified xsi:type="dcterms:W3CDTF">2025-11-24T10:19:54Z</dcterms:modified>
</cp:coreProperties>
</file>